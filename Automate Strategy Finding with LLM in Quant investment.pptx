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Lst>
  <p:sldSz cx="18288000" cy="10287000"/>
  <p:notesSz cx="6858000" cy="9144000"/>
  <p:embeddedFontLst>
    <p:embeddedFont>
      <p:font typeface="Dosis Bold" charset="1" panose="02010803020202060003"/>
      <p:regular r:id="rId49"/>
    </p:embeddedFont>
    <p:embeddedFont>
      <p:font typeface="Lazydog" charset="1" panose="00000000000000000000"/>
      <p:regular r:id="rId50"/>
    </p:embeddedFont>
    <p:embeddedFont>
      <p:font typeface="Montserrat Bold" charset="1" panose="00000800000000000000"/>
      <p:regular r:id="rId51"/>
    </p:embeddedFont>
    <p:embeddedFont>
      <p:font typeface="Nunito Sans" charset="1" panose="00000000000000000000"/>
      <p:regular r:id="rId52"/>
    </p:embeddedFont>
    <p:embeddedFont>
      <p:font typeface="Nunito Sans Bold" charset="1" panose="00000000000000000000"/>
      <p:regular r:id="rId53"/>
    </p:embeddedFont>
    <p:embeddedFont>
      <p:font typeface="Montserrat" charset="1" panose="00000500000000000000"/>
      <p:regular r:id="rId5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fonts/font49.fntdata" Type="http://schemas.openxmlformats.org/officeDocument/2006/relationships/font"/><Relationship Id="rId5" Target="tableStyles.xml" Type="http://schemas.openxmlformats.org/officeDocument/2006/relationships/tableStyles"/><Relationship Id="rId50" Target="fonts/font50.fntdata" Type="http://schemas.openxmlformats.org/officeDocument/2006/relationships/font"/><Relationship Id="rId51" Target="fonts/font51.fntdata" Type="http://schemas.openxmlformats.org/officeDocument/2006/relationships/font"/><Relationship Id="rId52" Target="fonts/font52.fntdata" Type="http://schemas.openxmlformats.org/officeDocument/2006/relationships/font"/><Relationship Id="rId53" Target="fonts/font53.fntdata" Type="http://schemas.openxmlformats.org/officeDocument/2006/relationships/font"/><Relationship Id="rId54" Target="fonts/font54.fntdata" Type="http://schemas.openxmlformats.org/officeDocument/2006/relationships/font"/><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sv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png" Type="http://schemas.openxmlformats.org/officeDocument/2006/relationships/image"/><Relationship Id="rId2" Target="../media/image12.png" Type="http://schemas.openxmlformats.org/officeDocument/2006/relationships/image"/><Relationship Id="rId3" Target="../media/image13.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svg" Type="http://schemas.openxmlformats.org/officeDocument/2006/relationships/image"/><Relationship Id="rId11" Target="../media/image15.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svg" Type="http://schemas.openxmlformats.org/officeDocument/2006/relationships/image"/><Relationship Id="rId11" Target="../media/image16.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19.png" Type="http://schemas.openxmlformats.org/officeDocument/2006/relationships/image"/><Relationship Id="rId7" Target="../media/image20.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sv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 Id="rId3" Target="../media/image25.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 Id="rId3" Target="../media/image27.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 Id="rId3" Target="../media/image27.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 Id="rId3" Target="../media/image27.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8.png" Type="http://schemas.openxmlformats.org/officeDocument/2006/relationships/image"/><Relationship Id="rId2" Target="../media/image12.png" Type="http://schemas.openxmlformats.org/officeDocument/2006/relationships/image"/><Relationship Id="rId3" Target="../media/image13.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 Id="rId3" Target="../media/image27.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 Id="rId3" Target="../media/image27.svg" Type="http://schemas.openxmlformats.org/officeDocument/2006/relationships/image"/><Relationship Id="rId4" Target="../media/image30.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 Id="rId3" Target="../media/image27.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 Id="rId3" Target="../media/image27.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jpe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 Id="rId3" Target="../media/image36.sv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7.png" Type="http://schemas.openxmlformats.org/officeDocument/2006/relationships/image"/><Relationship Id="rId2" Target="../media/image12.png" Type="http://schemas.openxmlformats.org/officeDocument/2006/relationships/image"/><Relationship Id="rId3" Target="../media/image13.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38.png" Type="http://schemas.openxmlformats.org/officeDocument/2006/relationships/image"/><Relationship Id="rId5" Target="../media/image39.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40.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38.png" Type="http://schemas.openxmlformats.org/officeDocument/2006/relationships/image"/><Relationship Id="rId5" Target="../media/image39.svg" Type="http://schemas.openxmlformats.org/officeDocument/2006/relationships/image"/><Relationship Id="rId6" Target="../media/image41.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38.png" Type="http://schemas.openxmlformats.org/officeDocument/2006/relationships/image"/><Relationship Id="rId5" Target="../media/image39.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42.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38.png" Type="http://schemas.openxmlformats.org/officeDocument/2006/relationships/image"/><Relationship Id="rId5" Target="../media/image39.svg" Type="http://schemas.openxmlformats.org/officeDocument/2006/relationships/image"/><Relationship Id="rId6" Target="../media/image43.pn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38.png" Type="http://schemas.openxmlformats.org/officeDocument/2006/relationships/image"/><Relationship Id="rId5" Target="../media/image39.sv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38.png" Type="http://schemas.openxmlformats.org/officeDocument/2006/relationships/image"/><Relationship Id="rId5" Target="../media/image39.svg" Type="http://schemas.openxmlformats.org/officeDocument/2006/relationships/image"/><Relationship Id="rId6" Target="../media/image44.pn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467631" y="2223828"/>
            <a:ext cx="9480395" cy="6565710"/>
          </a:xfrm>
          <a:custGeom>
            <a:avLst/>
            <a:gdLst/>
            <a:ahLst/>
            <a:cxnLst/>
            <a:rect r="r" b="b" t="t" l="l"/>
            <a:pathLst>
              <a:path h="6565710" w="9480395">
                <a:moveTo>
                  <a:pt x="0" y="0"/>
                </a:moveTo>
                <a:lnTo>
                  <a:pt x="9480395" y="0"/>
                </a:lnTo>
                <a:lnTo>
                  <a:pt x="9480395" y="6565710"/>
                </a:lnTo>
                <a:lnTo>
                  <a:pt x="0" y="65657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3273879" y="7745308"/>
            <a:ext cx="9575959" cy="1847007"/>
            <a:chOff x="0" y="0"/>
            <a:chExt cx="2522063" cy="486455"/>
          </a:xfrm>
        </p:grpSpPr>
        <p:sp>
          <p:nvSpPr>
            <p:cNvPr name="Freeform 4" id="4"/>
            <p:cNvSpPr/>
            <p:nvPr/>
          </p:nvSpPr>
          <p:spPr>
            <a:xfrm flipH="false" flipV="false" rot="0">
              <a:off x="0" y="0"/>
              <a:ext cx="2522063" cy="486455"/>
            </a:xfrm>
            <a:custGeom>
              <a:avLst/>
              <a:gdLst/>
              <a:ahLst/>
              <a:cxnLst/>
              <a:rect r="r" b="b" t="t" l="l"/>
              <a:pathLst>
                <a:path h="486455" w="2522063">
                  <a:moveTo>
                    <a:pt x="80847" y="0"/>
                  </a:moveTo>
                  <a:lnTo>
                    <a:pt x="2441216" y="0"/>
                  </a:lnTo>
                  <a:cubicBezTo>
                    <a:pt x="2485867" y="0"/>
                    <a:pt x="2522063" y="36197"/>
                    <a:pt x="2522063" y="80847"/>
                  </a:cubicBezTo>
                  <a:lnTo>
                    <a:pt x="2522063" y="405607"/>
                  </a:lnTo>
                  <a:cubicBezTo>
                    <a:pt x="2522063" y="450258"/>
                    <a:pt x="2485867" y="486455"/>
                    <a:pt x="2441216" y="486455"/>
                  </a:cubicBezTo>
                  <a:lnTo>
                    <a:pt x="80847" y="486455"/>
                  </a:lnTo>
                  <a:cubicBezTo>
                    <a:pt x="36197" y="486455"/>
                    <a:pt x="0" y="450258"/>
                    <a:pt x="0" y="405607"/>
                  </a:cubicBezTo>
                  <a:lnTo>
                    <a:pt x="0" y="80847"/>
                  </a:lnTo>
                  <a:cubicBezTo>
                    <a:pt x="0" y="36197"/>
                    <a:pt x="36197" y="0"/>
                    <a:pt x="80847" y="0"/>
                  </a:cubicBezTo>
                  <a:close/>
                </a:path>
              </a:pathLst>
            </a:custGeom>
            <a:solidFill>
              <a:srgbClr val="FFB000"/>
            </a:solidFill>
          </p:spPr>
        </p:sp>
        <p:sp>
          <p:nvSpPr>
            <p:cNvPr name="TextBox 5" id="5"/>
            <p:cNvSpPr txBox="true"/>
            <p:nvPr/>
          </p:nvSpPr>
          <p:spPr>
            <a:xfrm>
              <a:off x="0" y="-47625"/>
              <a:ext cx="2522063" cy="534080"/>
            </a:xfrm>
            <a:prstGeom prst="rect">
              <a:avLst/>
            </a:prstGeom>
          </p:spPr>
          <p:txBody>
            <a:bodyPr anchor="ctr" rtlCol="false" tIns="50800" lIns="50800" bIns="50800" rIns="50800"/>
            <a:lstStyle/>
            <a:p>
              <a:pPr algn="ctr">
                <a:lnSpc>
                  <a:spcPts val="3693"/>
                </a:lnSpc>
              </a:pPr>
            </a:p>
          </p:txBody>
        </p:sp>
      </p:grpSp>
      <p:sp>
        <p:nvSpPr>
          <p:cNvPr name="Freeform 6" id="6"/>
          <p:cNvSpPr/>
          <p:nvPr/>
        </p:nvSpPr>
        <p:spPr>
          <a:xfrm flipH="false" flipV="false" rot="0">
            <a:off x="-3273879" y="-2057400"/>
            <a:ext cx="5387627" cy="4114800"/>
          </a:xfrm>
          <a:custGeom>
            <a:avLst/>
            <a:gdLst/>
            <a:ahLst/>
            <a:cxnLst/>
            <a:rect r="r" b="b" t="t" l="l"/>
            <a:pathLst>
              <a:path h="4114800" w="5387627">
                <a:moveTo>
                  <a:pt x="0" y="0"/>
                </a:moveTo>
                <a:lnTo>
                  <a:pt x="5387627" y="0"/>
                </a:lnTo>
                <a:lnTo>
                  <a:pt x="5387627"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111091" y="8732388"/>
            <a:ext cx="4372649" cy="529811"/>
          </a:xfrm>
          <a:prstGeom prst="rect">
            <a:avLst/>
          </a:prstGeom>
        </p:spPr>
        <p:txBody>
          <a:bodyPr anchor="t" rtlCol="false" tIns="0" lIns="0" bIns="0" rIns="0">
            <a:spAutoFit/>
          </a:bodyPr>
          <a:lstStyle/>
          <a:p>
            <a:pPr algn="l" marL="0" indent="0" lvl="0">
              <a:lnSpc>
                <a:spcPts val="4397"/>
              </a:lnSpc>
              <a:spcBef>
                <a:spcPct val="0"/>
              </a:spcBef>
            </a:pPr>
            <a:r>
              <a:rPr lang="en-US" b="true" sz="3141">
                <a:solidFill>
                  <a:srgbClr val="FFFFFF"/>
                </a:solidFill>
                <a:latin typeface="Dosis Bold"/>
                <a:ea typeface="Dosis Bold"/>
                <a:cs typeface="Dosis Bold"/>
                <a:sym typeface="Dosis Bold"/>
              </a:rPr>
              <a:t>25 March, 2025</a:t>
            </a:r>
          </a:p>
        </p:txBody>
      </p:sp>
      <p:sp>
        <p:nvSpPr>
          <p:cNvPr name="TextBox 8" id="8"/>
          <p:cNvSpPr txBox="true"/>
          <p:nvPr/>
        </p:nvSpPr>
        <p:spPr>
          <a:xfrm rot="0">
            <a:off x="1111091" y="8096544"/>
            <a:ext cx="4247919" cy="572356"/>
          </a:xfrm>
          <a:prstGeom prst="rect">
            <a:avLst/>
          </a:prstGeom>
        </p:spPr>
        <p:txBody>
          <a:bodyPr anchor="t" rtlCol="false" tIns="0" lIns="0" bIns="0" rIns="0">
            <a:spAutoFit/>
          </a:bodyPr>
          <a:lstStyle/>
          <a:p>
            <a:pPr algn="l" marL="0" indent="0" lvl="0">
              <a:lnSpc>
                <a:spcPts val="4677"/>
              </a:lnSpc>
              <a:spcBef>
                <a:spcPct val="0"/>
              </a:spcBef>
            </a:pPr>
            <a:r>
              <a:rPr lang="en-US" b="true" sz="3341">
                <a:solidFill>
                  <a:srgbClr val="FFFFFF"/>
                </a:solidFill>
                <a:latin typeface="Dosis Bold"/>
                <a:ea typeface="Dosis Bold"/>
                <a:cs typeface="Dosis Bold"/>
                <a:sym typeface="Dosis Bold"/>
              </a:rPr>
              <a:t>Morning</a:t>
            </a:r>
          </a:p>
        </p:txBody>
      </p:sp>
      <p:sp>
        <p:nvSpPr>
          <p:cNvPr name="TextBox 9" id="9"/>
          <p:cNvSpPr txBox="true"/>
          <p:nvPr/>
        </p:nvSpPr>
        <p:spPr>
          <a:xfrm rot="0">
            <a:off x="1111091" y="964393"/>
            <a:ext cx="9720372" cy="6363081"/>
          </a:xfrm>
          <a:prstGeom prst="rect">
            <a:avLst/>
          </a:prstGeom>
        </p:spPr>
        <p:txBody>
          <a:bodyPr anchor="t" rtlCol="false" tIns="0" lIns="0" bIns="0" rIns="0">
            <a:spAutoFit/>
          </a:bodyPr>
          <a:lstStyle/>
          <a:p>
            <a:pPr algn="l" marL="0" indent="0" lvl="0">
              <a:lnSpc>
                <a:spcPts val="10031"/>
              </a:lnSpc>
            </a:pPr>
            <a:r>
              <a:rPr lang="en-US" sz="8799">
                <a:solidFill>
                  <a:srgbClr val="014225"/>
                </a:solidFill>
                <a:latin typeface="Lazydog"/>
                <a:ea typeface="Lazydog"/>
                <a:cs typeface="Lazydog"/>
                <a:sym typeface="Lazydog"/>
              </a:rPr>
              <a:t>Automate Strategy Finding with LLM in Quant investment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5400000">
            <a:off x="-1640230" y="6474482"/>
            <a:ext cx="7411105" cy="6568092"/>
          </a:xfrm>
          <a:custGeom>
            <a:avLst/>
            <a:gdLst/>
            <a:ahLst/>
            <a:cxnLst/>
            <a:rect r="r" b="b" t="t" l="l"/>
            <a:pathLst>
              <a:path h="6568092" w="7411105">
                <a:moveTo>
                  <a:pt x="7411106" y="6568092"/>
                </a:moveTo>
                <a:lnTo>
                  <a:pt x="0" y="6568092"/>
                </a:lnTo>
                <a:lnTo>
                  <a:pt x="0" y="0"/>
                </a:lnTo>
                <a:lnTo>
                  <a:pt x="7411106" y="0"/>
                </a:lnTo>
                <a:lnTo>
                  <a:pt x="7411106" y="656809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4473078" y="-532399"/>
            <a:ext cx="4911697" cy="4352991"/>
          </a:xfrm>
          <a:custGeom>
            <a:avLst/>
            <a:gdLst/>
            <a:ahLst/>
            <a:cxnLst/>
            <a:rect r="r" b="b" t="t" l="l"/>
            <a:pathLst>
              <a:path h="4352991" w="4911697">
                <a:moveTo>
                  <a:pt x="0" y="0"/>
                </a:moveTo>
                <a:lnTo>
                  <a:pt x="4911697" y="0"/>
                </a:lnTo>
                <a:lnTo>
                  <a:pt x="4911697" y="4352992"/>
                </a:lnTo>
                <a:lnTo>
                  <a:pt x="0" y="43529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4167582" y="315771"/>
            <a:ext cx="9952836" cy="1461594"/>
          </a:xfrm>
          <a:prstGeom prst="rect">
            <a:avLst/>
          </a:prstGeom>
        </p:spPr>
        <p:txBody>
          <a:bodyPr anchor="t" rtlCol="false" tIns="0" lIns="0" bIns="0" rIns="0">
            <a:spAutoFit/>
          </a:bodyPr>
          <a:lstStyle/>
          <a:p>
            <a:pPr algn="ctr" marL="0" indent="0" lvl="0">
              <a:lnSpc>
                <a:spcPts val="11834"/>
              </a:lnSpc>
              <a:spcBef>
                <a:spcPct val="0"/>
              </a:spcBef>
            </a:pPr>
            <a:r>
              <a:rPr lang="en-US" sz="8453">
                <a:solidFill>
                  <a:srgbClr val="014225"/>
                </a:solidFill>
                <a:latin typeface="Lazydog"/>
                <a:ea typeface="Lazydog"/>
                <a:cs typeface="Lazydog"/>
                <a:sym typeface="Lazydog"/>
              </a:rPr>
              <a:t>Team Members</a:t>
            </a:r>
          </a:p>
        </p:txBody>
      </p:sp>
      <p:sp>
        <p:nvSpPr>
          <p:cNvPr name="TextBox 5" id="5"/>
          <p:cNvSpPr txBox="true"/>
          <p:nvPr/>
        </p:nvSpPr>
        <p:spPr>
          <a:xfrm rot="0">
            <a:off x="6433205" y="4407943"/>
            <a:ext cx="5422896" cy="596413"/>
          </a:xfrm>
          <a:prstGeom prst="rect">
            <a:avLst/>
          </a:prstGeom>
        </p:spPr>
        <p:txBody>
          <a:bodyPr anchor="t" rtlCol="false" tIns="0" lIns="0" bIns="0" rIns="0">
            <a:spAutoFit/>
          </a:bodyPr>
          <a:lstStyle/>
          <a:p>
            <a:pPr algn="ctr" marL="0" indent="0" lvl="0">
              <a:lnSpc>
                <a:spcPts val="4926"/>
              </a:lnSpc>
              <a:spcBef>
                <a:spcPct val="0"/>
              </a:spcBef>
            </a:pPr>
            <a:r>
              <a:rPr lang="en-US" b="true" sz="3519">
                <a:solidFill>
                  <a:srgbClr val="795913"/>
                </a:solidFill>
                <a:latin typeface="Dosis Bold"/>
                <a:ea typeface="Dosis Bold"/>
                <a:cs typeface="Dosis Bold"/>
                <a:sym typeface="Dosis Bold"/>
              </a:rPr>
              <a:t>Nguyen The Cuong</a:t>
            </a:r>
          </a:p>
        </p:txBody>
      </p:sp>
      <p:sp>
        <p:nvSpPr>
          <p:cNvPr name="TextBox 6" id="6"/>
          <p:cNvSpPr txBox="true"/>
          <p:nvPr/>
        </p:nvSpPr>
        <p:spPr>
          <a:xfrm rot="0">
            <a:off x="1028700" y="3768401"/>
            <a:ext cx="4321323" cy="596413"/>
          </a:xfrm>
          <a:prstGeom prst="rect">
            <a:avLst/>
          </a:prstGeom>
        </p:spPr>
        <p:txBody>
          <a:bodyPr anchor="t" rtlCol="false" tIns="0" lIns="0" bIns="0" rIns="0">
            <a:spAutoFit/>
          </a:bodyPr>
          <a:lstStyle/>
          <a:p>
            <a:pPr algn="ctr" marL="0" indent="0" lvl="0">
              <a:lnSpc>
                <a:spcPts val="4926"/>
              </a:lnSpc>
              <a:spcBef>
                <a:spcPct val="0"/>
              </a:spcBef>
            </a:pPr>
            <a:r>
              <a:rPr lang="en-US" b="true" sz="3519">
                <a:solidFill>
                  <a:srgbClr val="795913"/>
                </a:solidFill>
                <a:latin typeface="Dosis Bold"/>
                <a:ea typeface="Dosis Bold"/>
                <a:cs typeface="Dosis Bold"/>
                <a:sym typeface="Dosis Bold"/>
              </a:rPr>
              <a:t>Hoang Van Duong</a:t>
            </a:r>
          </a:p>
        </p:txBody>
      </p:sp>
      <p:sp>
        <p:nvSpPr>
          <p:cNvPr name="TextBox 7" id="7"/>
          <p:cNvSpPr txBox="true"/>
          <p:nvPr/>
        </p:nvSpPr>
        <p:spPr>
          <a:xfrm rot="0">
            <a:off x="13493934" y="4937681"/>
            <a:ext cx="3188273" cy="596413"/>
          </a:xfrm>
          <a:prstGeom prst="rect">
            <a:avLst/>
          </a:prstGeom>
        </p:spPr>
        <p:txBody>
          <a:bodyPr anchor="t" rtlCol="false" tIns="0" lIns="0" bIns="0" rIns="0">
            <a:spAutoFit/>
          </a:bodyPr>
          <a:lstStyle/>
          <a:p>
            <a:pPr algn="ctr" marL="0" indent="0" lvl="0">
              <a:lnSpc>
                <a:spcPts val="4926"/>
              </a:lnSpc>
              <a:spcBef>
                <a:spcPct val="0"/>
              </a:spcBef>
            </a:pPr>
            <a:r>
              <a:rPr lang="en-US" b="true" sz="3519">
                <a:solidFill>
                  <a:srgbClr val="795913"/>
                </a:solidFill>
                <a:latin typeface="Dosis Bold"/>
                <a:ea typeface="Dosis Bold"/>
                <a:cs typeface="Dosis Bold"/>
                <a:sym typeface="Dosis Bold"/>
              </a:rPr>
              <a:t>Nguyen Gia Huy</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5400000">
            <a:off x="-1595228" y="-1528428"/>
            <a:ext cx="6619867" cy="5866857"/>
          </a:xfrm>
          <a:custGeom>
            <a:avLst/>
            <a:gdLst/>
            <a:ahLst/>
            <a:cxnLst/>
            <a:rect r="r" b="b" t="t" l="l"/>
            <a:pathLst>
              <a:path h="5866857" w="6619867">
                <a:moveTo>
                  <a:pt x="0" y="5866857"/>
                </a:moveTo>
                <a:lnTo>
                  <a:pt x="6619867" y="5866857"/>
                </a:lnTo>
                <a:lnTo>
                  <a:pt x="6619867" y="0"/>
                </a:lnTo>
                <a:lnTo>
                  <a:pt x="0" y="0"/>
                </a:lnTo>
                <a:lnTo>
                  <a:pt x="0" y="5866857"/>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4089894" y="127911"/>
            <a:ext cx="10108212" cy="1611078"/>
          </a:xfrm>
          <a:prstGeom prst="rect">
            <a:avLst/>
          </a:prstGeom>
        </p:spPr>
        <p:txBody>
          <a:bodyPr anchor="t" rtlCol="false" tIns="0" lIns="0" bIns="0" rIns="0">
            <a:spAutoFit/>
          </a:bodyPr>
          <a:lstStyle/>
          <a:p>
            <a:pPr algn="ctr" marL="0" indent="0" lvl="0">
              <a:lnSpc>
                <a:spcPts val="13050"/>
              </a:lnSpc>
              <a:spcBef>
                <a:spcPct val="0"/>
              </a:spcBef>
            </a:pPr>
            <a:r>
              <a:rPr lang="en-US" sz="9321">
                <a:solidFill>
                  <a:srgbClr val="014225"/>
                </a:solidFill>
                <a:latin typeface="Lazydog"/>
                <a:ea typeface="Lazydog"/>
                <a:cs typeface="Lazydog"/>
                <a:sym typeface="Lazydog"/>
              </a:rPr>
              <a:t>Overview</a:t>
            </a:r>
          </a:p>
        </p:txBody>
      </p:sp>
      <p:sp>
        <p:nvSpPr>
          <p:cNvPr name="Freeform 4" id="4"/>
          <p:cNvSpPr/>
          <p:nvPr/>
        </p:nvSpPr>
        <p:spPr>
          <a:xfrm flipH="false" flipV="false" rot="-10800000">
            <a:off x="16598970" y="7806041"/>
            <a:ext cx="4091898" cy="3125187"/>
          </a:xfrm>
          <a:custGeom>
            <a:avLst/>
            <a:gdLst/>
            <a:ahLst/>
            <a:cxnLst/>
            <a:rect r="r" b="b" t="t" l="l"/>
            <a:pathLst>
              <a:path h="3125187" w="4091898">
                <a:moveTo>
                  <a:pt x="0" y="0"/>
                </a:moveTo>
                <a:lnTo>
                  <a:pt x="4091898" y="0"/>
                </a:lnTo>
                <a:lnTo>
                  <a:pt x="4091898" y="3125187"/>
                </a:lnTo>
                <a:lnTo>
                  <a:pt x="0" y="312518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5412911" y="2406458"/>
            <a:ext cx="7462178" cy="6989145"/>
          </a:xfrm>
          <a:prstGeom prst="rect">
            <a:avLst/>
          </a:prstGeom>
        </p:spPr>
        <p:txBody>
          <a:bodyPr anchor="t" rtlCol="false" tIns="0" lIns="0" bIns="0" rIns="0">
            <a:spAutoFit/>
          </a:bodyPr>
          <a:lstStyle/>
          <a:p>
            <a:pPr algn="l" marL="1071257" indent="-535628" lvl="1">
              <a:lnSpc>
                <a:spcPts val="6946"/>
              </a:lnSpc>
              <a:buAutoNum type="arabicPeriod" startAt="1"/>
            </a:pPr>
            <a:r>
              <a:rPr lang="en-US" b="true" sz="4961">
                <a:solidFill>
                  <a:srgbClr val="014225"/>
                </a:solidFill>
                <a:latin typeface="Dosis Bold"/>
                <a:ea typeface="Dosis Bold"/>
                <a:cs typeface="Dosis Bold"/>
                <a:sym typeface="Dosis Bold"/>
              </a:rPr>
              <a:t>Terminology</a:t>
            </a:r>
          </a:p>
          <a:p>
            <a:pPr algn="l" marL="1071257" indent="-535628" lvl="1">
              <a:lnSpc>
                <a:spcPts val="6946"/>
              </a:lnSpc>
              <a:buAutoNum type="arabicPeriod" startAt="1"/>
            </a:pPr>
            <a:r>
              <a:rPr lang="en-US" b="true" sz="4961">
                <a:solidFill>
                  <a:srgbClr val="014225"/>
                </a:solidFill>
                <a:latin typeface="Dosis Bold"/>
                <a:ea typeface="Dosis Bold"/>
                <a:cs typeface="Dosis Bold"/>
                <a:sym typeface="Dosis Bold"/>
              </a:rPr>
              <a:t>Abstract</a:t>
            </a:r>
          </a:p>
          <a:p>
            <a:pPr algn="l" marL="1071257" indent="-535628" lvl="1">
              <a:lnSpc>
                <a:spcPts val="6946"/>
              </a:lnSpc>
              <a:buAutoNum type="arabicPeriod" startAt="1"/>
            </a:pPr>
            <a:r>
              <a:rPr lang="en-US" b="true" sz="4961">
                <a:solidFill>
                  <a:srgbClr val="014225"/>
                </a:solidFill>
                <a:latin typeface="Dosis Bold"/>
                <a:ea typeface="Dosis Bold"/>
                <a:cs typeface="Dosis Bold"/>
                <a:sym typeface="Dosis Bold"/>
              </a:rPr>
              <a:t>Introduction</a:t>
            </a:r>
          </a:p>
          <a:p>
            <a:pPr algn="l" marL="1071257" indent="-535628" lvl="1">
              <a:lnSpc>
                <a:spcPts val="6946"/>
              </a:lnSpc>
              <a:buAutoNum type="arabicPeriod" startAt="1"/>
            </a:pPr>
            <a:r>
              <a:rPr lang="en-US" b="true" sz="4961">
                <a:solidFill>
                  <a:srgbClr val="014225"/>
                </a:solidFill>
                <a:latin typeface="Dosis Bold"/>
                <a:ea typeface="Dosis Bold"/>
                <a:cs typeface="Dosis Bold"/>
                <a:sym typeface="Dosis Bold"/>
              </a:rPr>
              <a:t>Problem Formulation</a:t>
            </a:r>
          </a:p>
          <a:p>
            <a:pPr algn="l" marL="1071257" indent="-535628" lvl="1">
              <a:lnSpc>
                <a:spcPts val="6946"/>
              </a:lnSpc>
              <a:buAutoNum type="arabicPeriod" startAt="1"/>
            </a:pPr>
            <a:r>
              <a:rPr lang="en-US" b="true" sz="4961">
                <a:solidFill>
                  <a:srgbClr val="014225"/>
                </a:solidFill>
                <a:latin typeface="Dosis Bold"/>
                <a:ea typeface="Dosis Bold"/>
                <a:cs typeface="Dosis Bold"/>
                <a:sym typeface="Dosis Bold"/>
              </a:rPr>
              <a:t>Methodology</a:t>
            </a:r>
          </a:p>
          <a:p>
            <a:pPr algn="l" marL="1071257" indent="-535628" lvl="1">
              <a:lnSpc>
                <a:spcPts val="6946"/>
              </a:lnSpc>
              <a:buAutoNum type="arabicPeriod" startAt="1"/>
            </a:pPr>
            <a:r>
              <a:rPr lang="en-US" b="true" sz="4961">
                <a:solidFill>
                  <a:srgbClr val="014225"/>
                </a:solidFill>
                <a:latin typeface="Dosis Bold"/>
                <a:ea typeface="Dosis Bold"/>
                <a:cs typeface="Dosis Bold"/>
                <a:sym typeface="Dosis Bold"/>
              </a:rPr>
              <a:t>Experiment</a:t>
            </a:r>
          </a:p>
          <a:p>
            <a:pPr algn="l" marL="1071257" indent="-535628" lvl="1">
              <a:lnSpc>
                <a:spcPts val="6946"/>
              </a:lnSpc>
              <a:buAutoNum type="arabicPeriod" startAt="1"/>
            </a:pPr>
            <a:r>
              <a:rPr lang="en-US" b="true" sz="4961">
                <a:solidFill>
                  <a:srgbClr val="014225"/>
                </a:solidFill>
                <a:latin typeface="Dosis Bold"/>
                <a:ea typeface="Dosis Bold"/>
                <a:cs typeface="Dosis Bold"/>
                <a:sym typeface="Dosis Bold"/>
              </a:rPr>
              <a:t>Related Work</a:t>
            </a:r>
          </a:p>
          <a:p>
            <a:pPr algn="l" marL="1071257" indent="-535628" lvl="1">
              <a:lnSpc>
                <a:spcPts val="6946"/>
              </a:lnSpc>
              <a:buAutoNum type="arabicPeriod" startAt="1"/>
            </a:pPr>
            <a:r>
              <a:rPr lang="en-US" b="true" sz="4961">
                <a:solidFill>
                  <a:srgbClr val="014225"/>
                </a:solidFill>
                <a:latin typeface="Dosis Bold"/>
                <a:ea typeface="Dosis Bold"/>
                <a:cs typeface="Dosis Bold"/>
                <a:sym typeface="Dosis Bold"/>
              </a:rPr>
              <a:t>Conclusion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4F4DC"/>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5128266" y="-1147796"/>
            <a:ext cx="4911697" cy="4352991"/>
          </a:xfrm>
          <a:custGeom>
            <a:avLst/>
            <a:gdLst/>
            <a:ahLst/>
            <a:cxnLst/>
            <a:rect r="r" b="b" t="t" l="l"/>
            <a:pathLst>
              <a:path h="4352991" w="4911697">
                <a:moveTo>
                  <a:pt x="0" y="0"/>
                </a:moveTo>
                <a:lnTo>
                  <a:pt x="4911697" y="0"/>
                </a:lnTo>
                <a:lnTo>
                  <a:pt x="4911697" y="4352992"/>
                </a:lnTo>
                <a:lnTo>
                  <a:pt x="0" y="43529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273879" y="-2057400"/>
            <a:ext cx="5387627" cy="4114800"/>
          </a:xfrm>
          <a:custGeom>
            <a:avLst/>
            <a:gdLst/>
            <a:ahLst/>
            <a:cxnLst/>
            <a:rect r="r" b="b" t="t" l="l"/>
            <a:pathLst>
              <a:path h="4114800" w="5387627">
                <a:moveTo>
                  <a:pt x="0" y="0"/>
                </a:moveTo>
                <a:lnTo>
                  <a:pt x="5387627" y="0"/>
                </a:lnTo>
                <a:lnTo>
                  <a:pt x="5387627"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6003179" y="-663062"/>
            <a:ext cx="925748" cy="2307159"/>
          </a:xfrm>
          <a:custGeom>
            <a:avLst/>
            <a:gdLst/>
            <a:ahLst/>
            <a:cxnLst/>
            <a:rect r="r" b="b" t="t" l="l"/>
            <a:pathLst>
              <a:path h="2307159" w="925748">
                <a:moveTo>
                  <a:pt x="0" y="0"/>
                </a:moveTo>
                <a:lnTo>
                  <a:pt x="925748" y="0"/>
                </a:lnTo>
                <a:lnTo>
                  <a:pt x="925748" y="2307159"/>
                </a:lnTo>
                <a:lnTo>
                  <a:pt x="0" y="230715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0" y="7513779"/>
            <a:ext cx="2575330" cy="2830034"/>
          </a:xfrm>
          <a:custGeom>
            <a:avLst/>
            <a:gdLst/>
            <a:ahLst/>
            <a:cxnLst/>
            <a:rect r="r" b="b" t="t" l="l"/>
            <a:pathLst>
              <a:path h="2830034" w="2575330">
                <a:moveTo>
                  <a:pt x="0" y="0"/>
                </a:moveTo>
                <a:lnTo>
                  <a:pt x="2575330" y="0"/>
                </a:lnTo>
                <a:lnTo>
                  <a:pt x="2575330" y="2830034"/>
                </a:lnTo>
                <a:lnTo>
                  <a:pt x="0" y="2830034"/>
                </a:lnTo>
                <a:lnTo>
                  <a:pt x="0" y="0"/>
                </a:lnTo>
                <a:close/>
              </a:path>
            </a:pathLst>
          </a:custGeom>
          <a:blipFill>
            <a:blip r:embed="rId8"/>
            <a:stretch>
              <a:fillRect l="0" t="0" r="0" b="0"/>
            </a:stretch>
          </a:blipFill>
        </p:spPr>
      </p:sp>
      <p:sp>
        <p:nvSpPr>
          <p:cNvPr name="Freeform 6" id="6"/>
          <p:cNvSpPr/>
          <p:nvPr/>
        </p:nvSpPr>
        <p:spPr>
          <a:xfrm flipH="false" flipV="false" rot="0">
            <a:off x="16444774" y="5091556"/>
            <a:ext cx="1629052" cy="1629052"/>
          </a:xfrm>
          <a:custGeom>
            <a:avLst/>
            <a:gdLst/>
            <a:ahLst/>
            <a:cxnLst/>
            <a:rect r="r" b="b" t="t" l="l"/>
            <a:pathLst>
              <a:path h="1629052" w="1629052">
                <a:moveTo>
                  <a:pt x="0" y="0"/>
                </a:moveTo>
                <a:lnTo>
                  <a:pt x="1629052" y="0"/>
                </a:lnTo>
                <a:lnTo>
                  <a:pt x="1629052" y="1629053"/>
                </a:lnTo>
                <a:lnTo>
                  <a:pt x="0" y="162905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7" id="7"/>
          <p:cNvSpPr txBox="true"/>
          <p:nvPr/>
        </p:nvSpPr>
        <p:spPr>
          <a:xfrm rot="0">
            <a:off x="4992010" y="2161941"/>
            <a:ext cx="7825305" cy="1569741"/>
          </a:xfrm>
          <a:prstGeom prst="rect">
            <a:avLst/>
          </a:prstGeom>
        </p:spPr>
        <p:txBody>
          <a:bodyPr anchor="t" rtlCol="false" tIns="0" lIns="0" bIns="0" rIns="0">
            <a:spAutoFit/>
          </a:bodyPr>
          <a:lstStyle/>
          <a:p>
            <a:pPr algn="ctr" marL="0" indent="0" lvl="0">
              <a:lnSpc>
                <a:spcPts val="6318"/>
              </a:lnSpc>
              <a:spcBef>
                <a:spcPct val="0"/>
              </a:spcBef>
            </a:pPr>
            <a:r>
              <a:rPr lang="en-US" b="true" sz="4513">
                <a:solidFill>
                  <a:srgbClr val="014225"/>
                </a:solidFill>
                <a:latin typeface="Montserrat Bold"/>
                <a:ea typeface="Montserrat Bold"/>
                <a:cs typeface="Montserrat Bold"/>
                <a:sym typeface="Montserrat Bold"/>
              </a:rPr>
              <a:t>Quantitative investment (đầu tư định lượng)</a:t>
            </a:r>
          </a:p>
        </p:txBody>
      </p:sp>
      <p:sp>
        <p:nvSpPr>
          <p:cNvPr name="TextBox 8" id="8"/>
          <p:cNvSpPr txBox="true"/>
          <p:nvPr/>
        </p:nvSpPr>
        <p:spPr>
          <a:xfrm rot="0">
            <a:off x="1287665" y="4016527"/>
            <a:ext cx="16116569" cy="537845"/>
          </a:xfrm>
          <a:prstGeom prst="rect">
            <a:avLst/>
          </a:prstGeom>
        </p:spPr>
        <p:txBody>
          <a:bodyPr anchor="t" rtlCol="false" tIns="0" lIns="0" bIns="0" rIns="0">
            <a:spAutoFit/>
          </a:bodyPr>
          <a:lstStyle/>
          <a:p>
            <a:pPr algn="l">
              <a:lnSpc>
                <a:spcPts val="4480"/>
              </a:lnSpc>
              <a:spcBef>
                <a:spcPct val="0"/>
              </a:spcBef>
            </a:pPr>
            <a:r>
              <a:rPr lang="en-US" sz="3200">
                <a:solidFill>
                  <a:srgbClr val="000000"/>
                </a:solidFill>
                <a:latin typeface="Nunito Sans"/>
                <a:ea typeface="Nunito Sans"/>
                <a:cs typeface="Nunito Sans"/>
                <a:sym typeface="Nunito Sans"/>
              </a:rPr>
              <a:t>Quantitative investment = Đầu tư dựa trên dữ liệu + Mô hình toán học + Tự động hóa</a:t>
            </a:r>
          </a:p>
        </p:txBody>
      </p:sp>
      <p:sp>
        <p:nvSpPr>
          <p:cNvPr name="TextBox 9" id="9"/>
          <p:cNvSpPr txBox="true"/>
          <p:nvPr/>
        </p:nvSpPr>
        <p:spPr>
          <a:xfrm rot="0">
            <a:off x="1899589" y="5086350"/>
            <a:ext cx="7005074" cy="537845"/>
          </a:xfrm>
          <a:prstGeom prst="rect">
            <a:avLst/>
          </a:prstGeom>
        </p:spPr>
        <p:txBody>
          <a:bodyPr anchor="t" rtlCol="false" tIns="0" lIns="0" bIns="0" rIns="0">
            <a:spAutoFit/>
          </a:bodyPr>
          <a:lstStyle/>
          <a:p>
            <a:pPr algn="ctr">
              <a:lnSpc>
                <a:spcPts val="4480"/>
              </a:lnSpc>
              <a:spcBef>
                <a:spcPct val="0"/>
              </a:spcBef>
            </a:pPr>
            <a:r>
              <a:rPr lang="en-US" b="true" sz="3200">
                <a:solidFill>
                  <a:srgbClr val="000000"/>
                </a:solidFill>
                <a:latin typeface="Montserrat Bold"/>
                <a:ea typeface="Montserrat Bold"/>
                <a:cs typeface="Montserrat Bold"/>
                <a:sym typeface="Montserrat Bold"/>
              </a:rPr>
              <a:t>Dựa trên mô hình toán học</a:t>
            </a:r>
          </a:p>
        </p:txBody>
      </p:sp>
      <p:sp>
        <p:nvSpPr>
          <p:cNvPr name="TextBox 10" id="10"/>
          <p:cNvSpPr txBox="true"/>
          <p:nvPr/>
        </p:nvSpPr>
        <p:spPr>
          <a:xfrm rot="0">
            <a:off x="9868993" y="5086350"/>
            <a:ext cx="7005074" cy="537845"/>
          </a:xfrm>
          <a:prstGeom prst="rect">
            <a:avLst/>
          </a:prstGeom>
        </p:spPr>
        <p:txBody>
          <a:bodyPr anchor="t" rtlCol="false" tIns="0" lIns="0" bIns="0" rIns="0">
            <a:spAutoFit/>
          </a:bodyPr>
          <a:lstStyle/>
          <a:p>
            <a:pPr algn="ctr">
              <a:lnSpc>
                <a:spcPts val="4480"/>
              </a:lnSpc>
              <a:spcBef>
                <a:spcPct val="0"/>
              </a:spcBef>
            </a:pPr>
            <a:r>
              <a:rPr lang="en-US" b="true" sz="3200">
                <a:solidFill>
                  <a:srgbClr val="000000"/>
                </a:solidFill>
                <a:latin typeface="Montserrat Bold"/>
                <a:ea typeface="Montserrat Bold"/>
                <a:cs typeface="Montserrat Bold"/>
                <a:sym typeface="Montserrat Bold"/>
              </a:rPr>
              <a:t>Được kiểm định kỹ</a:t>
            </a:r>
          </a:p>
        </p:txBody>
      </p:sp>
      <p:sp>
        <p:nvSpPr>
          <p:cNvPr name="TextBox 11" id="11"/>
          <p:cNvSpPr txBox="true"/>
          <p:nvPr/>
        </p:nvSpPr>
        <p:spPr>
          <a:xfrm rot="0">
            <a:off x="1899589" y="6806056"/>
            <a:ext cx="7005074" cy="537845"/>
          </a:xfrm>
          <a:prstGeom prst="rect">
            <a:avLst/>
          </a:prstGeom>
        </p:spPr>
        <p:txBody>
          <a:bodyPr anchor="t" rtlCol="false" tIns="0" lIns="0" bIns="0" rIns="0">
            <a:spAutoFit/>
          </a:bodyPr>
          <a:lstStyle/>
          <a:p>
            <a:pPr algn="ctr">
              <a:lnSpc>
                <a:spcPts val="4480"/>
              </a:lnSpc>
              <a:spcBef>
                <a:spcPct val="0"/>
              </a:spcBef>
            </a:pPr>
            <a:r>
              <a:rPr lang="en-US" b="true" sz="3200">
                <a:solidFill>
                  <a:srgbClr val="000000"/>
                </a:solidFill>
                <a:latin typeface="Montserrat Bold"/>
                <a:ea typeface="Montserrat Bold"/>
                <a:cs typeface="Montserrat Bold"/>
                <a:sym typeface="Montserrat Bold"/>
              </a:rPr>
              <a:t>Tự động hóa &amp; tốc độ cao</a:t>
            </a:r>
          </a:p>
        </p:txBody>
      </p:sp>
      <p:sp>
        <p:nvSpPr>
          <p:cNvPr name="TextBox 12" id="12"/>
          <p:cNvSpPr txBox="true"/>
          <p:nvPr/>
        </p:nvSpPr>
        <p:spPr>
          <a:xfrm rot="0">
            <a:off x="9868993" y="6806056"/>
            <a:ext cx="7005074" cy="537845"/>
          </a:xfrm>
          <a:prstGeom prst="rect">
            <a:avLst/>
          </a:prstGeom>
        </p:spPr>
        <p:txBody>
          <a:bodyPr anchor="t" rtlCol="false" tIns="0" lIns="0" bIns="0" rIns="0">
            <a:spAutoFit/>
          </a:bodyPr>
          <a:lstStyle/>
          <a:p>
            <a:pPr algn="ctr">
              <a:lnSpc>
                <a:spcPts val="4480"/>
              </a:lnSpc>
              <a:spcBef>
                <a:spcPct val="0"/>
              </a:spcBef>
            </a:pPr>
            <a:r>
              <a:rPr lang="en-US" b="true" sz="3200">
                <a:solidFill>
                  <a:srgbClr val="000000"/>
                </a:solidFill>
                <a:latin typeface="Montserrat Bold"/>
                <a:ea typeface="Montserrat Bold"/>
                <a:cs typeface="Montserrat Bold"/>
                <a:sym typeface="Montserrat Bold"/>
              </a:rPr>
              <a:t>Không bị chi phối bởi cảm xúc</a:t>
            </a:r>
          </a:p>
        </p:txBody>
      </p:sp>
      <p:sp>
        <p:nvSpPr>
          <p:cNvPr name="TextBox 13" id="13"/>
          <p:cNvSpPr txBox="true"/>
          <p:nvPr/>
        </p:nvSpPr>
        <p:spPr>
          <a:xfrm rot="0">
            <a:off x="2234465" y="-128169"/>
            <a:ext cx="6335322" cy="1307170"/>
          </a:xfrm>
          <a:prstGeom prst="rect">
            <a:avLst/>
          </a:prstGeom>
        </p:spPr>
        <p:txBody>
          <a:bodyPr anchor="t" rtlCol="false" tIns="0" lIns="0" bIns="0" rIns="0">
            <a:spAutoFit/>
          </a:bodyPr>
          <a:lstStyle/>
          <a:p>
            <a:pPr algn="ctr">
              <a:lnSpc>
                <a:spcPts val="10612"/>
              </a:lnSpc>
              <a:spcBef>
                <a:spcPct val="0"/>
              </a:spcBef>
            </a:pPr>
            <a:r>
              <a:rPr lang="en-US" sz="7580">
                <a:solidFill>
                  <a:srgbClr val="014225"/>
                </a:solidFill>
                <a:latin typeface="Lazydog"/>
                <a:ea typeface="Lazydog"/>
                <a:cs typeface="Lazydog"/>
                <a:sym typeface="Lazydog"/>
              </a:rPr>
              <a:t>Terminology</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4F4DC"/>
        </a:solidFill>
      </p:bgPr>
    </p:bg>
    <p:spTree>
      <p:nvGrpSpPr>
        <p:cNvPr id="1" name=""/>
        <p:cNvGrpSpPr/>
        <p:nvPr/>
      </p:nvGrpSpPr>
      <p:grpSpPr>
        <a:xfrm>
          <a:off x="0" y="0"/>
          <a:ext cx="0" cy="0"/>
          <a:chOff x="0" y="0"/>
          <a:chExt cx="0" cy="0"/>
        </a:xfrm>
      </p:grpSpPr>
      <p:sp>
        <p:nvSpPr>
          <p:cNvPr name="Freeform 2" id="2"/>
          <p:cNvSpPr/>
          <p:nvPr/>
        </p:nvSpPr>
        <p:spPr>
          <a:xfrm flipH="false" flipV="false" rot="2477594">
            <a:off x="-3867943" y="966025"/>
            <a:ext cx="19834656" cy="17578464"/>
          </a:xfrm>
          <a:custGeom>
            <a:avLst/>
            <a:gdLst/>
            <a:ahLst/>
            <a:cxnLst/>
            <a:rect r="r" b="b" t="t" l="l"/>
            <a:pathLst>
              <a:path h="17578464" w="19834656">
                <a:moveTo>
                  <a:pt x="0" y="0"/>
                </a:moveTo>
                <a:lnTo>
                  <a:pt x="19834656" y="0"/>
                </a:lnTo>
                <a:lnTo>
                  <a:pt x="19834656" y="17578464"/>
                </a:lnTo>
                <a:lnTo>
                  <a:pt x="0" y="175784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558080" y="5086350"/>
            <a:ext cx="8378256" cy="1966743"/>
          </a:xfrm>
          <a:prstGeom prst="rect">
            <a:avLst/>
          </a:prstGeom>
        </p:spPr>
        <p:txBody>
          <a:bodyPr anchor="t" rtlCol="false" tIns="0" lIns="0" bIns="0" rIns="0">
            <a:spAutoFit/>
          </a:bodyPr>
          <a:lstStyle/>
          <a:p>
            <a:pPr algn="l" marL="608663" indent="-304332" lvl="1">
              <a:lnSpc>
                <a:spcPts val="3946"/>
              </a:lnSpc>
              <a:buFont typeface="Arial"/>
              <a:buChar char="•"/>
            </a:pPr>
            <a:r>
              <a:rPr lang="en-US" sz="2819">
                <a:solidFill>
                  <a:srgbClr val="000000"/>
                </a:solidFill>
                <a:latin typeface="Nunito Sans"/>
                <a:ea typeface="Nunito Sans"/>
                <a:cs typeface="Nunito Sans"/>
                <a:sym typeface="Nunito Sans"/>
              </a:rPr>
              <a:t>Alpha dương cho thấy chiến lược có thể tạo ra lợi nhuận vượt trội.</a:t>
            </a:r>
          </a:p>
          <a:p>
            <a:pPr algn="l" marL="608663" indent="-304332" lvl="1">
              <a:lnSpc>
                <a:spcPts val="3946"/>
              </a:lnSpc>
              <a:buFont typeface="Arial"/>
              <a:buChar char="•"/>
            </a:pPr>
            <a:r>
              <a:rPr lang="en-US" sz="2819">
                <a:solidFill>
                  <a:srgbClr val="000000"/>
                </a:solidFill>
                <a:latin typeface="Nunito Sans"/>
                <a:ea typeface="Nunito Sans"/>
                <a:cs typeface="Nunito Sans"/>
                <a:sym typeface="Nunito Sans"/>
              </a:rPr>
              <a:t>Alpha âm cho thấy chiến lược không hiệu quả.</a:t>
            </a:r>
          </a:p>
          <a:p>
            <a:pPr algn="l" marL="0" indent="0" lvl="0">
              <a:lnSpc>
                <a:spcPts val="3946"/>
              </a:lnSpc>
              <a:spcBef>
                <a:spcPct val="0"/>
              </a:spcBef>
            </a:pPr>
          </a:p>
        </p:txBody>
      </p:sp>
      <p:sp>
        <p:nvSpPr>
          <p:cNvPr name="Freeform 4" id="4"/>
          <p:cNvSpPr/>
          <p:nvPr/>
        </p:nvSpPr>
        <p:spPr>
          <a:xfrm flipH="false" flipV="false" rot="-5400000">
            <a:off x="15128266" y="-1147796"/>
            <a:ext cx="4911697" cy="4352991"/>
          </a:xfrm>
          <a:custGeom>
            <a:avLst/>
            <a:gdLst/>
            <a:ahLst/>
            <a:cxnLst/>
            <a:rect r="r" b="b" t="t" l="l"/>
            <a:pathLst>
              <a:path h="4352991" w="4911697">
                <a:moveTo>
                  <a:pt x="0" y="0"/>
                </a:moveTo>
                <a:lnTo>
                  <a:pt x="4911697" y="0"/>
                </a:lnTo>
                <a:lnTo>
                  <a:pt x="4911697" y="4352992"/>
                </a:lnTo>
                <a:lnTo>
                  <a:pt x="0" y="43529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3273879" y="-2057400"/>
            <a:ext cx="5387627" cy="4114800"/>
          </a:xfrm>
          <a:custGeom>
            <a:avLst/>
            <a:gdLst/>
            <a:ahLst/>
            <a:cxnLst/>
            <a:rect r="r" b="b" t="t" l="l"/>
            <a:pathLst>
              <a:path h="4114800" w="5387627">
                <a:moveTo>
                  <a:pt x="0" y="0"/>
                </a:moveTo>
                <a:lnTo>
                  <a:pt x="5387627" y="0"/>
                </a:lnTo>
                <a:lnTo>
                  <a:pt x="538762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6003179" y="-663062"/>
            <a:ext cx="925748" cy="2307159"/>
          </a:xfrm>
          <a:custGeom>
            <a:avLst/>
            <a:gdLst/>
            <a:ahLst/>
            <a:cxnLst/>
            <a:rect r="r" b="b" t="t" l="l"/>
            <a:pathLst>
              <a:path h="2307159" w="925748">
                <a:moveTo>
                  <a:pt x="0" y="0"/>
                </a:moveTo>
                <a:lnTo>
                  <a:pt x="925748" y="0"/>
                </a:lnTo>
                <a:lnTo>
                  <a:pt x="925748" y="2307159"/>
                </a:lnTo>
                <a:lnTo>
                  <a:pt x="0" y="230715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9250269" y="2798506"/>
            <a:ext cx="8743570" cy="5825403"/>
          </a:xfrm>
          <a:custGeom>
            <a:avLst/>
            <a:gdLst/>
            <a:ahLst/>
            <a:cxnLst/>
            <a:rect r="r" b="b" t="t" l="l"/>
            <a:pathLst>
              <a:path h="5825403" w="8743570">
                <a:moveTo>
                  <a:pt x="0" y="0"/>
                </a:moveTo>
                <a:lnTo>
                  <a:pt x="8743570" y="0"/>
                </a:lnTo>
                <a:lnTo>
                  <a:pt x="8743570" y="5825403"/>
                </a:lnTo>
                <a:lnTo>
                  <a:pt x="0" y="5825403"/>
                </a:lnTo>
                <a:lnTo>
                  <a:pt x="0" y="0"/>
                </a:lnTo>
                <a:close/>
              </a:path>
            </a:pathLst>
          </a:custGeom>
          <a:blipFill>
            <a:blip r:embed="rId10"/>
            <a:stretch>
              <a:fillRect l="0" t="0" r="0" b="0"/>
            </a:stretch>
          </a:blipFill>
        </p:spPr>
      </p:sp>
      <p:sp>
        <p:nvSpPr>
          <p:cNvPr name="TextBox 8" id="8"/>
          <p:cNvSpPr txBox="true"/>
          <p:nvPr/>
        </p:nvSpPr>
        <p:spPr>
          <a:xfrm rot="0">
            <a:off x="3980553" y="857250"/>
            <a:ext cx="9304393" cy="1518481"/>
          </a:xfrm>
          <a:prstGeom prst="rect">
            <a:avLst/>
          </a:prstGeom>
        </p:spPr>
        <p:txBody>
          <a:bodyPr anchor="t" rtlCol="false" tIns="0" lIns="0" bIns="0" rIns="0">
            <a:spAutoFit/>
          </a:bodyPr>
          <a:lstStyle/>
          <a:p>
            <a:pPr algn="ctr" marL="0" indent="0" lvl="0">
              <a:lnSpc>
                <a:spcPts val="12379"/>
              </a:lnSpc>
              <a:spcBef>
                <a:spcPct val="0"/>
              </a:spcBef>
            </a:pPr>
            <a:r>
              <a:rPr lang="en-US" sz="8842">
                <a:solidFill>
                  <a:srgbClr val="014225"/>
                </a:solidFill>
                <a:latin typeface="Lazydog"/>
                <a:ea typeface="Lazydog"/>
                <a:cs typeface="Lazydog"/>
                <a:sym typeface="Lazydog"/>
              </a:rPr>
              <a:t>Alpha</a:t>
            </a:r>
          </a:p>
        </p:txBody>
      </p:sp>
      <p:sp>
        <p:nvSpPr>
          <p:cNvPr name="TextBox 9" id="9"/>
          <p:cNvSpPr txBox="true"/>
          <p:nvPr/>
        </p:nvSpPr>
        <p:spPr>
          <a:xfrm rot="0">
            <a:off x="558080" y="4401817"/>
            <a:ext cx="7366355" cy="480843"/>
          </a:xfrm>
          <a:prstGeom prst="rect">
            <a:avLst/>
          </a:prstGeom>
        </p:spPr>
        <p:txBody>
          <a:bodyPr anchor="t" rtlCol="false" tIns="0" lIns="0" bIns="0" rIns="0">
            <a:spAutoFit/>
          </a:bodyPr>
          <a:lstStyle/>
          <a:p>
            <a:pPr algn="l">
              <a:lnSpc>
                <a:spcPts val="3946"/>
              </a:lnSpc>
              <a:spcBef>
                <a:spcPct val="0"/>
              </a:spcBef>
            </a:pPr>
            <a:r>
              <a:rPr lang="en-US" b="true" sz="2819">
                <a:solidFill>
                  <a:srgbClr val="000000"/>
                </a:solidFill>
                <a:latin typeface="Nunito Sans Bold"/>
                <a:ea typeface="Nunito Sans Bold"/>
                <a:cs typeface="Nunito Sans Bold"/>
                <a:sym typeface="Nunito Sans Bold"/>
              </a:rPr>
              <a:t>Alpha (Quantitative Alpha)</a:t>
            </a:r>
            <a:r>
              <a:rPr lang="en-US" sz="2819">
                <a:solidFill>
                  <a:srgbClr val="000000"/>
                </a:solidFill>
                <a:latin typeface="Nunito Sans"/>
                <a:ea typeface="Nunito Sans"/>
                <a:cs typeface="Nunito Sans"/>
                <a:sym typeface="Nunito Sans"/>
              </a:rPr>
              <a:t> là một chỉ số</a:t>
            </a:r>
          </a:p>
        </p:txBody>
      </p:sp>
      <p:sp>
        <p:nvSpPr>
          <p:cNvPr name="TextBox 10" id="10"/>
          <p:cNvSpPr txBox="true"/>
          <p:nvPr/>
        </p:nvSpPr>
        <p:spPr>
          <a:xfrm rot="0">
            <a:off x="2234423" y="-90069"/>
            <a:ext cx="4359888" cy="908987"/>
          </a:xfrm>
          <a:prstGeom prst="rect">
            <a:avLst/>
          </a:prstGeom>
        </p:spPr>
        <p:txBody>
          <a:bodyPr anchor="t" rtlCol="false" tIns="0" lIns="0" bIns="0" rIns="0">
            <a:spAutoFit/>
          </a:bodyPr>
          <a:lstStyle/>
          <a:p>
            <a:pPr algn="ctr">
              <a:lnSpc>
                <a:spcPts val="7303"/>
              </a:lnSpc>
              <a:spcBef>
                <a:spcPct val="0"/>
              </a:spcBef>
            </a:pPr>
            <a:r>
              <a:rPr lang="en-US" sz="5216">
                <a:solidFill>
                  <a:srgbClr val="014225"/>
                </a:solidFill>
                <a:latin typeface="Lazydog"/>
                <a:ea typeface="Lazydog"/>
                <a:cs typeface="Lazydog"/>
                <a:sym typeface="Lazydog"/>
              </a:rPr>
              <a:t>Terminology</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4F4DC"/>
        </a:solidFill>
      </p:bgPr>
    </p:bg>
    <p:spTree>
      <p:nvGrpSpPr>
        <p:cNvPr id="1" name=""/>
        <p:cNvGrpSpPr/>
        <p:nvPr/>
      </p:nvGrpSpPr>
      <p:grpSpPr>
        <a:xfrm>
          <a:off x="0" y="0"/>
          <a:ext cx="0" cy="0"/>
          <a:chOff x="0" y="0"/>
          <a:chExt cx="0" cy="0"/>
        </a:xfrm>
      </p:grpSpPr>
      <p:sp>
        <p:nvSpPr>
          <p:cNvPr name="Freeform 2" id="2"/>
          <p:cNvSpPr/>
          <p:nvPr/>
        </p:nvSpPr>
        <p:spPr>
          <a:xfrm flipH="false" flipV="false" rot="2477594">
            <a:off x="-3883939" y="1093990"/>
            <a:ext cx="19834656" cy="17578464"/>
          </a:xfrm>
          <a:custGeom>
            <a:avLst/>
            <a:gdLst/>
            <a:ahLst/>
            <a:cxnLst/>
            <a:rect r="r" b="b" t="t" l="l"/>
            <a:pathLst>
              <a:path h="17578464" w="19834656">
                <a:moveTo>
                  <a:pt x="0" y="0"/>
                </a:moveTo>
                <a:lnTo>
                  <a:pt x="19834656" y="0"/>
                </a:lnTo>
                <a:lnTo>
                  <a:pt x="19834656" y="17578464"/>
                </a:lnTo>
                <a:lnTo>
                  <a:pt x="0" y="175784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5128266" y="-1147796"/>
            <a:ext cx="4911697" cy="4352991"/>
          </a:xfrm>
          <a:custGeom>
            <a:avLst/>
            <a:gdLst/>
            <a:ahLst/>
            <a:cxnLst/>
            <a:rect r="r" b="b" t="t" l="l"/>
            <a:pathLst>
              <a:path h="4352991" w="4911697">
                <a:moveTo>
                  <a:pt x="0" y="0"/>
                </a:moveTo>
                <a:lnTo>
                  <a:pt x="4911697" y="0"/>
                </a:lnTo>
                <a:lnTo>
                  <a:pt x="4911697" y="4352992"/>
                </a:lnTo>
                <a:lnTo>
                  <a:pt x="0" y="43529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3273879" y="-2057400"/>
            <a:ext cx="5387627" cy="4114800"/>
          </a:xfrm>
          <a:custGeom>
            <a:avLst/>
            <a:gdLst/>
            <a:ahLst/>
            <a:cxnLst/>
            <a:rect r="r" b="b" t="t" l="l"/>
            <a:pathLst>
              <a:path h="4114800" w="5387627">
                <a:moveTo>
                  <a:pt x="0" y="0"/>
                </a:moveTo>
                <a:lnTo>
                  <a:pt x="5387627" y="0"/>
                </a:lnTo>
                <a:lnTo>
                  <a:pt x="538762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6003179" y="-663062"/>
            <a:ext cx="925748" cy="2307159"/>
          </a:xfrm>
          <a:custGeom>
            <a:avLst/>
            <a:gdLst/>
            <a:ahLst/>
            <a:cxnLst/>
            <a:rect r="r" b="b" t="t" l="l"/>
            <a:pathLst>
              <a:path h="2307159" w="925748">
                <a:moveTo>
                  <a:pt x="0" y="0"/>
                </a:moveTo>
                <a:lnTo>
                  <a:pt x="925748" y="0"/>
                </a:lnTo>
                <a:lnTo>
                  <a:pt x="925748" y="2307159"/>
                </a:lnTo>
                <a:lnTo>
                  <a:pt x="0" y="230715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6" id="6"/>
          <p:cNvSpPr txBox="true"/>
          <p:nvPr/>
        </p:nvSpPr>
        <p:spPr>
          <a:xfrm rot="0">
            <a:off x="4491803" y="440702"/>
            <a:ext cx="9304393" cy="1518481"/>
          </a:xfrm>
          <a:prstGeom prst="rect">
            <a:avLst/>
          </a:prstGeom>
        </p:spPr>
        <p:txBody>
          <a:bodyPr anchor="t" rtlCol="false" tIns="0" lIns="0" bIns="0" rIns="0">
            <a:spAutoFit/>
          </a:bodyPr>
          <a:lstStyle/>
          <a:p>
            <a:pPr algn="ctr" marL="0" indent="0" lvl="0">
              <a:lnSpc>
                <a:spcPts val="12379"/>
              </a:lnSpc>
              <a:spcBef>
                <a:spcPct val="0"/>
              </a:spcBef>
            </a:pPr>
            <a:r>
              <a:rPr lang="en-US" sz="8842">
                <a:solidFill>
                  <a:srgbClr val="014225"/>
                </a:solidFill>
                <a:latin typeface="Lazydog"/>
                <a:ea typeface="Lazydog"/>
                <a:cs typeface="Lazydog"/>
                <a:sym typeface="Lazydog"/>
              </a:rPr>
              <a:t>alpha</a:t>
            </a:r>
          </a:p>
        </p:txBody>
      </p:sp>
      <p:sp>
        <p:nvSpPr>
          <p:cNvPr name="TextBox 7" id="7"/>
          <p:cNvSpPr txBox="true"/>
          <p:nvPr/>
        </p:nvSpPr>
        <p:spPr>
          <a:xfrm rot="0">
            <a:off x="1722604" y="2962387"/>
            <a:ext cx="14842792" cy="4938543"/>
          </a:xfrm>
          <a:prstGeom prst="rect">
            <a:avLst/>
          </a:prstGeom>
        </p:spPr>
        <p:txBody>
          <a:bodyPr anchor="t" rtlCol="false" tIns="0" lIns="0" bIns="0" rIns="0">
            <a:spAutoFit/>
          </a:bodyPr>
          <a:lstStyle/>
          <a:p>
            <a:pPr algn="l">
              <a:lnSpc>
                <a:spcPts val="3946"/>
              </a:lnSpc>
            </a:pPr>
          </a:p>
          <a:p>
            <a:pPr algn="l">
              <a:lnSpc>
                <a:spcPts val="3946"/>
              </a:lnSpc>
            </a:pPr>
            <a:r>
              <a:rPr lang="en-US" sz="2819">
                <a:solidFill>
                  <a:srgbClr val="000000"/>
                </a:solidFill>
                <a:latin typeface="Nunito Sans"/>
                <a:ea typeface="Nunito Sans"/>
                <a:cs typeface="Nunito Sans"/>
                <a:sym typeface="Nunito Sans"/>
              </a:rPr>
              <a:t>Có nhiều cách tính alpha (momentum, volatility, mean reversion...) nhưng không phải lúc nào cũng hiệu quả.</a:t>
            </a:r>
          </a:p>
          <a:p>
            <a:pPr algn="l" marL="1217326" indent="-405775" lvl="2">
              <a:lnSpc>
                <a:spcPts val="3946"/>
              </a:lnSpc>
              <a:buFont typeface="Arial"/>
              <a:buChar char="⚬"/>
            </a:pPr>
            <a:r>
              <a:rPr lang="en-US" sz="2819">
                <a:solidFill>
                  <a:srgbClr val="000000"/>
                </a:solidFill>
                <a:latin typeface="Nunito Sans"/>
                <a:ea typeface="Nunito Sans"/>
                <a:cs typeface="Nunito Sans"/>
                <a:sym typeface="Nunito Sans"/>
              </a:rPr>
              <a:t>Nếu thị trường sôi động → Dùng biến động giá (volatility-based alpha).</a:t>
            </a:r>
          </a:p>
          <a:p>
            <a:pPr algn="l" marL="1217326" indent="-405775" lvl="2">
              <a:lnSpc>
                <a:spcPts val="3946"/>
              </a:lnSpc>
              <a:buFont typeface="Arial"/>
              <a:buChar char="⚬"/>
            </a:pPr>
            <a:r>
              <a:rPr lang="en-US" sz="2819">
                <a:solidFill>
                  <a:srgbClr val="000000"/>
                </a:solidFill>
                <a:latin typeface="Nunito Sans"/>
                <a:ea typeface="Nunito Sans"/>
                <a:cs typeface="Nunito Sans"/>
                <a:sym typeface="Nunito Sans"/>
              </a:rPr>
              <a:t>Nếu thị trường ổn định → Có thể dùng động lượng (momentum-based alpha).</a:t>
            </a:r>
          </a:p>
          <a:p>
            <a:pPr algn="l">
              <a:lnSpc>
                <a:spcPts val="3946"/>
              </a:lnSpc>
            </a:pPr>
          </a:p>
          <a:p>
            <a:pPr algn="l">
              <a:lnSpc>
                <a:spcPts val="3946"/>
              </a:lnSpc>
            </a:pPr>
            <a:r>
              <a:rPr lang="en-US" sz="2819">
                <a:solidFill>
                  <a:srgbClr val="000000"/>
                </a:solidFill>
                <a:latin typeface="Nunito Sans"/>
                <a:ea typeface="Nunito Sans"/>
                <a:cs typeface="Nunito Sans"/>
                <a:sym typeface="Nunito Sans"/>
              </a:rPr>
              <a:t>Trước khi chọn: Gọi chung là </a:t>
            </a:r>
            <a:r>
              <a:rPr lang="en-US" sz="2819" b="true">
                <a:solidFill>
                  <a:srgbClr val="000000"/>
                </a:solidFill>
                <a:latin typeface="Nunito Sans Bold"/>
                <a:ea typeface="Nunito Sans Bold"/>
                <a:cs typeface="Nunito Sans Bold"/>
                <a:sym typeface="Nunito Sans Bold"/>
              </a:rPr>
              <a:t>Seed Alpha</a:t>
            </a:r>
            <a:r>
              <a:rPr lang="en-US" sz="2819">
                <a:solidFill>
                  <a:srgbClr val="000000"/>
                </a:solidFill>
                <a:latin typeface="Nunito Sans"/>
                <a:ea typeface="Nunito Sans"/>
                <a:cs typeface="Nunito Sans"/>
                <a:sym typeface="Nunito Sans"/>
              </a:rPr>
              <a:t> (các alpha tiềm năng).</a:t>
            </a:r>
          </a:p>
          <a:p>
            <a:pPr algn="l">
              <a:lnSpc>
                <a:spcPts val="3946"/>
              </a:lnSpc>
            </a:pPr>
            <a:r>
              <a:rPr lang="en-US" sz="2819">
                <a:solidFill>
                  <a:srgbClr val="000000"/>
                </a:solidFill>
                <a:latin typeface="Nunito Sans"/>
                <a:ea typeface="Nunito Sans"/>
                <a:cs typeface="Nunito Sans"/>
                <a:sym typeface="Nunito Sans"/>
              </a:rPr>
              <a:t>Sau khi chọn: Gọi là </a:t>
            </a:r>
            <a:r>
              <a:rPr lang="en-US" sz="2819" b="true">
                <a:solidFill>
                  <a:srgbClr val="000000"/>
                </a:solidFill>
                <a:latin typeface="Nunito Sans Bold"/>
                <a:ea typeface="Nunito Sans Bold"/>
                <a:cs typeface="Nunito Sans Bold"/>
                <a:sym typeface="Nunito Sans Bold"/>
              </a:rPr>
              <a:t>Selected Alpha</a:t>
            </a:r>
            <a:r>
              <a:rPr lang="en-US" sz="2819">
                <a:solidFill>
                  <a:srgbClr val="000000"/>
                </a:solidFill>
                <a:latin typeface="Nunito Sans"/>
                <a:ea typeface="Nunito Sans"/>
                <a:cs typeface="Nunito Sans"/>
                <a:sym typeface="Nunito Sans"/>
              </a:rPr>
              <a:t> (alpha chính thức đưa vào chiến lược).</a:t>
            </a:r>
          </a:p>
          <a:p>
            <a:pPr algn="l">
              <a:lnSpc>
                <a:spcPts val="3946"/>
              </a:lnSpc>
            </a:pPr>
          </a:p>
          <a:p>
            <a:pPr algn="l">
              <a:lnSpc>
                <a:spcPts val="3946"/>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4F4DC"/>
        </a:solidFill>
      </p:bgPr>
    </p:bg>
    <p:spTree>
      <p:nvGrpSpPr>
        <p:cNvPr id="1" name=""/>
        <p:cNvGrpSpPr/>
        <p:nvPr/>
      </p:nvGrpSpPr>
      <p:grpSpPr>
        <a:xfrm>
          <a:off x="0" y="0"/>
          <a:ext cx="0" cy="0"/>
          <a:chOff x="0" y="0"/>
          <a:chExt cx="0" cy="0"/>
        </a:xfrm>
      </p:grpSpPr>
      <p:sp>
        <p:nvSpPr>
          <p:cNvPr name="Freeform 2" id="2"/>
          <p:cNvSpPr/>
          <p:nvPr/>
        </p:nvSpPr>
        <p:spPr>
          <a:xfrm flipH="false" flipV="false" rot="2477594">
            <a:off x="-3883939" y="1093990"/>
            <a:ext cx="19834656" cy="17578464"/>
          </a:xfrm>
          <a:custGeom>
            <a:avLst/>
            <a:gdLst/>
            <a:ahLst/>
            <a:cxnLst/>
            <a:rect r="r" b="b" t="t" l="l"/>
            <a:pathLst>
              <a:path h="17578464" w="19834656">
                <a:moveTo>
                  <a:pt x="0" y="0"/>
                </a:moveTo>
                <a:lnTo>
                  <a:pt x="19834656" y="0"/>
                </a:lnTo>
                <a:lnTo>
                  <a:pt x="19834656" y="17578464"/>
                </a:lnTo>
                <a:lnTo>
                  <a:pt x="0" y="175784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5128266" y="-1147796"/>
            <a:ext cx="4911697" cy="4352991"/>
          </a:xfrm>
          <a:custGeom>
            <a:avLst/>
            <a:gdLst/>
            <a:ahLst/>
            <a:cxnLst/>
            <a:rect r="r" b="b" t="t" l="l"/>
            <a:pathLst>
              <a:path h="4352991" w="4911697">
                <a:moveTo>
                  <a:pt x="0" y="0"/>
                </a:moveTo>
                <a:lnTo>
                  <a:pt x="4911697" y="0"/>
                </a:lnTo>
                <a:lnTo>
                  <a:pt x="4911697" y="4352992"/>
                </a:lnTo>
                <a:lnTo>
                  <a:pt x="0" y="43529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3273879" y="-2057400"/>
            <a:ext cx="5387627" cy="4114800"/>
          </a:xfrm>
          <a:custGeom>
            <a:avLst/>
            <a:gdLst/>
            <a:ahLst/>
            <a:cxnLst/>
            <a:rect r="r" b="b" t="t" l="l"/>
            <a:pathLst>
              <a:path h="4114800" w="5387627">
                <a:moveTo>
                  <a:pt x="0" y="0"/>
                </a:moveTo>
                <a:lnTo>
                  <a:pt x="5387627" y="0"/>
                </a:lnTo>
                <a:lnTo>
                  <a:pt x="538762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6003179" y="-663062"/>
            <a:ext cx="925748" cy="2307159"/>
          </a:xfrm>
          <a:custGeom>
            <a:avLst/>
            <a:gdLst/>
            <a:ahLst/>
            <a:cxnLst/>
            <a:rect r="r" b="b" t="t" l="l"/>
            <a:pathLst>
              <a:path h="2307159" w="925748">
                <a:moveTo>
                  <a:pt x="0" y="0"/>
                </a:moveTo>
                <a:lnTo>
                  <a:pt x="925748" y="0"/>
                </a:lnTo>
                <a:lnTo>
                  <a:pt x="925748" y="2307159"/>
                </a:lnTo>
                <a:lnTo>
                  <a:pt x="0" y="230715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6" id="6"/>
          <p:cNvSpPr txBox="true"/>
          <p:nvPr/>
        </p:nvSpPr>
        <p:spPr>
          <a:xfrm rot="0">
            <a:off x="3762772" y="394442"/>
            <a:ext cx="12240407" cy="3090106"/>
          </a:xfrm>
          <a:prstGeom prst="rect">
            <a:avLst/>
          </a:prstGeom>
        </p:spPr>
        <p:txBody>
          <a:bodyPr anchor="t" rtlCol="false" tIns="0" lIns="0" bIns="0" rIns="0">
            <a:spAutoFit/>
          </a:bodyPr>
          <a:lstStyle/>
          <a:p>
            <a:pPr algn="ctr">
              <a:lnSpc>
                <a:spcPts val="12379"/>
              </a:lnSpc>
            </a:pPr>
            <a:r>
              <a:rPr lang="en-US" sz="8842">
                <a:solidFill>
                  <a:srgbClr val="014225"/>
                </a:solidFill>
                <a:latin typeface="Lazydog"/>
                <a:ea typeface="Lazydog"/>
                <a:cs typeface="Lazydog"/>
                <a:sym typeface="Lazydog"/>
              </a:rPr>
              <a:t>ATR</a:t>
            </a:r>
          </a:p>
          <a:p>
            <a:pPr algn="ctr" marL="0" indent="0" lvl="0">
              <a:lnSpc>
                <a:spcPts val="12379"/>
              </a:lnSpc>
              <a:spcBef>
                <a:spcPct val="0"/>
              </a:spcBef>
            </a:pPr>
            <a:r>
              <a:rPr lang="en-US" sz="8842">
                <a:solidFill>
                  <a:srgbClr val="014225"/>
                </a:solidFill>
                <a:latin typeface="Lazydog"/>
                <a:ea typeface="Lazydog"/>
                <a:cs typeface="Lazydog"/>
                <a:sym typeface="Lazydog"/>
              </a:rPr>
              <a:t>Average True Range</a:t>
            </a:r>
          </a:p>
        </p:txBody>
      </p:sp>
      <p:sp>
        <p:nvSpPr>
          <p:cNvPr name="TextBox 7" id="7"/>
          <p:cNvSpPr txBox="true"/>
          <p:nvPr/>
        </p:nvSpPr>
        <p:spPr>
          <a:xfrm rot="0">
            <a:off x="2113748" y="3933700"/>
            <a:ext cx="14842792" cy="2462043"/>
          </a:xfrm>
          <a:prstGeom prst="rect">
            <a:avLst/>
          </a:prstGeom>
        </p:spPr>
        <p:txBody>
          <a:bodyPr anchor="t" rtlCol="false" tIns="0" lIns="0" bIns="0" rIns="0">
            <a:spAutoFit/>
          </a:bodyPr>
          <a:lstStyle/>
          <a:p>
            <a:pPr algn="l">
              <a:lnSpc>
                <a:spcPts val="3946"/>
              </a:lnSpc>
            </a:pPr>
            <a:r>
              <a:rPr lang="en-US" sz="2819">
                <a:solidFill>
                  <a:srgbClr val="000000"/>
                </a:solidFill>
                <a:latin typeface="Nunito Sans"/>
                <a:ea typeface="Nunito Sans"/>
                <a:cs typeface="Nunito Sans"/>
                <a:sym typeface="Nunito Sans"/>
              </a:rPr>
              <a:t>Chỉ báo phân tích kỹ thuật do J. Welles Wilder phát triển.</a:t>
            </a:r>
          </a:p>
          <a:p>
            <a:pPr algn="l" marL="608663" indent="-304332" lvl="1">
              <a:lnSpc>
                <a:spcPts val="3946"/>
              </a:lnSpc>
              <a:buFont typeface="Arial"/>
              <a:buChar char="•"/>
            </a:pPr>
            <a:r>
              <a:rPr lang="en-US" sz="2819">
                <a:solidFill>
                  <a:srgbClr val="000000"/>
                </a:solidFill>
                <a:latin typeface="Nunito Sans"/>
                <a:ea typeface="Nunito Sans"/>
                <a:cs typeface="Nunito Sans"/>
                <a:sym typeface="Nunito Sans"/>
              </a:rPr>
              <a:t>ATR dùng để đo mức độ biến động giá của một tài sản trong một khoảng thời gian nhất định.</a:t>
            </a:r>
          </a:p>
          <a:p>
            <a:pPr algn="l" marL="608663" indent="-304332" lvl="1">
              <a:lnSpc>
                <a:spcPts val="3946"/>
              </a:lnSpc>
              <a:buFont typeface="Arial"/>
              <a:buChar char="•"/>
            </a:pPr>
            <a:r>
              <a:rPr lang="en-US" sz="2819">
                <a:solidFill>
                  <a:srgbClr val="000000"/>
                </a:solidFill>
                <a:latin typeface="Nunito Sans"/>
                <a:ea typeface="Nunito Sans"/>
                <a:cs typeface="Nunito Sans"/>
                <a:sym typeface="Nunito Sans"/>
              </a:rPr>
              <a:t>Đ</a:t>
            </a:r>
            <a:r>
              <a:rPr lang="en-US" sz="2819">
                <a:solidFill>
                  <a:srgbClr val="000000"/>
                </a:solidFill>
                <a:latin typeface="Nunito Sans"/>
                <a:ea typeface="Nunito Sans"/>
                <a:cs typeface="Nunito Sans"/>
                <a:sym typeface="Nunito Sans"/>
              </a:rPr>
              <a:t>o độ mạnh/yếu của biến động.</a:t>
            </a:r>
          </a:p>
          <a:p>
            <a:pPr algn="l">
              <a:lnSpc>
                <a:spcPts val="3946"/>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4F4DC"/>
        </a:solidFill>
      </p:bgPr>
    </p:bg>
    <p:spTree>
      <p:nvGrpSpPr>
        <p:cNvPr id="1" name=""/>
        <p:cNvGrpSpPr/>
        <p:nvPr/>
      </p:nvGrpSpPr>
      <p:grpSpPr>
        <a:xfrm>
          <a:off x="0" y="0"/>
          <a:ext cx="0" cy="0"/>
          <a:chOff x="0" y="0"/>
          <a:chExt cx="0" cy="0"/>
        </a:xfrm>
      </p:grpSpPr>
      <p:sp>
        <p:nvSpPr>
          <p:cNvPr name="Freeform 2" id="2"/>
          <p:cNvSpPr/>
          <p:nvPr/>
        </p:nvSpPr>
        <p:spPr>
          <a:xfrm flipH="false" flipV="false" rot="2477594">
            <a:off x="-3883939" y="1093990"/>
            <a:ext cx="19834656" cy="17578464"/>
          </a:xfrm>
          <a:custGeom>
            <a:avLst/>
            <a:gdLst/>
            <a:ahLst/>
            <a:cxnLst/>
            <a:rect r="r" b="b" t="t" l="l"/>
            <a:pathLst>
              <a:path h="17578464" w="19834656">
                <a:moveTo>
                  <a:pt x="0" y="0"/>
                </a:moveTo>
                <a:lnTo>
                  <a:pt x="19834656" y="0"/>
                </a:lnTo>
                <a:lnTo>
                  <a:pt x="19834656" y="17578464"/>
                </a:lnTo>
                <a:lnTo>
                  <a:pt x="0" y="175784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5128266" y="-1147796"/>
            <a:ext cx="4911697" cy="4352991"/>
          </a:xfrm>
          <a:custGeom>
            <a:avLst/>
            <a:gdLst/>
            <a:ahLst/>
            <a:cxnLst/>
            <a:rect r="r" b="b" t="t" l="l"/>
            <a:pathLst>
              <a:path h="4352991" w="4911697">
                <a:moveTo>
                  <a:pt x="0" y="0"/>
                </a:moveTo>
                <a:lnTo>
                  <a:pt x="4911697" y="0"/>
                </a:lnTo>
                <a:lnTo>
                  <a:pt x="4911697" y="4352992"/>
                </a:lnTo>
                <a:lnTo>
                  <a:pt x="0" y="43529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3273879" y="-2057400"/>
            <a:ext cx="5387627" cy="4114800"/>
          </a:xfrm>
          <a:custGeom>
            <a:avLst/>
            <a:gdLst/>
            <a:ahLst/>
            <a:cxnLst/>
            <a:rect r="r" b="b" t="t" l="l"/>
            <a:pathLst>
              <a:path h="4114800" w="5387627">
                <a:moveTo>
                  <a:pt x="0" y="0"/>
                </a:moveTo>
                <a:lnTo>
                  <a:pt x="5387627" y="0"/>
                </a:lnTo>
                <a:lnTo>
                  <a:pt x="538762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6003179" y="-663062"/>
            <a:ext cx="925748" cy="2307159"/>
          </a:xfrm>
          <a:custGeom>
            <a:avLst/>
            <a:gdLst/>
            <a:ahLst/>
            <a:cxnLst/>
            <a:rect r="r" b="b" t="t" l="l"/>
            <a:pathLst>
              <a:path h="2307159" w="925748">
                <a:moveTo>
                  <a:pt x="0" y="0"/>
                </a:moveTo>
                <a:lnTo>
                  <a:pt x="925748" y="0"/>
                </a:lnTo>
                <a:lnTo>
                  <a:pt x="925748" y="2307159"/>
                </a:lnTo>
                <a:lnTo>
                  <a:pt x="0" y="230715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6" id="6"/>
          <p:cNvSpPr txBox="true"/>
          <p:nvPr/>
        </p:nvSpPr>
        <p:spPr>
          <a:xfrm rot="0">
            <a:off x="3168509" y="1655941"/>
            <a:ext cx="12240407" cy="1508956"/>
          </a:xfrm>
          <a:prstGeom prst="rect">
            <a:avLst/>
          </a:prstGeom>
        </p:spPr>
        <p:txBody>
          <a:bodyPr anchor="t" rtlCol="false" tIns="0" lIns="0" bIns="0" rIns="0">
            <a:spAutoFit/>
          </a:bodyPr>
          <a:lstStyle/>
          <a:p>
            <a:pPr algn="ctr" marL="0" indent="0" lvl="0">
              <a:lnSpc>
                <a:spcPts val="12379"/>
              </a:lnSpc>
              <a:spcBef>
                <a:spcPct val="0"/>
              </a:spcBef>
            </a:pPr>
            <a:r>
              <a:rPr lang="en-US" sz="8842">
                <a:solidFill>
                  <a:srgbClr val="014225"/>
                </a:solidFill>
                <a:latin typeface="Nunito Sans"/>
                <a:ea typeface="Nunito Sans"/>
                <a:cs typeface="Nunito Sans"/>
                <a:sym typeface="Nunito Sans"/>
              </a:rPr>
              <a:t>Close - Giá đóng cửa</a:t>
            </a:r>
          </a:p>
        </p:txBody>
      </p:sp>
      <p:sp>
        <p:nvSpPr>
          <p:cNvPr name="TextBox 7" id="7"/>
          <p:cNvSpPr txBox="true"/>
          <p:nvPr/>
        </p:nvSpPr>
        <p:spPr>
          <a:xfrm rot="0">
            <a:off x="2585241" y="3094021"/>
            <a:ext cx="12240407" cy="1508956"/>
          </a:xfrm>
          <a:prstGeom prst="rect">
            <a:avLst/>
          </a:prstGeom>
        </p:spPr>
        <p:txBody>
          <a:bodyPr anchor="t" rtlCol="false" tIns="0" lIns="0" bIns="0" rIns="0">
            <a:spAutoFit/>
          </a:bodyPr>
          <a:lstStyle/>
          <a:p>
            <a:pPr algn="ctr" marL="0" indent="0" lvl="0">
              <a:lnSpc>
                <a:spcPts val="12379"/>
              </a:lnSpc>
              <a:spcBef>
                <a:spcPct val="0"/>
              </a:spcBef>
            </a:pPr>
            <a:r>
              <a:rPr lang="en-US" sz="8842">
                <a:solidFill>
                  <a:srgbClr val="014225"/>
                </a:solidFill>
                <a:latin typeface="Nunito Sans"/>
                <a:ea typeface="Nunito Sans"/>
                <a:cs typeface="Nunito Sans"/>
                <a:sym typeface="Nunito Sans"/>
              </a:rPr>
              <a:t>Open - Giá mở cửa</a:t>
            </a:r>
          </a:p>
        </p:txBody>
      </p:sp>
      <p:sp>
        <p:nvSpPr>
          <p:cNvPr name="TextBox 8" id="8"/>
          <p:cNvSpPr txBox="true"/>
          <p:nvPr/>
        </p:nvSpPr>
        <p:spPr>
          <a:xfrm rot="0">
            <a:off x="830355" y="4755377"/>
            <a:ext cx="16916716" cy="1508956"/>
          </a:xfrm>
          <a:prstGeom prst="rect">
            <a:avLst/>
          </a:prstGeom>
        </p:spPr>
        <p:txBody>
          <a:bodyPr anchor="t" rtlCol="false" tIns="0" lIns="0" bIns="0" rIns="0">
            <a:spAutoFit/>
          </a:bodyPr>
          <a:lstStyle/>
          <a:p>
            <a:pPr algn="ctr" marL="0" indent="0" lvl="0">
              <a:lnSpc>
                <a:spcPts val="12379"/>
              </a:lnSpc>
              <a:spcBef>
                <a:spcPct val="0"/>
              </a:spcBef>
            </a:pPr>
            <a:r>
              <a:rPr lang="en-US" sz="8842">
                <a:solidFill>
                  <a:srgbClr val="014225"/>
                </a:solidFill>
                <a:latin typeface="Nunito Sans"/>
                <a:ea typeface="Nunito Sans"/>
                <a:cs typeface="Nunito Sans"/>
                <a:sym typeface="Nunito Sans"/>
              </a:rPr>
              <a:t>Delay - Lấy loại dữ liệu quá khứ</a:t>
            </a:r>
          </a:p>
        </p:txBody>
      </p:sp>
      <p:sp>
        <p:nvSpPr>
          <p:cNvPr name="TextBox 9" id="9"/>
          <p:cNvSpPr txBox="true"/>
          <p:nvPr/>
        </p:nvSpPr>
        <p:spPr>
          <a:xfrm rot="0">
            <a:off x="5488860" y="6502458"/>
            <a:ext cx="7267170" cy="654865"/>
          </a:xfrm>
          <a:prstGeom prst="rect">
            <a:avLst/>
          </a:prstGeom>
        </p:spPr>
        <p:txBody>
          <a:bodyPr anchor="t" rtlCol="false" tIns="0" lIns="0" bIns="0" rIns="0">
            <a:spAutoFit/>
          </a:bodyPr>
          <a:lstStyle/>
          <a:p>
            <a:pPr algn="ctr" marL="0" indent="0" lvl="0">
              <a:lnSpc>
                <a:spcPts val="5317"/>
              </a:lnSpc>
              <a:spcBef>
                <a:spcPct val="0"/>
              </a:spcBef>
            </a:pPr>
            <a:r>
              <a:rPr lang="en-US" sz="3798">
                <a:solidFill>
                  <a:srgbClr val="014225"/>
                </a:solidFill>
                <a:latin typeface="Nunito Sans"/>
                <a:ea typeface="Nunito Sans"/>
                <a:cs typeface="Nunito Sans"/>
                <a:sym typeface="Nunito Sans"/>
              </a:rPr>
              <a:t>VD: CLOSE - DELAY(CLOSE,5)</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4F4DC"/>
        </a:solidFill>
      </p:bgPr>
    </p:bg>
    <p:spTree>
      <p:nvGrpSpPr>
        <p:cNvPr id="1" name=""/>
        <p:cNvGrpSpPr/>
        <p:nvPr/>
      </p:nvGrpSpPr>
      <p:grpSpPr>
        <a:xfrm>
          <a:off x="0" y="0"/>
          <a:ext cx="0" cy="0"/>
          <a:chOff x="0" y="0"/>
          <a:chExt cx="0" cy="0"/>
        </a:xfrm>
      </p:grpSpPr>
      <p:sp>
        <p:nvSpPr>
          <p:cNvPr name="Freeform 2" id="2"/>
          <p:cNvSpPr/>
          <p:nvPr/>
        </p:nvSpPr>
        <p:spPr>
          <a:xfrm flipH="false" flipV="false" rot="2477594">
            <a:off x="-3862384" y="1137099"/>
            <a:ext cx="19834656" cy="17578464"/>
          </a:xfrm>
          <a:custGeom>
            <a:avLst/>
            <a:gdLst/>
            <a:ahLst/>
            <a:cxnLst/>
            <a:rect r="r" b="b" t="t" l="l"/>
            <a:pathLst>
              <a:path h="17578464" w="19834656">
                <a:moveTo>
                  <a:pt x="0" y="0"/>
                </a:moveTo>
                <a:lnTo>
                  <a:pt x="19834656" y="0"/>
                </a:lnTo>
                <a:lnTo>
                  <a:pt x="19834656" y="17578464"/>
                </a:lnTo>
                <a:lnTo>
                  <a:pt x="0" y="175784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5128266" y="-1147796"/>
            <a:ext cx="4911697" cy="4352991"/>
          </a:xfrm>
          <a:custGeom>
            <a:avLst/>
            <a:gdLst/>
            <a:ahLst/>
            <a:cxnLst/>
            <a:rect r="r" b="b" t="t" l="l"/>
            <a:pathLst>
              <a:path h="4352991" w="4911697">
                <a:moveTo>
                  <a:pt x="0" y="0"/>
                </a:moveTo>
                <a:lnTo>
                  <a:pt x="4911697" y="0"/>
                </a:lnTo>
                <a:lnTo>
                  <a:pt x="4911697" y="4352992"/>
                </a:lnTo>
                <a:lnTo>
                  <a:pt x="0" y="43529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3273879" y="-2057400"/>
            <a:ext cx="5387627" cy="4114800"/>
          </a:xfrm>
          <a:custGeom>
            <a:avLst/>
            <a:gdLst/>
            <a:ahLst/>
            <a:cxnLst/>
            <a:rect r="r" b="b" t="t" l="l"/>
            <a:pathLst>
              <a:path h="4114800" w="5387627">
                <a:moveTo>
                  <a:pt x="0" y="0"/>
                </a:moveTo>
                <a:lnTo>
                  <a:pt x="5387627" y="0"/>
                </a:lnTo>
                <a:lnTo>
                  <a:pt x="538762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6003179" y="-663062"/>
            <a:ext cx="925748" cy="2307159"/>
          </a:xfrm>
          <a:custGeom>
            <a:avLst/>
            <a:gdLst/>
            <a:ahLst/>
            <a:cxnLst/>
            <a:rect r="r" b="b" t="t" l="l"/>
            <a:pathLst>
              <a:path h="2307159" w="925748">
                <a:moveTo>
                  <a:pt x="0" y="0"/>
                </a:moveTo>
                <a:lnTo>
                  <a:pt x="925748" y="0"/>
                </a:lnTo>
                <a:lnTo>
                  <a:pt x="925748" y="2307159"/>
                </a:lnTo>
                <a:lnTo>
                  <a:pt x="0" y="230715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6" id="6"/>
          <p:cNvSpPr txBox="true"/>
          <p:nvPr/>
        </p:nvSpPr>
        <p:spPr>
          <a:xfrm rot="0">
            <a:off x="792400" y="2943139"/>
            <a:ext cx="16809957" cy="1508956"/>
          </a:xfrm>
          <a:prstGeom prst="rect">
            <a:avLst/>
          </a:prstGeom>
        </p:spPr>
        <p:txBody>
          <a:bodyPr anchor="t" rtlCol="false" tIns="0" lIns="0" bIns="0" rIns="0">
            <a:spAutoFit/>
          </a:bodyPr>
          <a:lstStyle/>
          <a:p>
            <a:pPr algn="ctr" marL="0" indent="0" lvl="0">
              <a:lnSpc>
                <a:spcPts val="12379"/>
              </a:lnSpc>
              <a:spcBef>
                <a:spcPct val="0"/>
              </a:spcBef>
            </a:pPr>
            <a:r>
              <a:rPr lang="en-US" sz="8842">
                <a:solidFill>
                  <a:srgbClr val="014225"/>
                </a:solidFill>
                <a:latin typeface="Nunito Sans"/>
                <a:ea typeface="Nunito Sans"/>
                <a:cs typeface="Nunito Sans"/>
                <a:sym typeface="Nunito Sans"/>
              </a:rPr>
              <a:t>SMA - Trung bình giá đơn giản</a:t>
            </a:r>
          </a:p>
        </p:txBody>
      </p:sp>
      <p:sp>
        <p:nvSpPr>
          <p:cNvPr name="TextBox 7" id="7"/>
          <p:cNvSpPr txBox="true"/>
          <p:nvPr/>
        </p:nvSpPr>
        <p:spPr>
          <a:xfrm rot="0">
            <a:off x="685642" y="4755377"/>
            <a:ext cx="16916716" cy="2213708"/>
          </a:xfrm>
          <a:prstGeom prst="rect">
            <a:avLst/>
          </a:prstGeom>
        </p:spPr>
        <p:txBody>
          <a:bodyPr anchor="t" rtlCol="false" tIns="0" lIns="0" bIns="0" rIns="0">
            <a:spAutoFit/>
          </a:bodyPr>
          <a:lstStyle/>
          <a:p>
            <a:pPr algn="ctr">
              <a:lnSpc>
                <a:spcPts val="12379"/>
              </a:lnSpc>
            </a:pPr>
            <a:r>
              <a:rPr lang="en-US" sz="8842">
                <a:solidFill>
                  <a:srgbClr val="014225"/>
                </a:solidFill>
                <a:latin typeface="Nunito Sans"/>
                <a:ea typeface="Nunito Sans"/>
                <a:cs typeface="Nunito Sans"/>
                <a:sym typeface="Nunito Sans"/>
              </a:rPr>
              <a:t>EMA - Trung bình lũy thừa</a:t>
            </a:r>
          </a:p>
          <a:p>
            <a:pPr algn="ctr" marL="0" indent="0" lvl="0">
              <a:lnSpc>
                <a:spcPts val="5040"/>
              </a:lnSpc>
              <a:spcBef>
                <a:spcPct val="0"/>
              </a:spcBef>
            </a:pPr>
            <a:r>
              <a:rPr lang="en-US" sz="3600">
                <a:solidFill>
                  <a:srgbClr val="014225"/>
                </a:solidFill>
                <a:latin typeface="Nunito Sans"/>
                <a:ea typeface="Nunito Sans"/>
                <a:cs typeface="Nunito Sans"/>
                <a:sym typeface="Nunito Sans"/>
              </a:rPr>
              <a:t>(Thêm trọng số cho giá gần đây)</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4F4DC"/>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5128266" y="-1147796"/>
            <a:ext cx="4911697" cy="4352991"/>
          </a:xfrm>
          <a:custGeom>
            <a:avLst/>
            <a:gdLst/>
            <a:ahLst/>
            <a:cxnLst/>
            <a:rect r="r" b="b" t="t" l="l"/>
            <a:pathLst>
              <a:path h="4352991" w="4911697">
                <a:moveTo>
                  <a:pt x="0" y="0"/>
                </a:moveTo>
                <a:lnTo>
                  <a:pt x="4911697" y="0"/>
                </a:lnTo>
                <a:lnTo>
                  <a:pt x="4911697" y="4352992"/>
                </a:lnTo>
                <a:lnTo>
                  <a:pt x="0" y="43529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273879" y="-2057400"/>
            <a:ext cx="5387627" cy="4114800"/>
          </a:xfrm>
          <a:custGeom>
            <a:avLst/>
            <a:gdLst/>
            <a:ahLst/>
            <a:cxnLst/>
            <a:rect r="r" b="b" t="t" l="l"/>
            <a:pathLst>
              <a:path h="4114800" w="5387627">
                <a:moveTo>
                  <a:pt x="0" y="0"/>
                </a:moveTo>
                <a:lnTo>
                  <a:pt x="5387627" y="0"/>
                </a:lnTo>
                <a:lnTo>
                  <a:pt x="5387627"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6003179" y="-663062"/>
            <a:ext cx="925748" cy="2307159"/>
          </a:xfrm>
          <a:custGeom>
            <a:avLst/>
            <a:gdLst/>
            <a:ahLst/>
            <a:cxnLst/>
            <a:rect r="r" b="b" t="t" l="l"/>
            <a:pathLst>
              <a:path h="2307159" w="925748">
                <a:moveTo>
                  <a:pt x="0" y="0"/>
                </a:moveTo>
                <a:lnTo>
                  <a:pt x="925748" y="0"/>
                </a:lnTo>
                <a:lnTo>
                  <a:pt x="925748" y="2307159"/>
                </a:lnTo>
                <a:lnTo>
                  <a:pt x="0" y="230715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0" y="7513779"/>
            <a:ext cx="2575330" cy="2830034"/>
          </a:xfrm>
          <a:custGeom>
            <a:avLst/>
            <a:gdLst/>
            <a:ahLst/>
            <a:cxnLst/>
            <a:rect r="r" b="b" t="t" l="l"/>
            <a:pathLst>
              <a:path h="2830034" w="2575330">
                <a:moveTo>
                  <a:pt x="0" y="0"/>
                </a:moveTo>
                <a:lnTo>
                  <a:pt x="2575330" y="0"/>
                </a:lnTo>
                <a:lnTo>
                  <a:pt x="2575330" y="2830034"/>
                </a:lnTo>
                <a:lnTo>
                  <a:pt x="0" y="2830034"/>
                </a:lnTo>
                <a:lnTo>
                  <a:pt x="0" y="0"/>
                </a:lnTo>
                <a:close/>
              </a:path>
            </a:pathLst>
          </a:custGeom>
          <a:blipFill>
            <a:blip r:embed="rId8"/>
            <a:stretch>
              <a:fillRect l="0" t="0" r="0" b="0"/>
            </a:stretch>
          </a:blipFill>
        </p:spPr>
      </p:sp>
      <p:sp>
        <p:nvSpPr>
          <p:cNvPr name="Freeform 6" id="6"/>
          <p:cNvSpPr/>
          <p:nvPr/>
        </p:nvSpPr>
        <p:spPr>
          <a:xfrm flipH="false" flipV="false" rot="0">
            <a:off x="16444774" y="5091556"/>
            <a:ext cx="1629052" cy="1629052"/>
          </a:xfrm>
          <a:custGeom>
            <a:avLst/>
            <a:gdLst/>
            <a:ahLst/>
            <a:cxnLst/>
            <a:rect r="r" b="b" t="t" l="l"/>
            <a:pathLst>
              <a:path h="1629052" w="1629052">
                <a:moveTo>
                  <a:pt x="0" y="0"/>
                </a:moveTo>
                <a:lnTo>
                  <a:pt x="1629052" y="0"/>
                </a:lnTo>
                <a:lnTo>
                  <a:pt x="1629052" y="1629053"/>
                </a:lnTo>
                <a:lnTo>
                  <a:pt x="0" y="162905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7" id="7"/>
          <p:cNvSpPr/>
          <p:nvPr/>
        </p:nvSpPr>
        <p:spPr>
          <a:xfrm flipH="false" flipV="false" rot="0">
            <a:off x="8061559" y="3345753"/>
            <a:ext cx="8065374" cy="4234321"/>
          </a:xfrm>
          <a:custGeom>
            <a:avLst/>
            <a:gdLst/>
            <a:ahLst/>
            <a:cxnLst/>
            <a:rect r="r" b="b" t="t" l="l"/>
            <a:pathLst>
              <a:path h="4234321" w="8065374">
                <a:moveTo>
                  <a:pt x="0" y="0"/>
                </a:moveTo>
                <a:lnTo>
                  <a:pt x="8065374" y="0"/>
                </a:lnTo>
                <a:lnTo>
                  <a:pt x="8065374" y="4234321"/>
                </a:lnTo>
                <a:lnTo>
                  <a:pt x="0" y="4234321"/>
                </a:lnTo>
                <a:lnTo>
                  <a:pt x="0" y="0"/>
                </a:lnTo>
                <a:close/>
              </a:path>
            </a:pathLst>
          </a:custGeom>
          <a:blipFill>
            <a:blip r:embed="rId11"/>
            <a:stretch>
              <a:fillRect l="0" t="0" r="0" b="0"/>
            </a:stretch>
          </a:blipFill>
        </p:spPr>
      </p:sp>
      <p:sp>
        <p:nvSpPr>
          <p:cNvPr name="TextBox 8" id="8"/>
          <p:cNvSpPr txBox="true"/>
          <p:nvPr/>
        </p:nvSpPr>
        <p:spPr>
          <a:xfrm rot="0">
            <a:off x="4657134" y="1822864"/>
            <a:ext cx="7825305" cy="870248"/>
          </a:xfrm>
          <a:prstGeom prst="rect">
            <a:avLst/>
          </a:prstGeom>
        </p:spPr>
        <p:txBody>
          <a:bodyPr anchor="t" rtlCol="false" tIns="0" lIns="0" bIns="0" rIns="0">
            <a:spAutoFit/>
          </a:bodyPr>
          <a:lstStyle/>
          <a:p>
            <a:pPr algn="ctr" marL="0" indent="0" lvl="0">
              <a:lnSpc>
                <a:spcPts val="7158"/>
              </a:lnSpc>
              <a:spcBef>
                <a:spcPct val="0"/>
              </a:spcBef>
            </a:pPr>
            <a:r>
              <a:rPr lang="en-US" b="true" sz="5113">
                <a:solidFill>
                  <a:srgbClr val="014225"/>
                </a:solidFill>
                <a:latin typeface="Montserrat Bold"/>
                <a:ea typeface="Montserrat Bold"/>
                <a:cs typeface="Montserrat Bold"/>
                <a:sym typeface="Montserrat Bold"/>
              </a:rPr>
              <a:t>LLMs là gì?</a:t>
            </a:r>
          </a:p>
        </p:txBody>
      </p:sp>
      <p:sp>
        <p:nvSpPr>
          <p:cNvPr name="TextBox 9" id="9"/>
          <p:cNvSpPr txBox="true"/>
          <p:nvPr/>
        </p:nvSpPr>
        <p:spPr>
          <a:xfrm rot="0">
            <a:off x="1467546" y="4003040"/>
            <a:ext cx="5845008" cy="1661795"/>
          </a:xfrm>
          <a:prstGeom prst="rect">
            <a:avLst/>
          </a:prstGeom>
        </p:spPr>
        <p:txBody>
          <a:bodyPr anchor="t" rtlCol="false" tIns="0" lIns="0" bIns="0" rIns="0">
            <a:spAutoFit/>
          </a:bodyPr>
          <a:lstStyle/>
          <a:p>
            <a:pPr algn="just">
              <a:lnSpc>
                <a:spcPts val="4480"/>
              </a:lnSpc>
            </a:pPr>
            <a:r>
              <a:rPr lang="en-US" sz="3200">
                <a:solidFill>
                  <a:srgbClr val="000000"/>
                </a:solidFill>
                <a:latin typeface="Nunito Sans"/>
                <a:ea typeface="Nunito Sans"/>
                <a:cs typeface="Nunito Sans"/>
                <a:sym typeface="Nunito Sans"/>
              </a:rPr>
              <a:t>Large Language Models</a:t>
            </a:r>
          </a:p>
          <a:p>
            <a:pPr algn="just">
              <a:lnSpc>
                <a:spcPts val="4480"/>
              </a:lnSpc>
            </a:pPr>
            <a:r>
              <a:rPr lang="en-US" sz="3200">
                <a:solidFill>
                  <a:srgbClr val="000000"/>
                </a:solidFill>
                <a:latin typeface="Nunito Sans"/>
                <a:ea typeface="Nunito Sans"/>
                <a:cs typeface="Nunito Sans"/>
                <a:sym typeface="Nunito Sans"/>
              </a:rPr>
              <a:t>là các mô hình ngôn ngữ lớn, </a:t>
            </a:r>
          </a:p>
          <a:p>
            <a:pPr algn="just">
              <a:lnSpc>
                <a:spcPts val="4480"/>
              </a:lnSpc>
              <a:spcBef>
                <a:spcPct val="0"/>
              </a:spcBef>
            </a:pPr>
            <a:r>
              <a:rPr lang="en-US" sz="3200">
                <a:solidFill>
                  <a:srgbClr val="000000"/>
                </a:solidFill>
                <a:latin typeface="Nunito Sans"/>
                <a:ea typeface="Nunito Sans"/>
                <a:cs typeface="Nunito Sans"/>
                <a:sym typeface="Nunito Sans"/>
              </a:rPr>
              <a:t>một dạng trí tuệ nhân tạo (AI) </a:t>
            </a:r>
          </a:p>
        </p:txBody>
      </p:sp>
      <p:sp>
        <p:nvSpPr>
          <p:cNvPr name="TextBox 10" id="10"/>
          <p:cNvSpPr txBox="true"/>
          <p:nvPr/>
        </p:nvSpPr>
        <p:spPr>
          <a:xfrm rot="0">
            <a:off x="2234465" y="-128169"/>
            <a:ext cx="6335322" cy="1307170"/>
          </a:xfrm>
          <a:prstGeom prst="rect">
            <a:avLst/>
          </a:prstGeom>
        </p:spPr>
        <p:txBody>
          <a:bodyPr anchor="t" rtlCol="false" tIns="0" lIns="0" bIns="0" rIns="0">
            <a:spAutoFit/>
          </a:bodyPr>
          <a:lstStyle/>
          <a:p>
            <a:pPr algn="ctr">
              <a:lnSpc>
                <a:spcPts val="10612"/>
              </a:lnSpc>
              <a:spcBef>
                <a:spcPct val="0"/>
              </a:spcBef>
            </a:pPr>
            <a:r>
              <a:rPr lang="en-US" sz="7580">
                <a:solidFill>
                  <a:srgbClr val="014225"/>
                </a:solidFill>
                <a:latin typeface="Lazydog"/>
                <a:ea typeface="Lazydog"/>
                <a:cs typeface="Lazydog"/>
                <a:sym typeface="Lazydog"/>
              </a:rPr>
              <a:t>Terminology</a:t>
            </a:r>
          </a:p>
        </p:txBody>
      </p:sp>
      <p:sp>
        <p:nvSpPr>
          <p:cNvPr name="TextBox 11" id="11"/>
          <p:cNvSpPr txBox="true"/>
          <p:nvPr/>
        </p:nvSpPr>
        <p:spPr>
          <a:xfrm rot="0">
            <a:off x="1467546" y="6423111"/>
            <a:ext cx="16116569" cy="537845"/>
          </a:xfrm>
          <a:prstGeom prst="rect">
            <a:avLst/>
          </a:prstGeom>
        </p:spPr>
        <p:txBody>
          <a:bodyPr anchor="t" rtlCol="false" tIns="0" lIns="0" bIns="0" rIns="0">
            <a:spAutoFit/>
          </a:bodyPr>
          <a:lstStyle/>
          <a:p>
            <a:pPr algn="l">
              <a:lnSpc>
                <a:spcPts val="4480"/>
              </a:lnSpc>
              <a:spcBef>
                <a:spcPct val="0"/>
              </a:spcBef>
            </a:pPr>
            <a:r>
              <a:rPr lang="en-US" sz="3200">
                <a:solidFill>
                  <a:srgbClr val="000000"/>
                </a:solidFill>
                <a:latin typeface="Nunito Sans"/>
                <a:ea typeface="Nunito Sans"/>
                <a:cs typeface="Nunito Sans"/>
                <a:sym typeface="Nunito Sans"/>
              </a:rPr>
              <a:t>Ví dụ: ChatGPT, ClaudeAI, </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4F4DC"/>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5128266" y="-1147796"/>
            <a:ext cx="4911697" cy="4352991"/>
          </a:xfrm>
          <a:custGeom>
            <a:avLst/>
            <a:gdLst/>
            <a:ahLst/>
            <a:cxnLst/>
            <a:rect r="r" b="b" t="t" l="l"/>
            <a:pathLst>
              <a:path h="4352991" w="4911697">
                <a:moveTo>
                  <a:pt x="0" y="0"/>
                </a:moveTo>
                <a:lnTo>
                  <a:pt x="4911697" y="0"/>
                </a:lnTo>
                <a:lnTo>
                  <a:pt x="4911697" y="4352992"/>
                </a:lnTo>
                <a:lnTo>
                  <a:pt x="0" y="43529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273879" y="-2057400"/>
            <a:ext cx="5387627" cy="4114800"/>
          </a:xfrm>
          <a:custGeom>
            <a:avLst/>
            <a:gdLst/>
            <a:ahLst/>
            <a:cxnLst/>
            <a:rect r="r" b="b" t="t" l="l"/>
            <a:pathLst>
              <a:path h="4114800" w="5387627">
                <a:moveTo>
                  <a:pt x="0" y="0"/>
                </a:moveTo>
                <a:lnTo>
                  <a:pt x="5387627" y="0"/>
                </a:lnTo>
                <a:lnTo>
                  <a:pt x="5387627"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6003179" y="-663062"/>
            <a:ext cx="925748" cy="2307159"/>
          </a:xfrm>
          <a:custGeom>
            <a:avLst/>
            <a:gdLst/>
            <a:ahLst/>
            <a:cxnLst/>
            <a:rect r="r" b="b" t="t" l="l"/>
            <a:pathLst>
              <a:path h="2307159" w="925748">
                <a:moveTo>
                  <a:pt x="0" y="0"/>
                </a:moveTo>
                <a:lnTo>
                  <a:pt x="925748" y="0"/>
                </a:lnTo>
                <a:lnTo>
                  <a:pt x="925748" y="2307159"/>
                </a:lnTo>
                <a:lnTo>
                  <a:pt x="0" y="230715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0" y="7513779"/>
            <a:ext cx="2575330" cy="2830034"/>
          </a:xfrm>
          <a:custGeom>
            <a:avLst/>
            <a:gdLst/>
            <a:ahLst/>
            <a:cxnLst/>
            <a:rect r="r" b="b" t="t" l="l"/>
            <a:pathLst>
              <a:path h="2830034" w="2575330">
                <a:moveTo>
                  <a:pt x="0" y="0"/>
                </a:moveTo>
                <a:lnTo>
                  <a:pt x="2575330" y="0"/>
                </a:lnTo>
                <a:lnTo>
                  <a:pt x="2575330" y="2830034"/>
                </a:lnTo>
                <a:lnTo>
                  <a:pt x="0" y="2830034"/>
                </a:lnTo>
                <a:lnTo>
                  <a:pt x="0" y="0"/>
                </a:lnTo>
                <a:close/>
              </a:path>
            </a:pathLst>
          </a:custGeom>
          <a:blipFill>
            <a:blip r:embed="rId8"/>
            <a:stretch>
              <a:fillRect l="0" t="0" r="0" b="0"/>
            </a:stretch>
          </a:blipFill>
        </p:spPr>
      </p:sp>
      <p:sp>
        <p:nvSpPr>
          <p:cNvPr name="Freeform 6" id="6"/>
          <p:cNvSpPr/>
          <p:nvPr/>
        </p:nvSpPr>
        <p:spPr>
          <a:xfrm flipH="false" flipV="false" rot="0">
            <a:off x="16444774" y="5091556"/>
            <a:ext cx="1629052" cy="1629052"/>
          </a:xfrm>
          <a:custGeom>
            <a:avLst/>
            <a:gdLst/>
            <a:ahLst/>
            <a:cxnLst/>
            <a:rect r="r" b="b" t="t" l="l"/>
            <a:pathLst>
              <a:path h="1629052" w="1629052">
                <a:moveTo>
                  <a:pt x="0" y="0"/>
                </a:moveTo>
                <a:lnTo>
                  <a:pt x="1629052" y="0"/>
                </a:lnTo>
                <a:lnTo>
                  <a:pt x="1629052" y="1629053"/>
                </a:lnTo>
                <a:lnTo>
                  <a:pt x="0" y="162905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7" id="7"/>
          <p:cNvSpPr/>
          <p:nvPr/>
        </p:nvSpPr>
        <p:spPr>
          <a:xfrm flipH="false" flipV="false" rot="0">
            <a:off x="9022906" y="3075433"/>
            <a:ext cx="6663159" cy="5472119"/>
          </a:xfrm>
          <a:custGeom>
            <a:avLst/>
            <a:gdLst/>
            <a:ahLst/>
            <a:cxnLst/>
            <a:rect r="r" b="b" t="t" l="l"/>
            <a:pathLst>
              <a:path h="5472119" w="6663159">
                <a:moveTo>
                  <a:pt x="0" y="0"/>
                </a:moveTo>
                <a:lnTo>
                  <a:pt x="6663158" y="0"/>
                </a:lnTo>
                <a:lnTo>
                  <a:pt x="6663158" y="5472119"/>
                </a:lnTo>
                <a:lnTo>
                  <a:pt x="0" y="5472119"/>
                </a:lnTo>
                <a:lnTo>
                  <a:pt x="0" y="0"/>
                </a:lnTo>
                <a:close/>
              </a:path>
            </a:pathLst>
          </a:custGeom>
          <a:blipFill>
            <a:blip r:embed="rId11"/>
            <a:stretch>
              <a:fillRect l="0" t="0" r="0" b="0"/>
            </a:stretch>
          </a:blipFill>
        </p:spPr>
      </p:sp>
      <p:sp>
        <p:nvSpPr>
          <p:cNvPr name="TextBox 8" id="8"/>
          <p:cNvSpPr txBox="true"/>
          <p:nvPr/>
        </p:nvSpPr>
        <p:spPr>
          <a:xfrm rot="0">
            <a:off x="4657134" y="1822864"/>
            <a:ext cx="7825305" cy="853738"/>
          </a:xfrm>
          <a:prstGeom prst="rect">
            <a:avLst/>
          </a:prstGeom>
        </p:spPr>
        <p:txBody>
          <a:bodyPr anchor="t" rtlCol="false" tIns="0" lIns="0" bIns="0" rIns="0">
            <a:spAutoFit/>
          </a:bodyPr>
          <a:lstStyle/>
          <a:p>
            <a:pPr algn="ctr" marL="0" indent="0" lvl="0">
              <a:lnSpc>
                <a:spcPts val="7018"/>
              </a:lnSpc>
              <a:spcBef>
                <a:spcPct val="0"/>
              </a:spcBef>
            </a:pPr>
            <a:r>
              <a:rPr lang="en-US" b="true" sz="5013">
                <a:solidFill>
                  <a:srgbClr val="014225"/>
                </a:solidFill>
                <a:latin typeface="Montserrat Bold"/>
                <a:ea typeface="Montserrat Bold"/>
                <a:cs typeface="Montserrat Bold"/>
                <a:sym typeface="Montserrat Bold"/>
              </a:rPr>
              <a:t>multi-Agent là gì?</a:t>
            </a:r>
          </a:p>
        </p:txBody>
      </p:sp>
      <p:sp>
        <p:nvSpPr>
          <p:cNvPr name="TextBox 9" id="9"/>
          <p:cNvSpPr txBox="true"/>
          <p:nvPr/>
        </p:nvSpPr>
        <p:spPr>
          <a:xfrm rot="0">
            <a:off x="1467546" y="3279078"/>
            <a:ext cx="5845008" cy="3245485"/>
          </a:xfrm>
          <a:prstGeom prst="rect">
            <a:avLst/>
          </a:prstGeom>
        </p:spPr>
        <p:txBody>
          <a:bodyPr anchor="t" rtlCol="false" tIns="0" lIns="0" bIns="0" rIns="0">
            <a:spAutoFit/>
          </a:bodyPr>
          <a:lstStyle/>
          <a:p>
            <a:pPr algn="just">
              <a:lnSpc>
                <a:spcPts val="4340"/>
              </a:lnSpc>
            </a:pPr>
            <a:r>
              <a:rPr lang="en-US" sz="3100">
                <a:solidFill>
                  <a:srgbClr val="000000"/>
                </a:solidFill>
                <a:latin typeface="Nunito Sans"/>
                <a:ea typeface="Nunito Sans"/>
                <a:cs typeface="Nunito Sans"/>
                <a:sym typeface="Nunito Sans"/>
              </a:rPr>
              <a:t>Multi-Agent System </a:t>
            </a:r>
          </a:p>
          <a:p>
            <a:pPr algn="just" marL="669291" indent="-334646" lvl="1">
              <a:lnSpc>
                <a:spcPts val="4340"/>
              </a:lnSpc>
              <a:buFont typeface="Arial"/>
              <a:buChar char="•"/>
            </a:pPr>
            <a:r>
              <a:rPr lang="en-US" sz="3100">
                <a:solidFill>
                  <a:srgbClr val="000000"/>
                </a:solidFill>
                <a:latin typeface="Nunito Sans"/>
                <a:ea typeface="Nunito Sans"/>
                <a:cs typeface="Nunito Sans"/>
                <a:sym typeface="Nunito Sans"/>
              </a:rPr>
              <a:t>là hệ thống bao gồm nhiều tác nhân (agents) </a:t>
            </a:r>
          </a:p>
          <a:p>
            <a:pPr algn="just" marL="669291" indent="-334646" lvl="1">
              <a:lnSpc>
                <a:spcPts val="4340"/>
              </a:lnSpc>
              <a:spcBef>
                <a:spcPct val="0"/>
              </a:spcBef>
              <a:buFont typeface="Arial"/>
              <a:buChar char="•"/>
            </a:pPr>
            <a:r>
              <a:rPr lang="en-US" sz="3100">
                <a:solidFill>
                  <a:srgbClr val="000000"/>
                </a:solidFill>
                <a:latin typeface="Nunito Sans"/>
                <a:ea typeface="Nunito Sans"/>
                <a:cs typeface="Nunito Sans"/>
                <a:sym typeface="Nunito Sans"/>
              </a:rPr>
              <a:t>có thể tương tác, hợp tác hoặc cạnh tranh để thực hiện các nhiệm vụ phức tạp.</a:t>
            </a:r>
          </a:p>
        </p:txBody>
      </p:sp>
      <p:sp>
        <p:nvSpPr>
          <p:cNvPr name="TextBox 10" id="10"/>
          <p:cNvSpPr txBox="true"/>
          <p:nvPr/>
        </p:nvSpPr>
        <p:spPr>
          <a:xfrm rot="0">
            <a:off x="2234465" y="-128169"/>
            <a:ext cx="6335322" cy="1307170"/>
          </a:xfrm>
          <a:prstGeom prst="rect">
            <a:avLst/>
          </a:prstGeom>
        </p:spPr>
        <p:txBody>
          <a:bodyPr anchor="t" rtlCol="false" tIns="0" lIns="0" bIns="0" rIns="0">
            <a:spAutoFit/>
          </a:bodyPr>
          <a:lstStyle/>
          <a:p>
            <a:pPr algn="ctr">
              <a:lnSpc>
                <a:spcPts val="10612"/>
              </a:lnSpc>
              <a:spcBef>
                <a:spcPct val="0"/>
              </a:spcBef>
            </a:pPr>
            <a:r>
              <a:rPr lang="en-US" sz="7580">
                <a:solidFill>
                  <a:srgbClr val="014225"/>
                </a:solidFill>
                <a:latin typeface="Lazydog"/>
                <a:ea typeface="Lazydog"/>
                <a:cs typeface="Lazydog"/>
                <a:sym typeface="Lazydog"/>
              </a:rPr>
              <a:t>Terminology</a:t>
            </a:r>
          </a:p>
        </p:txBody>
      </p:sp>
      <p:sp>
        <p:nvSpPr>
          <p:cNvPr name="TextBox 11" id="11"/>
          <p:cNvSpPr txBox="true"/>
          <p:nvPr/>
        </p:nvSpPr>
        <p:spPr>
          <a:xfrm rot="0">
            <a:off x="3298992" y="8879709"/>
            <a:ext cx="13960308" cy="530860"/>
          </a:xfrm>
          <a:prstGeom prst="rect">
            <a:avLst/>
          </a:prstGeom>
        </p:spPr>
        <p:txBody>
          <a:bodyPr anchor="t" rtlCol="false" tIns="0" lIns="0" bIns="0" rIns="0">
            <a:spAutoFit/>
          </a:bodyPr>
          <a:lstStyle/>
          <a:p>
            <a:pPr algn="just">
              <a:lnSpc>
                <a:spcPts val="4340"/>
              </a:lnSpc>
              <a:spcBef>
                <a:spcPct val="0"/>
              </a:spcBef>
            </a:pPr>
            <a:r>
              <a:rPr lang="en-US" sz="3100">
                <a:solidFill>
                  <a:srgbClr val="000000"/>
                </a:solidFill>
                <a:latin typeface="Nunito Sans"/>
                <a:ea typeface="Nunito Sans"/>
                <a:cs typeface="Nunito Sans"/>
                <a:sym typeface="Nunito Sans"/>
              </a:rPr>
              <a:t>LLMs có thể làm "não" cho từng agent, giúp chúng suy luận, giao tiếp.</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5400000">
            <a:off x="-1640230" y="-1483426"/>
            <a:ext cx="7411105" cy="6568092"/>
          </a:xfrm>
          <a:custGeom>
            <a:avLst/>
            <a:gdLst/>
            <a:ahLst/>
            <a:cxnLst/>
            <a:rect r="r" b="b" t="t" l="l"/>
            <a:pathLst>
              <a:path h="6568092" w="7411105">
                <a:moveTo>
                  <a:pt x="0" y="6568092"/>
                </a:moveTo>
                <a:lnTo>
                  <a:pt x="7411106" y="6568092"/>
                </a:lnTo>
                <a:lnTo>
                  <a:pt x="7411106" y="0"/>
                </a:lnTo>
                <a:lnTo>
                  <a:pt x="0" y="0"/>
                </a:lnTo>
                <a:lnTo>
                  <a:pt x="0" y="656809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2819" y="7566363"/>
            <a:ext cx="2952917" cy="2931441"/>
          </a:xfrm>
          <a:custGeom>
            <a:avLst/>
            <a:gdLst/>
            <a:ahLst/>
            <a:cxnLst/>
            <a:rect r="r" b="b" t="t" l="l"/>
            <a:pathLst>
              <a:path h="2931441" w="2952917">
                <a:moveTo>
                  <a:pt x="0" y="0"/>
                </a:moveTo>
                <a:lnTo>
                  <a:pt x="2952917" y="0"/>
                </a:lnTo>
                <a:lnTo>
                  <a:pt x="2952917" y="2931441"/>
                </a:lnTo>
                <a:lnTo>
                  <a:pt x="0" y="293144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2065323" y="3029511"/>
            <a:ext cx="14768225" cy="4170828"/>
          </a:xfrm>
          <a:prstGeom prst="rect">
            <a:avLst/>
          </a:prstGeom>
        </p:spPr>
        <p:txBody>
          <a:bodyPr anchor="t" rtlCol="false" tIns="0" lIns="0" bIns="0" rIns="0">
            <a:spAutoFit/>
          </a:bodyPr>
          <a:lstStyle/>
          <a:p>
            <a:pPr algn="just" marL="0" indent="0" lvl="0">
              <a:lnSpc>
                <a:spcPts val="4786"/>
              </a:lnSpc>
              <a:spcBef>
                <a:spcPct val="0"/>
              </a:spcBef>
            </a:pPr>
            <a:r>
              <a:rPr lang="en-US" sz="3419">
                <a:solidFill>
                  <a:srgbClr val="795913"/>
                </a:solidFill>
                <a:latin typeface="Nunito Sans"/>
                <a:ea typeface="Nunito Sans"/>
                <a:cs typeface="Nunito Sans"/>
                <a:sym typeface="Nunito Sans"/>
              </a:rPr>
              <a:t>Dự án đề xuất một framework đầu tư định lượng hiện đại, kết hợp sức mạnh của LLM và multi-agent để khai thác các yếu tố alpha và tối ưu hóa chiến lược giao dịch. Hệ thống cho phép phân tích dữ liệu tài chính đa phương thức, đánh giá yếu tố alpha theo điều kiện thị trường thực tế và xây dựng chiến lược đầu tư linh hoạt, thích ứng. Kết quả cho thấy mô hình mang lại hiệu suất vượt trội và có tiềm năng ứng dụng rộng rãi trong đầu tư tài chính AI.</a:t>
            </a:r>
          </a:p>
        </p:txBody>
      </p:sp>
      <p:sp>
        <p:nvSpPr>
          <p:cNvPr name="Freeform 5" id="5"/>
          <p:cNvSpPr/>
          <p:nvPr/>
        </p:nvSpPr>
        <p:spPr>
          <a:xfrm flipH="false" flipV="false" rot="0">
            <a:off x="15131143" y="7566363"/>
            <a:ext cx="3156857" cy="2720637"/>
          </a:xfrm>
          <a:custGeom>
            <a:avLst/>
            <a:gdLst/>
            <a:ahLst/>
            <a:cxnLst/>
            <a:rect r="r" b="b" t="t" l="l"/>
            <a:pathLst>
              <a:path h="2720637" w="3156857">
                <a:moveTo>
                  <a:pt x="0" y="0"/>
                </a:moveTo>
                <a:lnTo>
                  <a:pt x="3156857" y="0"/>
                </a:lnTo>
                <a:lnTo>
                  <a:pt x="3156857" y="2720637"/>
                </a:lnTo>
                <a:lnTo>
                  <a:pt x="0" y="272063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4089894" y="1315382"/>
            <a:ext cx="10108212" cy="1611078"/>
          </a:xfrm>
          <a:prstGeom prst="rect">
            <a:avLst/>
          </a:prstGeom>
        </p:spPr>
        <p:txBody>
          <a:bodyPr anchor="t" rtlCol="false" tIns="0" lIns="0" bIns="0" rIns="0">
            <a:spAutoFit/>
          </a:bodyPr>
          <a:lstStyle/>
          <a:p>
            <a:pPr algn="l" marL="0" indent="0" lvl="0">
              <a:lnSpc>
                <a:spcPts val="13050"/>
              </a:lnSpc>
              <a:spcBef>
                <a:spcPct val="0"/>
              </a:spcBef>
            </a:pPr>
            <a:r>
              <a:rPr lang="en-US" sz="9321">
                <a:solidFill>
                  <a:srgbClr val="014225"/>
                </a:solidFill>
                <a:latin typeface="Lazydog"/>
                <a:ea typeface="Lazydog"/>
                <a:cs typeface="Lazydog"/>
                <a:sym typeface="Lazydog"/>
              </a:rPr>
              <a:t>I. Abstract</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5400000">
            <a:off x="-1567567" y="-1556089"/>
            <a:ext cx="6133511" cy="5435824"/>
          </a:xfrm>
          <a:custGeom>
            <a:avLst/>
            <a:gdLst/>
            <a:ahLst/>
            <a:cxnLst/>
            <a:rect r="r" b="b" t="t" l="l"/>
            <a:pathLst>
              <a:path h="5435824" w="6133511">
                <a:moveTo>
                  <a:pt x="0" y="5435824"/>
                </a:moveTo>
                <a:lnTo>
                  <a:pt x="6133511" y="5435824"/>
                </a:lnTo>
                <a:lnTo>
                  <a:pt x="6133511" y="0"/>
                </a:lnTo>
                <a:lnTo>
                  <a:pt x="0" y="0"/>
                </a:lnTo>
                <a:lnTo>
                  <a:pt x="0" y="543582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5400000">
            <a:off x="14775755" y="7613185"/>
            <a:ext cx="4929451" cy="4368726"/>
          </a:xfrm>
          <a:custGeom>
            <a:avLst/>
            <a:gdLst/>
            <a:ahLst/>
            <a:cxnLst/>
            <a:rect r="r" b="b" t="t" l="l"/>
            <a:pathLst>
              <a:path h="4368726" w="4929451">
                <a:moveTo>
                  <a:pt x="0" y="4368727"/>
                </a:moveTo>
                <a:lnTo>
                  <a:pt x="4929452" y="4368727"/>
                </a:lnTo>
                <a:lnTo>
                  <a:pt x="4929452" y="0"/>
                </a:lnTo>
                <a:lnTo>
                  <a:pt x="0" y="0"/>
                </a:lnTo>
                <a:lnTo>
                  <a:pt x="0" y="4368727"/>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028700" y="555135"/>
            <a:ext cx="15873265" cy="1651635"/>
          </a:xfrm>
          <a:prstGeom prst="rect">
            <a:avLst/>
          </a:prstGeom>
        </p:spPr>
        <p:txBody>
          <a:bodyPr anchor="t" rtlCol="false" tIns="0" lIns="0" bIns="0" rIns="0">
            <a:spAutoFit/>
          </a:bodyPr>
          <a:lstStyle/>
          <a:p>
            <a:pPr algn="ctr" marL="0" indent="0" lvl="0">
              <a:lnSpc>
                <a:spcPts val="13439"/>
              </a:lnSpc>
              <a:spcBef>
                <a:spcPct val="0"/>
              </a:spcBef>
            </a:pPr>
            <a:r>
              <a:rPr lang="en-US" sz="9600">
                <a:solidFill>
                  <a:srgbClr val="014225"/>
                </a:solidFill>
                <a:latin typeface="Lazydog"/>
                <a:ea typeface="Lazydog"/>
                <a:cs typeface="Lazydog"/>
                <a:sym typeface="Lazydog"/>
              </a:rPr>
              <a:t>2. Introduction</a:t>
            </a:r>
          </a:p>
        </p:txBody>
      </p:sp>
      <p:sp>
        <p:nvSpPr>
          <p:cNvPr name="TextBox 5" id="5"/>
          <p:cNvSpPr txBox="true"/>
          <p:nvPr/>
        </p:nvSpPr>
        <p:spPr>
          <a:xfrm rot="0">
            <a:off x="1499189" y="2636574"/>
            <a:ext cx="12458140" cy="2453788"/>
          </a:xfrm>
          <a:prstGeom prst="rect">
            <a:avLst/>
          </a:prstGeom>
        </p:spPr>
        <p:txBody>
          <a:bodyPr anchor="t" rtlCol="false" tIns="0" lIns="0" bIns="0" rIns="0">
            <a:spAutoFit/>
          </a:bodyPr>
          <a:lstStyle/>
          <a:p>
            <a:pPr algn="ctr">
              <a:lnSpc>
                <a:spcPts val="4926"/>
              </a:lnSpc>
              <a:spcBef>
                <a:spcPct val="0"/>
              </a:spcBef>
            </a:pPr>
            <a:r>
              <a:rPr lang="en-US" sz="3519">
                <a:solidFill>
                  <a:srgbClr val="014225"/>
                </a:solidFill>
                <a:latin typeface="Montserrat"/>
                <a:ea typeface="Montserrat"/>
                <a:cs typeface="Montserrat"/>
                <a:sym typeface="Montserrat"/>
              </a:rPr>
              <a:t>Thị trường dữ liệu thay thế (Alternative Data):</a:t>
            </a:r>
          </a:p>
          <a:p>
            <a:pPr algn="l" marL="759789" indent="-379895" lvl="1">
              <a:lnSpc>
                <a:spcPts val="4926"/>
              </a:lnSpc>
              <a:buFont typeface="Arial"/>
              <a:buChar char="•"/>
            </a:pPr>
            <a:r>
              <a:rPr lang="en-US" sz="3519">
                <a:solidFill>
                  <a:srgbClr val="014225"/>
                </a:solidFill>
                <a:latin typeface="Montserrat"/>
                <a:ea typeface="Montserrat"/>
                <a:cs typeface="Montserrat"/>
                <a:sym typeface="Montserrat"/>
              </a:rPr>
              <a:t>Năm 2023: Đạt 7.2 tỷ USD</a:t>
            </a:r>
          </a:p>
          <a:p>
            <a:pPr algn="l" marL="759789" indent="-379895" lvl="1">
              <a:lnSpc>
                <a:spcPts val="4926"/>
              </a:lnSpc>
              <a:buFont typeface="Arial"/>
              <a:buChar char="•"/>
            </a:pPr>
            <a:r>
              <a:rPr lang="en-US" sz="3519">
                <a:solidFill>
                  <a:srgbClr val="014225"/>
                </a:solidFill>
                <a:latin typeface="Montserrat"/>
                <a:ea typeface="Montserrat"/>
                <a:cs typeface="Montserrat"/>
                <a:sym typeface="Montserrat"/>
              </a:rPr>
              <a:t>Tốc độ tăng trưởng kép hàng năm từ 2023–2030: 52.1%</a:t>
            </a:r>
          </a:p>
        </p:txBody>
      </p:sp>
      <p:sp>
        <p:nvSpPr>
          <p:cNvPr name="TextBox 6" id="6"/>
          <p:cNvSpPr txBox="true"/>
          <p:nvPr/>
        </p:nvSpPr>
        <p:spPr>
          <a:xfrm rot="0">
            <a:off x="734473" y="6185387"/>
            <a:ext cx="5464135" cy="3072913"/>
          </a:xfrm>
          <a:prstGeom prst="rect">
            <a:avLst/>
          </a:prstGeom>
        </p:spPr>
        <p:txBody>
          <a:bodyPr anchor="t" rtlCol="false" tIns="0" lIns="0" bIns="0" rIns="0">
            <a:spAutoFit/>
          </a:bodyPr>
          <a:lstStyle/>
          <a:p>
            <a:pPr algn="ctr">
              <a:lnSpc>
                <a:spcPts val="4926"/>
              </a:lnSpc>
              <a:spcBef>
                <a:spcPct val="0"/>
              </a:spcBef>
            </a:pPr>
            <a:r>
              <a:rPr lang="en-US" sz="3519">
                <a:solidFill>
                  <a:srgbClr val="014225"/>
                </a:solidFill>
                <a:latin typeface="Montserrat"/>
                <a:ea typeface="Montserrat"/>
                <a:cs typeface="Montserrat"/>
                <a:sym typeface="Montserrat"/>
              </a:rPr>
              <a:t>Đầu tư </a:t>
            </a:r>
            <a:r>
              <a:rPr lang="en-US" sz="3519">
                <a:solidFill>
                  <a:srgbClr val="014225"/>
                </a:solidFill>
                <a:latin typeface="Montserrat"/>
                <a:ea typeface="Montserrat"/>
                <a:cs typeface="Montserrat"/>
                <a:sym typeface="Montserrat"/>
              </a:rPr>
              <a:t>định lượng đã tăng cường đáng kể khả năng phân tích và xử lý khối lượng lớn dữ liệu tài chính</a:t>
            </a:r>
          </a:p>
        </p:txBody>
      </p:sp>
      <p:sp>
        <p:nvSpPr>
          <p:cNvPr name="TextBox 7" id="7"/>
          <p:cNvSpPr txBox="true"/>
          <p:nvPr/>
        </p:nvSpPr>
        <p:spPr>
          <a:xfrm rot="0">
            <a:off x="7671139" y="6402981"/>
            <a:ext cx="12572379" cy="3072913"/>
          </a:xfrm>
          <a:prstGeom prst="rect">
            <a:avLst/>
          </a:prstGeom>
        </p:spPr>
        <p:txBody>
          <a:bodyPr anchor="t" rtlCol="false" tIns="0" lIns="0" bIns="0" rIns="0">
            <a:spAutoFit/>
          </a:bodyPr>
          <a:lstStyle/>
          <a:p>
            <a:pPr algn="l">
              <a:lnSpc>
                <a:spcPts val="4926"/>
              </a:lnSpc>
              <a:spcBef>
                <a:spcPct val="0"/>
              </a:spcBef>
            </a:pPr>
            <a:r>
              <a:rPr lang="en-US" sz="3519">
                <a:solidFill>
                  <a:srgbClr val="014225"/>
                </a:solidFill>
                <a:latin typeface="Montserrat"/>
                <a:ea typeface="Montserrat"/>
                <a:cs typeface="Montserrat"/>
                <a:sym typeface="Montserrat"/>
              </a:rPr>
              <a:t>Thử thách:</a:t>
            </a:r>
          </a:p>
          <a:p>
            <a:pPr algn="l" marL="759789" indent="-379895" lvl="1">
              <a:lnSpc>
                <a:spcPts val="4926"/>
              </a:lnSpc>
              <a:spcBef>
                <a:spcPct val="0"/>
              </a:spcBef>
              <a:buFont typeface="Arial"/>
              <a:buChar char="•"/>
            </a:pPr>
            <a:r>
              <a:rPr lang="en-US" sz="3519">
                <a:solidFill>
                  <a:srgbClr val="014225"/>
                </a:solidFill>
                <a:latin typeface="Montserrat"/>
                <a:ea typeface="Montserrat"/>
                <a:cs typeface="Montserrat"/>
                <a:sym typeface="Montserrat"/>
              </a:rPr>
              <a:t>Phương pháp truyền thống thiếu linh hoạt</a:t>
            </a:r>
          </a:p>
          <a:p>
            <a:pPr algn="l" marL="759789" indent="-379895" lvl="1">
              <a:lnSpc>
                <a:spcPts val="4926"/>
              </a:lnSpc>
              <a:spcBef>
                <a:spcPct val="0"/>
              </a:spcBef>
              <a:buFont typeface="Arial"/>
              <a:buChar char="•"/>
            </a:pPr>
            <a:r>
              <a:rPr lang="en-US" sz="3519">
                <a:solidFill>
                  <a:srgbClr val="014225"/>
                </a:solidFill>
                <a:latin typeface="Montserrat"/>
                <a:ea typeface="Montserrat"/>
                <a:cs typeface="Montserrat"/>
                <a:sym typeface="Montserrat"/>
              </a:rPr>
              <a:t>Dữ liệu đa dạng, khó tích hợp</a:t>
            </a:r>
          </a:p>
          <a:p>
            <a:pPr algn="l" marL="759789" indent="-379895" lvl="1">
              <a:lnSpc>
                <a:spcPts val="4926"/>
              </a:lnSpc>
              <a:spcBef>
                <a:spcPct val="0"/>
              </a:spcBef>
              <a:buFont typeface="Arial"/>
              <a:buChar char="•"/>
            </a:pPr>
            <a:r>
              <a:rPr lang="en-US" sz="3519">
                <a:solidFill>
                  <a:srgbClr val="014225"/>
                </a:solidFill>
                <a:latin typeface="Montserrat"/>
                <a:ea typeface="Montserrat"/>
                <a:cs typeface="Montserrat"/>
                <a:sym typeface="Montserrat"/>
              </a:rPr>
              <a:t>Thị trường thay đổi liên tục</a:t>
            </a:r>
          </a:p>
          <a:p>
            <a:pPr algn="ctr">
              <a:lnSpc>
                <a:spcPts val="4926"/>
              </a:lnSpc>
              <a:spcBef>
                <a:spcPct val="0"/>
              </a:spcBef>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787279" y="3376907"/>
            <a:ext cx="13629808" cy="5662431"/>
          </a:xfrm>
          <a:prstGeom prst="rect">
            <a:avLst/>
          </a:prstGeom>
        </p:spPr>
        <p:txBody>
          <a:bodyPr anchor="t" rtlCol="false" tIns="0" lIns="0" bIns="0" rIns="0">
            <a:spAutoFit/>
          </a:bodyPr>
          <a:lstStyle/>
          <a:p>
            <a:pPr algn="ctr">
              <a:lnSpc>
                <a:spcPts val="9026"/>
              </a:lnSpc>
            </a:pPr>
            <a:r>
              <a:rPr lang="en-US" sz="6447">
                <a:solidFill>
                  <a:srgbClr val="014225"/>
                </a:solidFill>
                <a:latin typeface="Montserrat"/>
                <a:ea typeface="Montserrat"/>
                <a:cs typeface="Montserrat"/>
                <a:sym typeface="Montserrat"/>
              </a:rPr>
              <a:t>Giải pháp:</a:t>
            </a:r>
          </a:p>
          <a:p>
            <a:pPr algn="ctr">
              <a:lnSpc>
                <a:spcPts val="9026"/>
              </a:lnSpc>
            </a:pPr>
            <a:r>
              <a:rPr lang="en-US" sz="6447">
                <a:solidFill>
                  <a:srgbClr val="014225"/>
                </a:solidFill>
                <a:latin typeface="Montserrat"/>
                <a:ea typeface="Montserrat"/>
                <a:cs typeface="Montserrat"/>
                <a:sym typeface="Montserrat"/>
              </a:rPr>
              <a:t>Sử dụng LLMS</a:t>
            </a:r>
          </a:p>
          <a:p>
            <a:pPr algn="l" marL="1391963" indent="-695981" lvl="1">
              <a:lnSpc>
                <a:spcPts val="9026"/>
              </a:lnSpc>
              <a:buFont typeface="Arial"/>
              <a:buChar char="•"/>
            </a:pPr>
            <a:r>
              <a:rPr lang="en-US" sz="6447">
                <a:solidFill>
                  <a:srgbClr val="014225"/>
                </a:solidFill>
                <a:latin typeface="Montserrat"/>
                <a:ea typeface="Montserrat"/>
                <a:cs typeface="Montserrat"/>
                <a:sym typeface="Montserrat"/>
              </a:rPr>
              <a:t>Khai thác Alpha linh hoạt</a:t>
            </a:r>
          </a:p>
          <a:p>
            <a:pPr algn="l" marL="1391963" indent="-695981" lvl="1">
              <a:lnSpc>
                <a:spcPts val="9026"/>
              </a:lnSpc>
              <a:buFont typeface="Arial"/>
              <a:buChar char="•"/>
            </a:pPr>
            <a:r>
              <a:rPr lang="en-US" sz="6447">
                <a:solidFill>
                  <a:srgbClr val="014225"/>
                </a:solidFill>
                <a:latin typeface="Montserrat"/>
                <a:ea typeface="Montserrat"/>
                <a:cs typeface="Montserrat"/>
                <a:sym typeface="Montserrat"/>
              </a:rPr>
              <a:t>Multi-Agent multimodal</a:t>
            </a:r>
          </a:p>
          <a:p>
            <a:pPr algn="l" marL="1391963" indent="-695981" lvl="1">
              <a:lnSpc>
                <a:spcPts val="9026"/>
              </a:lnSpc>
              <a:buFont typeface="Arial"/>
              <a:buChar char="•"/>
            </a:pPr>
            <a:r>
              <a:rPr lang="en-US" sz="6447">
                <a:solidFill>
                  <a:srgbClr val="014225"/>
                </a:solidFill>
                <a:latin typeface="Montserrat"/>
                <a:ea typeface="Montserrat"/>
                <a:cs typeface="Montserrat"/>
                <a:sym typeface="Montserrat"/>
              </a:rPr>
              <a:t>Tối ưu chiến lược linh hoạt</a:t>
            </a:r>
          </a:p>
        </p:txBody>
      </p:sp>
      <p:sp>
        <p:nvSpPr>
          <p:cNvPr name="Freeform 3" id="3"/>
          <p:cNvSpPr/>
          <p:nvPr/>
        </p:nvSpPr>
        <p:spPr>
          <a:xfrm flipH="false" flipV="false" rot="0">
            <a:off x="15131143" y="7566363"/>
            <a:ext cx="3156857" cy="2720637"/>
          </a:xfrm>
          <a:custGeom>
            <a:avLst/>
            <a:gdLst/>
            <a:ahLst/>
            <a:cxnLst/>
            <a:rect r="r" b="b" t="t" l="l"/>
            <a:pathLst>
              <a:path h="2720637" w="3156857">
                <a:moveTo>
                  <a:pt x="0" y="0"/>
                </a:moveTo>
                <a:lnTo>
                  <a:pt x="3156857" y="0"/>
                </a:lnTo>
                <a:lnTo>
                  <a:pt x="3156857" y="2720637"/>
                </a:lnTo>
                <a:lnTo>
                  <a:pt x="0" y="272063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0" y="1476202"/>
            <a:ext cx="3574558" cy="2641825"/>
          </a:xfrm>
          <a:custGeom>
            <a:avLst/>
            <a:gdLst/>
            <a:ahLst/>
            <a:cxnLst/>
            <a:rect r="r" b="b" t="t" l="l"/>
            <a:pathLst>
              <a:path h="2641825" w="3574558">
                <a:moveTo>
                  <a:pt x="0" y="0"/>
                </a:moveTo>
                <a:lnTo>
                  <a:pt x="3574558" y="0"/>
                </a:lnTo>
                <a:lnTo>
                  <a:pt x="3574558" y="2641826"/>
                </a:lnTo>
                <a:lnTo>
                  <a:pt x="0" y="264182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1028700" y="555135"/>
            <a:ext cx="15873265" cy="1651635"/>
          </a:xfrm>
          <a:prstGeom prst="rect">
            <a:avLst/>
          </a:prstGeom>
        </p:spPr>
        <p:txBody>
          <a:bodyPr anchor="t" rtlCol="false" tIns="0" lIns="0" bIns="0" rIns="0">
            <a:spAutoFit/>
          </a:bodyPr>
          <a:lstStyle/>
          <a:p>
            <a:pPr algn="ctr" marL="0" indent="0" lvl="0">
              <a:lnSpc>
                <a:spcPts val="13439"/>
              </a:lnSpc>
              <a:spcBef>
                <a:spcPct val="0"/>
              </a:spcBef>
            </a:pPr>
            <a:r>
              <a:rPr lang="en-US" sz="9600">
                <a:solidFill>
                  <a:srgbClr val="014225"/>
                </a:solidFill>
                <a:latin typeface="Lazydog"/>
                <a:ea typeface="Lazydog"/>
                <a:cs typeface="Lazydog"/>
                <a:sym typeface="Lazydog"/>
              </a:rPr>
              <a:t>2. Introduction</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76519" y="2559525"/>
            <a:ext cx="7521746" cy="5718810"/>
          </a:xfrm>
          <a:prstGeom prst="rect">
            <a:avLst/>
          </a:prstGeom>
        </p:spPr>
        <p:txBody>
          <a:bodyPr anchor="t" rtlCol="false" tIns="0" lIns="0" bIns="0" rIns="0">
            <a:spAutoFit/>
          </a:bodyPr>
          <a:lstStyle/>
          <a:p>
            <a:pPr algn="ctr">
              <a:lnSpc>
                <a:spcPts val="5040"/>
              </a:lnSpc>
            </a:pPr>
            <a:r>
              <a:rPr lang="en-US" sz="3600">
                <a:solidFill>
                  <a:srgbClr val="014225"/>
                </a:solidFill>
                <a:latin typeface="Montserrat"/>
                <a:ea typeface="Montserrat"/>
                <a:cs typeface="Montserrat"/>
                <a:sym typeface="Montserrat"/>
              </a:rPr>
              <a:t>Mô hình đầu tư</a:t>
            </a:r>
          </a:p>
          <a:p>
            <a:pPr algn="l" marL="777240" indent="-388620" lvl="1">
              <a:lnSpc>
                <a:spcPts val="5040"/>
              </a:lnSpc>
              <a:buAutoNum type="arabicPeriod" startAt="1"/>
            </a:pPr>
            <a:r>
              <a:rPr lang="en-US" sz="3600">
                <a:solidFill>
                  <a:srgbClr val="014225"/>
                </a:solidFill>
                <a:latin typeface="Montserrat"/>
                <a:ea typeface="Montserrat"/>
                <a:cs typeface="Montserrat"/>
                <a:sym typeface="Montserrat"/>
              </a:rPr>
              <a:t>Nghiên cứu – tìm kiếm tín hiệu</a:t>
            </a:r>
          </a:p>
          <a:p>
            <a:pPr algn="l" marL="777240" indent="-388620" lvl="1">
              <a:lnSpc>
                <a:spcPts val="5040"/>
              </a:lnSpc>
              <a:buAutoNum type="arabicPeriod" startAt="1"/>
            </a:pPr>
            <a:r>
              <a:rPr lang="en-US" sz="3600">
                <a:solidFill>
                  <a:srgbClr val="014225"/>
                </a:solidFill>
                <a:latin typeface="Montserrat"/>
                <a:ea typeface="Montserrat"/>
                <a:cs typeface="Montserrat"/>
                <a:sym typeface="Montserrat"/>
              </a:rPr>
              <a:t>Giao dịch – chọn alpha theo thị trường</a:t>
            </a:r>
          </a:p>
          <a:p>
            <a:pPr algn="l" marL="777240" indent="-388620" lvl="1">
              <a:lnSpc>
                <a:spcPts val="5040"/>
              </a:lnSpc>
              <a:buAutoNum type="arabicPeriod" startAt="1"/>
            </a:pPr>
            <a:r>
              <a:rPr lang="en-US" sz="3600">
                <a:solidFill>
                  <a:srgbClr val="014225"/>
                </a:solidFill>
                <a:latin typeface="Montserrat"/>
                <a:ea typeface="Montserrat"/>
                <a:cs typeface="Montserrat"/>
                <a:sym typeface="Montserrat"/>
              </a:rPr>
              <a:t>Quản trị rủi ro – đánh giá theo khẩu vị rủi ro</a:t>
            </a:r>
          </a:p>
          <a:p>
            <a:pPr algn="l" marL="777240" indent="-388620" lvl="1">
              <a:lnSpc>
                <a:spcPts val="5040"/>
              </a:lnSpc>
              <a:buAutoNum type="arabicPeriod" startAt="1"/>
            </a:pPr>
            <a:r>
              <a:rPr lang="en-US" sz="3600">
                <a:solidFill>
                  <a:srgbClr val="014225"/>
                </a:solidFill>
                <a:latin typeface="Montserrat"/>
                <a:ea typeface="Montserrat"/>
                <a:cs typeface="Montserrat"/>
                <a:sym typeface="Montserrat"/>
              </a:rPr>
              <a:t>Quản lý danh mục – tổng hợp chiến lược đầu tư</a:t>
            </a:r>
          </a:p>
        </p:txBody>
      </p:sp>
      <p:sp>
        <p:nvSpPr>
          <p:cNvPr name="Freeform 3" id="3"/>
          <p:cNvSpPr/>
          <p:nvPr/>
        </p:nvSpPr>
        <p:spPr>
          <a:xfrm flipH="false" flipV="false" rot="0">
            <a:off x="8435667" y="2626200"/>
            <a:ext cx="8823633" cy="5446898"/>
          </a:xfrm>
          <a:custGeom>
            <a:avLst/>
            <a:gdLst/>
            <a:ahLst/>
            <a:cxnLst/>
            <a:rect r="r" b="b" t="t" l="l"/>
            <a:pathLst>
              <a:path h="5446898" w="8823633">
                <a:moveTo>
                  <a:pt x="0" y="0"/>
                </a:moveTo>
                <a:lnTo>
                  <a:pt x="8823633" y="0"/>
                </a:lnTo>
                <a:lnTo>
                  <a:pt x="8823633" y="5446898"/>
                </a:lnTo>
                <a:lnTo>
                  <a:pt x="0" y="5446898"/>
                </a:lnTo>
                <a:lnTo>
                  <a:pt x="0" y="0"/>
                </a:lnTo>
                <a:close/>
              </a:path>
            </a:pathLst>
          </a:custGeom>
          <a:blipFill>
            <a:blip r:embed="rId2"/>
            <a:stretch>
              <a:fillRect l="-2731" t="0" r="-2731" b="0"/>
            </a:stretch>
          </a:blipFill>
        </p:spPr>
      </p:sp>
      <p:sp>
        <p:nvSpPr>
          <p:cNvPr name="TextBox 4" id="4"/>
          <p:cNvSpPr txBox="true"/>
          <p:nvPr/>
        </p:nvSpPr>
        <p:spPr>
          <a:xfrm rot="0">
            <a:off x="1028700" y="555135"/>
            <a:ext cx="15873265" cy="1651635"/>
          </a:xfrm>
          <a:prstGeom prst="rect">
            <a:avLst/>
          </a:prstGeom>
        </p:spPr>
        <p:txBody>
          <a:bodyPr anchor="t" rtlCol="false" tIns="0" lIns="0" bIns="0" rIns="0">
            <a:spAutoFit/>
          </a:bodyPr>
          <a:lstStyle/>
          <a:p>
            <a:pPr algn="ctr" marL="0" indent="0" lvl="0">
              <a:lnSpc>
                <a:spcPts val="13439"/>
              </a:lnSpc>
              <a:spcBef>
                <a:spcPct val="0"/>
              </a:spcBef>
            </a:pPr>
            <a:r>
              <a:rPr lang="en-US" sz="9600">
                <a:solidFill>
                  <a:srgbClr val="014225"/>
                </a:solidFill>
                <a:latin typeface="Lazydog"/>
                <a:ea typeface="Lazydog"/>
                <a:cs typeface="Lazydog"/>
                <a:sym typeface="Lazydog"/>
              </a:rPr>
              <a:t>2. Introduction</a:t>
            </a:r>
          </a:p>
        </p:txBody>
      </p:sp>
    </p:spTree>
  </p:cSld>
  <p:clrMapOvr>
    <a:masterClrMapping/>
  </p:clrMapOvr>
</p:sld>
</file>

<file path=ppt/slides/slide1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170143" y="2462032"/>
            <a:ext cx="15947713" cy="6745605"/>
          </a:xfrm>
          <a:prstGeom prst="rect">
            <a:avLst/>
          </a:prstGeom>
        </p:spPr>
        <p:txBody>
          <a:bodyPr anchor="t" rtlCol="false" tIns="0" lIns="0" bIns="0" rIns="0">
            <a:spAutoFit/>
          </a:bodyPr>
          <a:lstStyle/>
          <a:p>
            <a:pPr algn="ctr">
              <a:lnSpc>
                <a:spcPts val="6719"/>
              </a:lnSpc>
            </a:pPr>
            <a:r>
              <a:rPr lang="en-US" sz="4800">
                <a:solidFill>
                  <a:srgbClr val="014225"/>
                </a:solidFill>
                <a:latin typeface="Montserrat"/>
                <a:ea typeface="Montserrat"/>
                <a:cs typeface="Montserrat"/>
                <a:sym typeface="Montserrat"/>
              </a:rPr>
              <a:t>Đóng góp chính:</a:t>
            </a:r>
          </a:p>
          <a:p>
            <a:pPr algn="l" marL="1036320" indent="-518160" lvl="1">
              <a:lnSpc>
                <a:spcPts val="6719"/>
              </a:lnSpc>
              <a:buFont typeface="Arial"/>
              <a:buChar char="•"/>
            </a:pPr>
            <a:r>
              <a:rPr lang="en-US" sz="4800">
                <a:solidFill>
                  <a:srgbClr val="014225"/>
                </a:solidFill>
                <a:latin typeface="Montserrat"/>
                <a:ea typeface="Montserrat"/>
                <a:cs typeface="Montserrat"/>
                <a:sym typeface="Montserrat"/>
              </a:rPr>
              <a:t>Đề xuất framework xây dựng</a:t>
            </a:r>
            <a:r>
              <a:rPr lang="en-US" sz="4800">
                <a:solidFill>
                  <a:srgbClr val="014225"/>
                </a:solidFill>
                <a:latin typeface="Montserrat"/>
                <a:ea typeface="Montserrat"/>
                <a:cs typeface="Montserrat"/>
                <a:sym typeface="Montserrat"/>
              </a:rPr>
              <a:t> Alpha factory linh hoạt dựa trên LLM, có khả năng cập nhật liên tục</a:t>
            </a:r>
          </a:p>
          <a:p>
            <a:pPr algn="l" marL="1036320" indent="-518160" lvl="1">
              <a:lnSpc>
                <a:spcPts val="6719"/>
              </a:lnSpc>
              <a:buFont typeface="Arial"/>
              <a:buChar char="•"/>
            </a:pPr>
            <a:r>
              <a:rPr lang="en-US" sz="4800">
                <a:solidFill>
                  <a:srgbClr val="014225"/>
                </a:solidFill>
                <a:latin typeface="Montserrat"/>
                <a:ea typeface="Montserrat"/>
                <a:cs typeface="Montserrat"/>
                <a:sym typeface="Montserrat"/>
              </a:rPr>
              <a:t>Ứng dụng kiến trúc Multi-Agent vào tài chính để đánh giá alpha theo thị trường</a:t>
            </a:r>
          </a:p>
          <a:p>
            <a:pPr algn="l" marL="1036320" indent="-518160" lvl="1">
              <a:lnSpc>
                <a:spcPts val="6719"/>
              </a:lnSpc>
              <a:buFont typeface="Arial"/>
              <a:buChar char="•"/>
            </a:pPr>
            <a:r>
              <a:rPr lang="en-US" sz="4800">
                <a:solidFill>
                  <a:srgbClr val="014225"/>
                </a:solidFill>
                <a:latin typeface="Montserrat"/>
                <a:ea typeface="Montserrat"/>
                <a:cs typeface="Montserrat"/>
                <a:sym typeface="Montserrat"/>
              </a:rPr>
              <a:t>Tối ưu hóa chiến lược giao dịch mà không cần can thiệp thủ công</a:t>
            </a:r>
          </a:p>
        </p:txBody>
      </p:sp>
      <p:sp>
        <p:nvSpPr>
          <p:cNvPr name="TextBox 3" id="3"/>
          <p:cNvSpPr txBox="true"/>
          <p:nvPr/>
        </p:nvSpPr>
        <p:spPr>
          <a:xfrm rot="0">
            <a:off x="1028700" y="555135"/>
            <a:ext cx="15873265" cy="1651635"/>
          </a:xfrm>
          <a:prstGeom prst="rect">
            <a:avLst/>
          </a:prstGeom>
        </p:spPr>
        <p:txBody>
          <a:bodyPr anchor="t" rtlCol="false" tIns="0" lIns="0" bIns="0" rIns="0">
            <a:spAutoFit/>
          </a:bodyPr>
          <a:lstStyle/>
          <a:p>
            <a:pPr algn="ctr" marL="0" indent="0" lvl="0">
              <a:lnSpc>
                <a:spcPts val="13439"/>
              </a:lnSpc>
              <a:spcBef>
                <a:spcPct val="0"/>
              </a:spcBef>
            </a:pPr>
            <a:r>
              <a:rPr lang="en-US" sz="9600">
                <a:solidFill>
                  <a:srgbClr val="014225"/>
                </a:solidFill>
                <a:latin typeface="Lazydog"/>
                <a:ea typeface="Lazydog"/>
                <a:cs typeface="Lazydog"/>
                <a:sym typeface="Lazydog"/>
              </a:rPr>
              <a:t>2. Introduction</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16477" y="5635797"/>
            <a:ext cx="6520467" cy="4252478"/>
          </a:xfrm>
          <a:custGeom>
            <a:avLst/>
            <a:gdLst/>
            <a:ahLst/>
            <a:cxnLst/>
            <a:rect r="r" b="b" t="t" l="l"/>
            <a:pathLst>
              <a:path h="4252478" w="6520467">
                <a:moveTo>
                  <a:pt x="0" y="0"/>
                </a:moveTo>
                <a:lnTo>
                  <a:pt x="6520467" y="0"/>
                </a:lnTo>
                <a:lnTo>
                  <a:pt x="6520467" y="4252478"/>
                </a:lnTo>
                <a:lnTo>
                  <a:pt x="0" y="4252478"/>
                </a:lnTo>
                <a:lnTo>
                  <a:pt x="0" y="0"/>
                </a:lnTo>
                <a:close/>
              </a:path>
            </a:pathLst>
          </a:custGeom>
          <a:blipFill>
            <a:blip r:embed="rId2"/>
            <a:stretch>
              <a:fillRect l="0" t="0" r="0" b="0"/>
            </a:stretch>
          </a:blipFill>
        </p:spPr>
      </p:sp>
      <p:sp>
        <p:nvSpPr>
          <p:cNvPr name="Freeform 3" id="3"/>
          <p:cNvSpPr/>
          <p:nvPr/>
        </p:nvSpPr>
        <p:spPr>
          <a:xfrm flipH="false" flipV="false" rot="0">
            <a:off x="9688306" y="5703445"/>
            <a:ext cx="8369660" cy="4184830"/>
          </a:xfrm>
          <a:custGeom>
            <a:avLst/>
            <a:gdLst/>
            <a:ahLst/>
            <a:cxnLst/>
            <a:rect r="r" b="b" t="t" l="l"/>
            <a:pathLst>
              <a:path h="4184830" w="8369660">
                <a:moveTo>
                  <a:pt x="0" y="0"/>
                </a:moveTo>
                <a:lnTo>
                  <a:pt x="8369660" y="0"/>
                </a:lnTo>
                <a:lnTo>
                  <a:pt x="8369660" y="4184830"/>
                </a:lnTo>
                <a:lnTo>
                  <a:pt x="0" y="4184830"/>
                </a:lnTo>
                <a:lnTo>
                  <a:pt x="0" y="0"/>
                </a:lnTo>
                <a:close/>
              </a:path>
            </a:pathLst>
          </a:custGeom>
          <a:blipFill>
            <a:blip r:embed="rId3"/>
            <a:stretch>
              <a:fillRect l="0" t="0" r="0" b="0"/>
            </a:stretch>
          </a:blipFill>
        </p:spPr>
      </p:sp>
      <p:sp>
        <p:nvSpPr>
          <p:cNvPr name="TextBox 4" id="4"/>
          <p:cNvSpPr txBox="true"/>
          <p:nvPr/>
        </p:nvSpPr>
        <p:spPr>
          <a:xfrm rot="0">
            <a:off x="1170143" y="107632"/>
            <a:ext cx="15873265" cy="1651635"/>
          </a:xfrm>
          <a:prstGeom prst="rect">
            <a:avLst/>
          </a:prstGeom>
        </p:spPr>
        <p:txBody>
          <a:bodyPr anchor="t" rtlCol="false" tIns="0" lIns="0" bIns="0" rIns="0">
            <a:spAutoFit/>
          </a:bodyPr>
          <a:lstStyle/>
          <a:p>
            <a:pPr algn="ctr" marL="0" indent="0" lvl="0">
              <a:lnSpc>
                <a:spcPts val="13439"/>
              </a:lnSpc>
              <a:spcBef>
                <a:spcPct val="0"/>
              </a:spcBef>
            </a:pPr>
            <a:r>
              <a:rPr lang="en-US" sz="9600">
                <a:solidFill>
                  <a:srgbClr val="014225"/>
                </a:solidFill>
                <a:latin typeface="Lazydog"/>
                <a:ea typeface="Lazydog"/>
                <a:cs typeface="Lazydog"/>
                <a:sym typeface="Lazydog"/>
              </a:rPr>
              <a:t>3. Problem Formulation</a:t>
            </a:r>
          </a:p>
        </p:txBody>
      </p:sp>
      <p:sp>
        <p:nvSpPr>
          <p:cNvPr name="TextBox 5" id="5"/>
          <p:cNvSpPr txBox="true"/>
          <p:nvPr/>
        </p:nvSpPr>
        <p:spPr>
          <a:xfrm rot="0">
            <a:off x="616477" y="1879662"/>
            <a:ext cx="17033043" cy="2721148"/>
          </a:xfrm>
          <a:prstGeom prst="rect">
            <a:avLst/>
          </a:prstGeom>
        </p:spPr>
        <p:txBody>
          <a:bodyPr anchor="t" rtlCol="false" tIns="0" lIns="0" bIns="0" rIns="0">
            <a:spAutoFit/>
          </a:bodyPr>
          <a:lstStyle/>
          <a:p>
            <a:pPr algn="l">
              <a:lnSpc>
                <a:spcPts val="5415"/>
              </a:lnSpc>
            </a:pPr>
            <a:r>
              <a:rPr lang="en-US" sz="3868">
                <a:solidFill>
                  <a:srgbClr val="014225"/>
                </a:solidFill>
                <a:latin typeface="Montserrat"/>
                <a:ea typeface="Montserrat"/>
                <a:cs typeface="Montserrat"/>
                <a:sym typeface="Montserrat"/>
              </a:rPr>
              <a:t>Framework giúp hỗ trợ tạo ra các yếu tố alpha và chiến lược trong giao dịch định lượng (quant invesment).</a:t>
            </a:r>
          </a:p>
          <a:p>
            <a:pPr algn="l" marL="835140" indent="-417570" lvl="1">
              <a:lnSpc>
                <a:spcPts val="5415"/>
              </a:lnSpc>
              <a:buFont typeface="Arial"/>
              <a:buChar char="•"/>
            </a:pPr>
            <a:r>
              <a:rPr lang="en-US" sz="3868">
                <a:solidFill>
                  <a:srgbClr val="014225"/>
                </a:solidFill>
                <a:latin typeface="Montserrat"/>
                <a:ea typeface="Montserrat"/>
                <a:cs typeface="Montserrat"/>
                <a:sym typeface="Montserrat"/>
              </a:rPr>
              <a:t>Yếu tố Seed Alpha</a:t>
            </a:r>
          </a:p>
          <a:p>
            <a:pPr algn="l" marL="835140" indent="-417570" lvl="1">
              <a:lnSpc>
                <a:spcPts val="5415"/>
              </a:lnSpc>
              <a:buFont typeface="Arial"/>
              <a:buChar char="•"/>
            </a:pPr>
            <a:r>
              <a:rPr lang="en-US" sz="3868">
                <a:solidFill>
                  <a:srgbClr val="014225"/>
                </a:solidFill>
                <a:latin typeface="Montserrat"/>
                <a:ea typeface="Montserrat"/>
                <a:cs typeface="Montserrat"/>
                <a:sym typeface="Montserrat"/>
              </a:rPr>
              <a:t> Tận dụng LLMs và multi-agent system</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648329" y="7133307"/>
            <a:ext cx="3211412" cy="3053761"/>
          </a:xfrm>
          <a:custGeom>
            <a:avLst/>
            <a:gdLst/>
            <a:ahLst/>
            <a:cxnLst/>
            <a:rect r="r" b="b" t="t" l="l"/>
            <a:pathLst>
              <a:path h="3053761" w="3211412">
                <a:moveTo>
                  <a:pt x="0" y="0"/>
                </a:moveTo>
                <a:lnTo>
                  <a:pt x="3211412" y="0"/>
                </a:lnTo>
                <a:lnTo>
                  <a:pt x="3211412" y="3053761"/>
                </a:lnTo>
                <a:lnTo>
                  <a:pt x="0" y="30537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648712" y="178435"/>
            <a:ext cx="17639288" cy="1519556"/>
          </a:xfrm>
          <a:prstGeom prst="rect">
            <a:avLst/>
          </a:prstGeom>
        </p:spPr>
        <p:txBody>
          <a:bodyPr anchor="t" rtlCol="false" tIns="0" lIns="0" bIns="0" rIns="0">
            <a:spAutoFit/>
          </a:bodyPr>
          <a:lstStyle/>
          <a:p>
            <a:pPr algn="ctr" marL="0" indent="0" lvl="0">
              <a:lnSpc>
                <a:spcPts val="12319"/>
              </a:lnSpc>
              <a:spcBef>
                <a:spcPct val="0"/>
              </a:spcBef>
            </a:pPr>
            <a:r>
              <a:rPr lang="en-US" sz="8799">
                <a:solidFill>
                  <a:srgbClr val="014225"/>
                </a:solidFill>
                <a:latin typeface="Lazydog"/>
                <a:ea typeface="Lazydog"/>
                <a:cs typeface="Lazydog"/>
                <a:sym typeface="Lazydog"/>
              </a:rPr>
              <a:t>3.1 Alpha Factor &amp; Strategy</a:t>
            </a:r>
          </a:p>
        </p:txBody>
      </p:sp>
      <p:sp>
        <p:nvSpPr>
          <p:cNvPr name="TextBox 4" id="4"/>
          <p:cNvSpPr txBox="true"/>
          <p:nvPr/>
        </p:nvSpPr>
        <p:spPr>
          <a:xfrm rot="0">
            <a:off x="1028700" y="2201204"/>
            <a:ext cx="16230600" cy="5300345"/>
          </a:xfrm>
          <a:prstGeom prst="rect">
            <a:avLst/>
          </a:prstGeom>
        </p:spPr>
        <p:txBody>
          <a:bodyPr anchor="t" rtlCol="false" tIns="0" lIns="0" bIns="0" rIns="0">
            <a:spAutoFit/>
          </a:bodyPr>
          <a:lstStyle/>
          <a:p>
            <a:pPr algn="l">
              <a:lnSpc>
                <a:spcPts val="4479"/>
              </a:lnSpc>
              <a:spcBef>
                <a:spcPct val="0"/>
              </a:spcBef>
            </a:pPr>
            <a:r>
              <a:rPr lang="en-US" sz="3199">
                <a:solidFill>
                  <a:srgbClr val="014225"/>
                </a:solidFill>
                <a:latin typeface="Nunito Sans"/>
                <a:ea typeface="Nunito Sans"/>
                <a:cs typeface="Nunito Sans"/>
                <a:sym typeface="Nunito Sans"/>
              </a:rPr>
              <a:t>Tính toán Alpha:</a:t>
            </a:r>
          </a:p>
          <a:p>
            <a:pPr algn="l" marL="690877" indent="-345439" lvl="1">
              <a:lnSpc>
                <a:spcPts val="4479"/>
              </a:lnSpc>
              <a:buAutoNum type="arabicPeriod" startAt="1"/>
            </a:pPr>
            <a:r>
              <a:rPr lang="en-US" sz="3199">
                <a:solidFill>
                  <a:srgbClr val="014225"/>
                </a:solidFill>
                <a:latin typeface="Nunito Sans"/>
                <a:ea typeface="Nunito Sans"/>
                <a:cs typeface="Nunito Sans"/>
                <a:sym typeface="Nunito Sans"/>
              </a:rPr>
              <a:t>Với 𝑛 cổ phiếu trong 𝑇 phiên giao dịch tới, mỗi cổ phiếu có những đặc trưng (giá, khối lượng...).</a:t>
            </a:r>
          </a:p>
          <a:p>
            <a:pPr algn="l" marL="690877" indent="-345439" lvl="1">
              <a:lnSpc>
                <a:spcPts val="4479"/>
              </a:lnSpc>
              <a:buAutoNum type="arabicPeriod" startAt="1"/>
            </a:pPr>
            <a:r>
              <a:rPr lang="en-US" sz="3199">
                <a:solidFill>
                  <a:srgbClr val="014225"/>
                </a:solidFill>
                <a:latin typeface="Nunito Sans"/>
                <a:ea typeface="Nunito Sans"/>
                <a:cs typeface="Nunito Sans"/>
                <a:sym typeface="Nunito Sans"/>
              </a:rPr>
              <a:t>Từ các đặc trưng này, sinh ra các alpha khác nhau (𝛼₁₁, 𝛼₁₂, ..., 𝛼ₖₖ).</a:t>
            </a:r>
          </a:p>
          <a:p>
            <a:pPr algn="l" marL="690877" indent="-345439" lvl="1">
              <a:lnSpc>
                <a:spcPts val="4479"/>
              </a:lnSpc>
              <a:buAutoNum type="arabicPeriod" startAt="1"/>
            </a:pPr>
            <a:r>
              <a:rPr lang="en-US" sz="3199">
                <a:solidFill>
                  <a:srgbClr val="014225"/>
                </a:solidFill>
                <a:latin typeface="Nunito Sans"/>
                <a:ea typeface="Nunito Sans"/>
                <a:cs typeface="Nunito Sans"/>
                <a:sym typeface="Nunito Sans"/>
              </a:rPr>
              <a:t>Chọn alpha tốt nhất từ từng nhóm dựa trên kết quả back-test &amp; điều kiện thị trường hiện tại.</a:t>
            </a:r>
          </a:p>
          <a:p>
            <a:pPr algn="l" marL="690877" indent="-345439" lvl="1">
              <a:lnSpc>
                <a:spcPts val="4479"/>
              </a:lnSpc>
              <a:buAutoNum type="arabicPeriod" startAt="1"/>
            </a:pPr>
            <a:r>
              <a:rPr lang="en-US" sz="3199">
                <a:solidFill>
                  <a:srgbClr val="014225"/>
                </a:solidFill>
                <a:latin typeface="Nunito Sans"/>
                <a:ea typeface="Nunito Sans"/>
                <a:cs typeface="Nunito Sans"/>
                <a:sym typeface="Nunito Sans"/>
              </a:rPr>
              <a:t>Từ các alpha được chọn, xây dựng chiến lược tổng hợp: </a:t>
            </a:r>
          </a:p>
          <a:p>
            <a:pPr algn="l">
              <a:lnSpc>
                <a:spcPts val="6579"/>
              </a:lnSpc>
            </a:pPr>
            <a:r>
              <a:rPr lang="en-US" sz="4699">
                <a:solidFill>
                  <a:srgbClr val="014225"/>
                </a:solidFill>
                <a:latin typeface="Nunito Sans"/>
                <a:ea typeface="Nunito Sans"/>
                <a:cs typeface="Nunito Sans"/>
                <a:sym typeface="Nunito Sans"/>
              </a:rPr>
              <a:t>                                      </a:t>
            </a:r>
            <a:r>
              <a:rPr lang="en-US" sz="4699">
                <a:solidFill>
                  <a:srgbClr val="795913"/>
                </a:solidFill>
                <a:latin typeface="Nunito Sans"/>
                <a:ea typeface="Nunito Sans"/>
                <a:cs typeface="Nunito Sans"/>
                <a:sym typeface="Nunito Sans"/>
              </a:rPr>
              <a:t>𝛼 = Σ 𝑤ᵢ𝛼ᵢ</a:t>
            </a:r>
          </a:p>
          <a:p>
            <a:pPr algn="l">
              <a:lnSpc>
                <a:spcPts val="4479"/>
              </a:lnSpc>
            </a:pPr>
            <a:r>
              <a:rPr lang="en-US" sz="3199">
                <a:solidFill>
                  <a:srgbClr val="014225"/>
                </a:solidFill>
                <a:latin typeface="Nunito Sans"/>
                <a:ea typeface="Nunito Sans"/>
                <a:cs typeface="Nunito Sans"/>
                <a:sym typeface="Nunito Sans"/>
              </a:rPr>
              <a:t>                                     </a:t>
            </a:r>
            <a:r>
              <a:rPr lang="en-US" sz="3199">
                <a:solidFill>
                  <a:srgbClr val="014225"/>
                </a:solidFill>
                <a:latin typeface="Nunito Sans"/>
                <a:ea typeface="Nunito Sans"/>
                <a:cs typeface="Nunito Sans"/>
                <a:sym typeface="Nunito Sans"/>
              </a:rPr>
              <a:t>trong đó, 𝑤ᵢ là trọng số của mỗi alpha.</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0" y="178435"/>
            <a:ext cx="18288000" cy="3081656"/>
          </a:xfrm>
          <a:prstGeom prst="rect">
            <a:avLst/>
          </a:prstGeom>
        </p:spPr>
        <p:txBody>
          <a:bodyPr anchor="t" rtlCol="false" tIns="0" lIns="0" bIns="0" rIns="0">
            <a:spAutoFit/>
          </a:bodyPr>
          <a:lstStyle/>
          <a:p>
            <a:pPr algn="ctr" marL="0" indent="0" lvl="0">
              <a:lnSpc>
                <a:spcPts val="12319"/>
              </a:lnSpc>
              <a:spcBef>
                <a:spcPct val="0"/>
              </a:spcBef>
            </a:pPr>
            <a:r>
              <a:rPr lang="en-US" sz="8799">
                <a:solidFill>
                  <a:srgbClr val="014225"/>
                </a:solidFill>
                <a:latin typeface="Lazydog"/>
                <a:ea typeface="Lazydog"/>
                <a:cs typeface="Lazydog"/>
                <a:sym typeface="Lazydog"/>
              </a:rPr>
              <a:t>3.2 Seed alpha mining &amp; Selection</a:t>
            </a:r>
          </a:p>
        </p:txBody>
      </p:sp>
      <p:sp>
        <p:nvSpPr>
          <p:cNvPr name="TextBox 3" id="3"/>
          <p:cNvSpPr txBox="true"/>
          <p:nvPr/>
        </p:nvSpPr>
        <p:spPr>
          <a:xfrm rot="0">
            <a:off x="428259" y="3202940"/>
            <a:ext cx="17431483" cy="6157595"/>
          </a:xfrm>
          <a:prstGeom prst="rect">
            <a:avLst/>
          </a:prstGeom>
        </p:spPr>
        <p:txBody>
          <a:bodyPr anchor="t" rtlCol="false" tIns="0" lIns="0" bIns="0" rIns="0">
            <a:spAutoFit/>
          </a:bodyPr>
          <a:lstStyle/>
          <a:p>
            <a:pPr algn="l" marL="690877" indent="-345439" lvl="1">
              <a:lnSpc>
                <a:spcPts val="4479"/>
              </a:lnSpc>
              <a:spcBef>
                <a:spcPct val="0"/>
              </a:spcBef>
              <a:buFont typeface="Arial"/>
              <a:buChar char="•"/>
            </a:pPr>
            <a:r>
              <a:rPr lang="en-US" b="true" sz="3199">
                <a:solidFill>
                  <a:srgbClr val="014225"/>
                </a:solidFill>
                <a:latin typeface="Nunito Sans Bold"/>
                <a:ea typeface="Nunito Sans Bold"/>
                <a:cs typeface="Nunito Sans Bold"/>
                <a:sym typeface="Nunito Sans Bold"/>
              </a:rPr>
              <a:t>Hạ</a:t>
            </a:r>
            <a:r>
              <a:rPr lang="en-US" b="true" sz="3199">
                <a:solidFill>
                  <a:srgbClr val="014225"/>
                </a:solidFill>
                <a:latin typeface="Nunito Sans Bold"/>
                <a:ea typeface="Nunito Sans Bold"/>
                <a:cs typeface="Nunito Sans Bold"/>
                <a:sym typeface="Nunito Sans Bold"/>
              </a:rPr>
              <a:t>n chế </a:t>
            </a:r>
            <a:r>
              <a:rPr lang="en-US" sz="3199">
                <a:solidFill>
                  <a:srgbClr val="014225"/>
                </a:solidFill>
                <a:latin typeface="Nunito Sans"/>
                <a:ea typeface="Nunito Sans"/>
                <a:cs typeface="Nunito Sans"/>
                <a:sym typeface="Nunito Sans"/>
              </a:rPr>
              <a:t>của phương pháp Alpha truyền thống: </a:t>
            </a:r>
          </a:p>
          <a:p>
            <a:pPr algn="l" marL="1381755" indent="-460585" lvl="2">
              <a:lnSpc>
                <a:spcPts val="4479"/>
              </a:lnSpc>
              <a:buFont typeface="Arial"/>
              <a:buChar char="⚬"/>
            </a:pPr>
            <a:r>
              <a:rPr lang="en-US" sz="3199">
                <a:solidFill>
                  <a:srgbClr val="014225"/>
                </a:solidFill>
                <a:latin typeface="Nunito Sans"/>
                <a:ea typeface="Nunito Sans"/>
                <a:cs typeface="Nunito Sans"/>
                <a:sym typeface="Nunito Sans"/>
              </a:rPr>
              <a:t>thiếu linh hoạt</a:t>
            </a:r>
          </a:p>
          <a:p>
            <a:pPr algn="l" marL="1381755" indent="-460585" lvl="2">
              <a:lnSpc>
                <a:spcPts val="4479"/>
              </a:lnSpc>
              <a:buFont typeface="Arial"/>
              <a:buChar char="⚬"/>
            </a:pPr>
            <a:r>
              <a:rPr lang="en-US" sz="3199">
                <a:solidFill>
                  <a:srgbClr val="014225"/>
                </a:solidFill>
                <a:latin typeface="Nunito Sans"/>
                <a:ea typeface="Nunito Sans"/>
                <a:cs typeface="Nunito Sans"/>
                <a:sym typeface="Nunito Sans"/>
              </a:rPr>
              <a:t>không tối ưu trong môi trường biến động</a:t>
            </a:r>
          </a:p>
          <a:p>
            <a:pPr algn="l">
              <a:lnSpc>
                <a:spcPts val="4479"/>
              </a:lnSpc>
              <a:spcBef>
                <a:spcPct val="0"/>
              </a:spcBef>
            </a:pPr>
          </a:p>
          <a:p>
            <a:pPr algn="l" marL="690877" indent="-345439" lvl="1">
              <a:lnSpc>
                <a:spcPts val="4479"/>
              </a:lnSpc>
              <a:spcBef>
                <a:spcPct val="0"/>
              </a:spcBef>
              <a:buFont typeface="Arial"/>
              <a:buChar char="•"/>
            </a:pPr>
            <a:r>
              <a:rPr lang="en-US" b="true" sz="3199">
                <a:solidFill>
                  <a:srgbClr val="014225"/>
                </a:solidFill>
                <a:latin typeface="Nunito Sans Bold"/>
                <a:ea typeface="Nunito Sans Bold"/>
                <a:cs typeface="Nunito Sans Bold"/>
                <a:sym typeface="Nunito Sans Bold"/>
              </a:rPr>
              <a:t>Giải pháp </a:t>
            </a:r>
            <a:r>
              <a:rPr lang="en-US" sz="3199">
                <a:solidFill>
                  <a:srgbClr val="014225"/>
                </a:solidFill>
                <a:latin typeface="Nunito Sans"/>
                <a:ea typeface="Nunito Sans"/>
                <a:cs typeface="Nunito Sans"/>
                <a:sym typeface="Nunito Sans"/>
              </a:rPr>
              <a:t>đề xuất: </a:t>
            </a:r>
          </a:p>
          <a:p>
            <a:pPr algn="l" marL="1381755" indent="-460585" lvl="2">
              <a:lnSpc>
                <a:spcPts val="4479"/>
              </a:lnSpc>
              <a:spcBef>
                <a:spcPct val="0"/>
              </a:spcBef>
              <a:buFont typeface="Arial"/>
              <a:buChar char="⚬"/>
            </a:pPr>
            <a:r>
              <a:rPr lang="en-US" sz="3199">
                <a:solidFill>
                  <a:srgbClr val="014225"/>
                </a:solidFill>
                <a:latin typeface="Nunito Sans"/>
                <a:ea typeface="Nunito Sans"/>
                <a:cs typeface="Nunito Sans"/>
                <a:sym typeface="Nunito Sans"/>
              </a:rPr>
              <a:t>Áp dụng mô hình ngôn ngữ lớn (LLM) và hệ thống tự động để lựa chọn Seed Alpha hiệu quả.</a:t>
            </a:r>
          </a:p>
          <a:p>
            <a:pPr algn="l" marL="1381755" indent="-460585" lvl="2">
              <a:lnSpc>
                <a:spcPts val="4479"/>
              </a:lnSpc>
              <a:spcBef>
                <a:spcPct val="0"/>
              </a:spcBef>
              <a:buFont typeface="Arial"/>
              <a:buChar char="⚬"/>
            </a:pPr>
            <a:r>
              <a:rPr lang="en-US" sz="3199">
                <a:solidFill>
                  <a:srgbClr val="014225"/>
                </a:solidFill>
                <a:latin typeface="Nunito Sans"/>
                <a:ea typeface="Nunito Sans"/>
                <a:cs typeface="Nunito Sans"/>
                <a:sym typeface="Nunito Sans"/>
              </a:rPr>
              <a:t>Multi-agent: Khai thác thêm dữ liệu mạng xã hội, tin tức… để tăng độ chính xác.</a:t>
            </a:r>
          </a:p>
          <a:p>
            <a:pPr algn="l">
              <a:lnSpc>
                <a:spcPts val="4479"/>
              </a:lnSpc>
              <a:spcBef>
                <a:spcPct val="0"/>
              </a:spcBef>
            </a:pPr>
            <a:r>
              <a:rPr lang="en-US" sz="3199">
                <a:solidFill>
                  <a:srgbClr val="014225"/>
                </a:solidFill>
                <a:latin typeface="Nunito Sans"/>
                <a:ea typeface="Nunito Sans"/>
                <a:cs typeface="Nunito Sans"/>
                <a:sym typeface="Nunito Sans"/>
              </a:rPr>
              <a:t> &gt;&gt; Framework </a:t>
            </a:r>
            <a:r>
              <a:rPr lang="en-US" sz="3199">
                <a:solidFill>
                  <a:srgbClr val="014225"/>
                </a:solidFill>
                <a:latin typeface="Nunito Sans"/>
                <a:ea typeface="Nunito Sans"/>
                <a:cs typeface="Nunito Sans"/>
                <a:sym typeface="Nunito Sans"/>
              </a:rPr>
              <a:t>mới: Kết hợp học máy + tài chính định lượng → hệ thống linh hoạt theo biến động thị trường.</a:t>
            </a:r>
          </a:p>
          <a:p>
            <a:pPr algn="l">
              <a:lnSpc>
                <a:spcPts val="4479"/>
              </a:lnSpc>
              <a:spcBef>
                <a:spcPct val="0"/>
              </a:spcBef>
            </a:pPr>
          </a:p>
        </p:txBody>
      </p:sp>
      <p:sp>
        <p:nvSpPr>
          <p:cNvPr name="Freeform 4" id="4"/>
          <p:cNvSpPr/>
          <p:nvPr/>
        </p:nvSpPr>
        <p:spPr>
          <a:xfrm flipH="false" flipV="false" rot="0">
            <a:off x="15076588" y="1809750"/>
            <a:ext cx="3211412" cy="3053761"/>
          </a:xfrm>
          <a:custGeom>
            <a:avLst/>
            <a:gdLst/>
            <a:ahLst/>
            <a:cxnLst/>
            <a:rect r="r" b="b" t="t" l="l"/>
            <a:pathLst>
              <a:path h="3053761" w="3211412">
                <a:moveTo>
                  <a:pt x="0" y="0"/>
                </a:moveTo>
                <a:lnTo>
                  <a:pt x="3211412" y="0"/>
                </a:lnTo>
                <a:lnTo>
                  <a:pt x="3211412" y="3053761"/>
                </a:lnTo>
                <a:lnTo>
                  <a:pt x="0" y="30537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0" y="207010"/>
            <a:ext cx="18288000" cy="1278882"/>
          </a:xfrm>
          <a:prstGeom prst="rect">
            <a:avLst/>
          </a:prstGeom>
        </p:spPr>
        <p:txBody>
          <a:bodyPr anchor="t" rtlCol="false" tIns="0" lIns="0" bIns="0" rIns="0">
            <a:spAutoFit/>
          </a:bodyPr>
          <a:lstStyle/>
          <a:p>
            <a:pPr algn="ctr" marL="0" indent="0" lvl="0">
              <a:lnSpc>
                <a:spcPts val="10360"/>
              </a:lnSpc>
              <a:spcBef>
                <a:spcPct val="0"/>
              </a:spcBef>
            </a:pPr>
            <a:r>
              <a:rPr lang="en-US" sz="7400">
                <a:solidFill>
                  <a:srgbClr val="014225"/>
                </a:solidFill>
                <a:latin typeface="Lazydog"/>
                <a:ea typeface="Lazydog"/>
                <a:cs typeface="Lazydog"/>
                <a:sym typeface="Lazydog"/>
              </a:rPr>
              <a:t>3.3 Seed Alpha Formulaic</a:t>
            </a:r>
          </a:p>
        </p:txBody>
      </p:sp>
      <p:sp>
        <p:nvSpPr>
          <p:cNvPr name="TextBox 3" id="3"/>
          <p:cNvSpPr txBox="true"/>
          <p:nvPr/>
        </p:nvSpPr>
        <p:spPr>
          <a:xfrm rot="0">
            <a:off x="428259" y="1755140"/>
            <a:ext cx="17859741" cy="6157595"/>
          </a:xfrm>
          <a:prstGeom prst="rect">
            <a:avLst/>
          </a:prstGeom>
        </p:spPr>
        <p:txBody>
          <a:bodyPr anchor="t" rtlCol="false" tIns="0" lIns="0" bIns="0" rIns="0">
            <a:spAutoFit/>
          </a:bodyPr>
          <a:lstStyle/>
          <a:p>
            <a:pPr algn="l">
              <a:lnSpc>
                <a:spcPts val="4479"/>
              </a:lnSpc>
              <a:spcBef>
                <a:spcPct val="0"/>
              </a:spcBef>
            </a:pPr>
            <a:r>
              <a:rPr lang="en-US" sz="3199">
                <a:solidFill>
                  <a:srgbClr val="014225"/>
                </a:solidFill>
                <a:latin typeface="Nunito Sans"/>
                <a:ea typeface="Nunito Sans"/>
                <a:cs typeface="Nunito Sans"/>
                <a:sym typeface="Nunito Sans"/>
              </a:rPr>
              <a:t>Framework</a:t>
            </a:r>
            <a:r>
              <a:rPr lang="en-US" sz="3199">
                <a:solidFill>
                  <a:srgbClr val="014225"/>
                </a:solidFill>
                <a:latin typeface="Nunito Sans"/>
                <a:ea typeface="Nunito Sans"/>
                <a:cs typeface="Nunito Sans"/>
                <a:sym typeface="Nunito Sans"/>
              </a:rPr>
              <a:t> Seed Alpha:</a:t>
            </a:r>
          </a:p>
          <a:p>
            <a:pPr algn="l" marL="690877" indent="-345439" lvl="1">
              <a:lnSpc>
                <a:spcPts val="4479"/>
              </a:lnSpc>
              <a:spcBef>
                <a:spcPct val="0"/>
              </a:spcBef>
              <a:buFont typeface="Arial"/>
              <a:buChar char="•"/>
            </a:pPr>
            <a:r>
              <a:rPr lang="en-US" sz="3199">
                <a:solidFill>
                  <a:srgbClr val="014225"/>
                </a:solidFill>
                <a:latin typeface="Nunito Sans"/>
                <a:ea typeface="Nunito Sans"/>
                <a:cs typeface="Nunito Sans"/>
                <a:sym typeface="Nunito Sans"/>
              </a:rPr>
              <a:t>Áp dụng </a:t>
            </a:r>
            <a:r>
              <a:rPr lang="en-US" b="true" sz="3199">
                <a:solidFill>
                  <a:srgbClr val="014225"/>
                </a:solidFill>
                <a:latin typeface="Nunito Sans Bold"/>
                <a:ea typeface="Nunito Sans Bold"/>
                <a:cs typeface="Nunito Sans Bold"/>
                <a:sym typeface="Nunito Sans Bold"/>
              </a:rPr>
              <a:t>quy tắc toán học</a:t>
            </a:r>
            <a:r>
              <a:rPr lang="en-US" sz="3199">
                <a:solidFill>
                  <a:srgbClr val="014225"/>
                </a:solidFill>
                <a:latin typeface="Nunito Sans"/>
                <a:ea typeface="Nunito Sans"/>
                <a:cs typeface="Nunito Sans"/>
                <a:sym typeface="Nunito Sans"/>
              </a:rPr>
              <a:t> do LLM tạo ra, kết hợp nhiều biểu thức tài chính trên dữ liệu hàng ngày.</a:t>
            </a:r>
          </a:p>
          <a:p>
            <a:pPr algn="l" marL="690877" indent="-345439" lvl="1">
              <a:lnSpc>
                <a:spcPts val="4479"/>
              </a:lnSpc>
              <a:spcBef>
                <a:spcPct val="0"/>
              </a:spcBef>
              <a:buFont typeface="Arial"/>
              <a:buChar char="•"/>
            </a:pPr>
            <a:r>
              <a:rPr lang="en-US" sz="3199">
                <a:solidFill>
                  <a:srgbClr val="014225"/>
                </a:solidFill>
                <a:latin typeface="Nunito Sans"/>
                <a:ea typeface="Nunito Sans"/>
                <a:cs typeface="Nunito Sans"/>
                <a:sym typeface="Nunito Sans"/>
              </a:rPr>
              <a:t>Áp dụng t</a:t>
            </a:r>
            <a:r>
              <a:rPr lang="en-US" sz="3199">
                <a:solidFill>
                  <a:srgbClr val="014225"/>
                </a:solidFill>
                <a:latin typeface="Nunito Sans"/>
                <a:ea typeface="Nunito Sans"/>
                <a:cs typeface="Nunito Sans"/>
                <a:sym typeface="Nunito Sans"/>
              </a:rPr>
              <a:t>oán tử thời gian</a:t>
            </a:r>
          </a:p>
          <a:p>
            <a:pPr algn="l">
              <a:lnSpc>
                <a:spcPts val="4479"/>
              </a:lnSpc>
              <a:spcBef>
                <a:spcPct val="0"/>
              </a:spcBef>
            </a:pPr>
          </a:p>
          <a:p>
            <a:pPr algn="l">
              <a:lnSpc>
                <a:spcPts val="4479"/>
              </a:lnSpc>
              <a:spcBef>
                <a:spcPct val="0"/>
              </a:spcBef>
            </a:pPr>
            <a:r>
              <a:rPr lang="en-US" sz="3199">
                <a:solidFill>
                  <a:srgbClr val="014225"/>
                </a:solidFill>
                <a:latin typeface="Nunito Sans"/>
                <a:ea typeface="Nunito Sans"/>
                <a:cs typeface="Nunito Sans"/>
                <a:sym typeface="Nunito Sans"/>
              </a:rPr>
              <a:t>Ví dụ: CLOSE - DELAY(SMA(CLOSE, 14), 7)</a:t>
            </a:r>
          </a:p>
          <a:p>
            <a:pPr algn="l">
              <a:lnSpc>
                <a:spcPts val="4479"/>
              </a:lnSpc>
              <a:spcBef>
                <a:spcPct val="0"/>
              </a:spcBef>
            </a:pPr>
            <a:r>
              <a:rPr lang="en-US" sz="3199">
                <a:solidFill>
                  <a:srgbClr val="014225"/>
                </a:solidFill>
                <a:latin typeface="Nunito Sans"/>
                <a:ea typeface="Nunito Sans"/>
                <a:cs typeface="Nunito Sans"/>
                <a:sym typeface="Nunito Sans"/>
              </a:rPr>
              <a:t>            → So sánh giá đóng cửa hiện tại với trung bình động 14 phiên, lùi 7 ngày.</a:t>
            </a:r>
          </a:p>
          <a:p>
            <a:pPr algn="l">
              <a:lnSpc>
                <a:spcPts val="4479"/>
              </a:lnSpc>
              <a:spcBef>
                <a:spcPct val="0"/>
              </a:spcBef>
            </a:pPr>
          </a:p>
          <a:p>
            <a:pPr algn="l" marL="690877" indent="-345439" lvl="1">
              <a:lnSpc>
                <a:spcPts val="4479"/>
              </a:lnSpc>
              <a:spcBef>
                <a:spcPct val="0"/>
              </a:spcBef>
              <a:buFont typeface="Arial"/>
              <a:buChar char="•"/>
            </a:pPr>
            <a:r>
              <a:rPr lang="en-US" sz="3199">
                <a:solidFill>
                  <a:srgbClr val="014225"/>
                </a:solidFill>
                <a:latin typeface="Nunito Sans"/>
                <a:ea typeface="Nunito Sans"/>
                <a:cs typeface="Nunito Sans"/>
                <a:sym typeface="Nunito Sans"/>
              </a:rPr>
              <a:t>Cập</a:t>
            </a:r>
            <a:r>
              <a:rPr lang="en-US" sz="3199">
                <a:solidFill>
                  <a:srgbClr val="014225"/>
                </a:solidFill>
                <a:latin typeface="Nunito Sans"/>
                <a:ea typeface="Nunito Sans"/>
                <a:cs typeface="Nunito Sans"/>
                <a:sym typeface="Nunito Sans"/>
              </a:rPr>
              <a:t> nhật và cải tiến liên tục:</a:t>
            </a:r>
          </a:p>
          <a:p>
            <a:pPr algn="l" marL="1381755" indent="-460585" lvl="2">
              <a:lnSpc>
                <a:spcPts val="4479"/>
              </a:lnSpc>
              <a:spcBef>
                <a:spcPct val="0"/>
              </a:spcBef>
              <a:buFont typeface="Arial"/>
              <a:buChar char="⚬"/>
            </a:pPr>
            <a:r>
              <a:rPr lang="en-US" sz="3199">
                <a:solidFill>
                  <a:srgbClr val="014225"/>
                </a:solidFill>
                <a:latin typeface="Nunito Sans"/>
                <a:ea typeface="Nunito Sans"/>
                <a:cs typeface="Nunito Sans"/>
                <a:sym typeface="Nunito Sans"/>
              </a:rPr>
              <a:t>Mô hình không cố định mà thích ứng với dữ liệu mới và kiến thức tài chính mới nhất.</a:t>
            </a:r>
          </a:p>
          <a:p>
            <a:pPr algn="l">
              <a:lnSpc>
                <a:spcPts val="4479"/>
              </a:lnSpc>
              <a:spcBef>
                <a:spcPct val="0"/>
              </a:spcBef>
            </a:pPr>
          </a:p>
        </p:txBody>
      </p:sp>
      <p:sp>
        <p:nvSpPr>
          <p:cNvPr name="Freeform 4" id="4"/>
          <p:cNvSpPr/>
          <p:nvPr/>
        </p:nvSpPr>
        <p:spPr>
          <a:xfrm flipH="false" flipV="false" rot="0">
            <a:off x="15243642" y="7233239"/>
            <a:ext cx="3211412" cy="3053761"/>
          </a:xfrm>
          <a:custGeom>
            <a:avLst/>
            <a:gdLst/>
            <a:ahLst/>
            <a:cxnLst/>
            <a:rect r="r" b="b" t="t" l="l"/>
            <a:pathLst>
              <a:path h="3053761" w="3211412">
                <a:moveTo>
                  <a:pt x="0" y="0"/>
                </a:moveTo>
                <a:lnTo>
                  <a:pt x="3211412" y="0"/>
                </a:lnTo>
                <a:lnTo>
                  <a:pt x="3211412" y="3053761"/>
                </a:lnTo>
                <a:lnTo>
                  <a:pt x="0" y="30537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0" y="7233239"/>
            <a:ext cx="2952917" cy="2931441"/>
          </a:xfrm>
          <a:custGeom>
            <a:avLst/>
            <a:gdLst/>
            <a:ahLst/>
            <a:cxnLst/>
            <a:rect r="r" b="b" t="t" l="l"/>
            <a:pathLst>
              <a:path h="2931441" w="2952917">
                <a:moveTo>
                  <a:pt x="0" y="0"/>
                </a:moveTo>
                <a:lnTo>
                  <a:pt x="2952917" y="0"/>
                </a:lnTo>
                <a:lnTo>
                  <a:pt x="2952917" y="2931441"/>
                </a:lnTo>
                <a:lnTo>
                  <a:pt x="0" y="293144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4F4DC"/>
        </a:solidFill>
      </p:bgPr>
    </p:bg>
    <p:spTree>
      <p:nvGrpSpPr>
        <p:cNvPr id="1" name=""/>
        <p:cNvGrpSpPr/>
        <p:nvPr/>
      </p:nvGrpSpPr>
      <p:grpSpPr>
        <a:xfrm>
          <a:off x="0" y="0"/>
          <a:ext cx="0" cy="0"/>
          <a:chOff x="0" y="0"/>
          <a:chExt cx="0" cy="0"/>
        </a:xfrm>
      </p:grpSpPr>
      <p:sp>
        <p:nvSpPr>
          <p:cNvPr name="Freeform 2" id="2"/>
          <p:cNvSpPr/>
          <p:nvPr/>
        </p:nvSpPr>
        <p:spPr>
          <a:xfrm flipH="false" flipV="false" rot="2477594">
            <a:off x="-3883939" y="1093990"/>
            <a:ext cx="19834656" cy="17578464"/>
          </a:xfrm>
          <a:custGeom>
            <a:avLst/>
            <a:gdLst/>
            <a:ahLst/>
            <a:cxnLst/>
            <a:rect r="r" b="b" t="t" l="l"/>
            <a:pathLst>
              <a:path h="17578464" w="19834656">
                <a:moveTo>
                  <a:pt x="0" y="0"/>
                </a:moveTo>
                <a:lnTo>
                  <a:pt x="19834656" y="0"/>
                </a:lnTo>
                <a:lnTo>
                  <a:pt x="19834656" y="17578464"/>
                </a:lnTo>
                <a:lnTo>
                  <a:pt x="0" y="175784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5128266" y="-1147796"/>
            <a:ext cx="4911697" cy="4352991"/>
          </a:xfrm>
          <a:custGeom>
            <a:avLst/>
            <a:gdLst/>
            <a:ahLst/>
            <a:cxnLst/>
            <a:rect r="r" b="b" t="t" l="l"/>
            <a:pathLst>
              <a:path h="4352991" w="4911697">
                <a:moveTo>
                  <a:pt x="0" y="0"/>
                </a:moveTo>
                <a:lnTo>
                  <a:pt x="4911697" y="0"/>
                </a:lnTo>
                <a:lnTo>
                  <a:pt x="4911697" y="4352992"/>
                </a:lnTo>
                <a:lnTo>
                  <a:pt x="0" y="43529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3273879" y="-2057400"/>
            <a:ext cx="5387627" cy="4114800"/>
          </a:xfrm>
          <a:custGeom>
            <a:avLst/>
            <a:gdLst/>
            <a:ahLst/>
            <a:cxnLst/>
            <a:rect r="r" b="b" t="t" l="l"/>
            <a:pathLst>
              <a:path h="4114800" w="5387627">
                <a:moveTo>
                  <a:pt x="0" y="0"/>
                </a:moveTo>
                <a:lnTo>
                  <a:pt x="5387627" y="0"/>
                </a:lnTo>
                <a:lnTo>
                  <a:pt x="538762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6003179" y="-663062"/>
            <a:ext cx="925748" cy="2307159"/>
          </a:xfrm>
          <a:custGeom>
            <a:avLst/>
            <a:gdLst/>
            <a:ahLst/>
            <a:cxnLst/>
            <a:rect r="r" b="b" t="t" l="l"/>
            <a:pathLst>
              <a:path h="2307159" w="925748">
                <a:moveTo>
                  <a:pt x="0" y="0"/>
                </a:moveTo>
                <a:lnTo>
                  <a:pt x="925748" y="0"/>
                </a:lnTo>
                <a:lnTo>
                  <a:pt x="925748" y="2307159"/>
                </a:lnTo>
                <a:lnTo>
                  <a:pt x="0" y="230715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0373621" y="3597440"/>
            <a:ext cx="6750426" cy="4463719"/>
          </a:xfrm>
          <a:custGeom>
            <a:avLst/>
            <a:gdLst/>
            <a:ahLst/>
            <a:cxnLst/>
            <a:rect r="r" b="b" t="t" l="l"/>
            <a:pathLst>
              <a:path h="4463719" w="6750426">
                <a:moveTo>
                  <a:pt x="0" y="0"/>
                </a:moveTo>
                <a:lnTo>
                  <a:pt x="6750426" y="0"/>
                </a:lnTo>
                <a:lnTo>
                  <a:pt x="6750426" y="4463720"/>
                </a:lnTo>
                <a:lnTo>
                  <a:pt x="0" y="4463720"/>
                </a:lnTo>
                <a:lnTo>
                  <a:pt x="0" y="0"/>
                </a:lnTo>
                <a:close/>
              </a:path>
            </a:pathLst>
          </a:custGeom>
          <a:blipFill>
            <a:blip r:embed="rId10"/>
            <a:stretch>
              <a:fillRect l="0" t="0" r="0" b="0"/>
            </a:stretch>
          </a:blipFill>
        </p:spPr>
      </p:sp>
      <p:sp>
        <p:nvSpPr>
          <p:cNvPr name="TextBox 7" id="7"/>
          <p:cNvSpPr txBox="true"/>
          <p:nvPr/>
        </p:nvSpPr>
        <p:spPr>
          <a:xfrm rot="0">
            <a:off x="405761" y="2858567"/>
            <a:ext cx="10813089" cy="2462043"/>
          </a:xfrm>
          <a:prstGeom prst="rect">
            <a:avLst/>
          </a:prstGeom>
        </p:spPr>
        <p:txBody>
          <a:bodyPr anchor="t" rtlCol="false" tIns="0" lIns="0" bIns="0" rIns="0">
            <a:spAutoFit/>
          </a:bodyPr>
          <a:lstStyle/>
          <a:p>
            <a:pPr algn="l">
              <a:lnSpc>
                <a:spcPts val="3946"/>
              </a:lnSpc>
            </a:pPr>
            <a:r>
              <a:rPr lang="en-US" sz="2819">
                <a:solidFill>
                  <a:srgbClr val="000000"/>
                </a:solidFill>
                <a:latin typeface="Nunito Sans"/>
                <a:ea typeface="Nunito Sans"/>
                <a:cs typeface="Nunito Sans"/>
                <a:sym typeface="Nunito Sans"/>
              </a:rPr>
              <a:t>Ví dụ:</a:t>
            </a:r>
          </a:p>
          <a:p>
            <a:pPr algn="l" marL="1217326" indent="-405775" lvl="2">
              <a:lnSpc>
                <a:spcPts val="3946"/>
              </a:lnSpc>
              <a:buFont typeface="Arial"/>
              <a:buChar char="⚬"/>
            </a:pPr>
            <a:r>
              <a:rPr lang="en-US" sz="2819">
                <a:solidFill>
                  <a:srgbClr val="000000"/>
                </a:solidFill>
                <a:latin typeface="Nunito Sans"/>
                <a:ea typeface="Nunito Sans"/>
                <a:cs typeface="Nunito Sans"/>
                <a:sym typeface="Nunito Sans"/>
              </a:rPr>
              <a:t>CLOSE - DELAY(SMA(CLOSE, 14), 7)</a:t>
            </a:r>
          </a:p>
          <a:p>
            <a:pPr algn="l">
              <a:lnSpc>
                <a:spcPts val="3946"/>
              </a:lnSpc>
            </a:pPr>
            <a:r>
              <a:rPr lang="en-US" sz="2819">
                <a:solidFill>
                  <a:srgbClr val="000000"/>
                </a:solidFill>
                <a:latin typeface="Nunito Sans"/>
                <a:ea typeface="Nunito Sans"/>
                <a:cs typeface="Nunito Sans"/>
                <a:sym typeface="Nunito Sans"/>
              </a:rPr>
              <a:t> → So sánh giá đóng cửa hiện tại với trung bình động 14              phiên, lùi 7 ngày.</a:t>
            </a:r>
          </a:p>
          <a:p>
            <a:pPr algn="l">
              <a:lnSpc>
                <a:spcPts val="3946"/>
              </a:lnSpc>
              <a:spcBef>
                <a:spcPct val="0"/>
              </a:spcBef>
            </a:pPr>
          </a:p>
        </p:txBody>
      </p:sp>
      <p:sp>
        <p:nvSpPr>
          <p:cNvPr name="TextBox 8" id="8"/>
          <p:cNvSpPr txBox="true"/>
          <p:nvPr/>
        </p:nvSpPr>
        <p:spPr>
          <a:xfrm rot="0">
            <a:off x="3234286" y="478802"/>
            <a:ext cx="12173333" cy="1136202"/>
          </a:xfrm>
          <a:prstGeom prst="rect">
            <a:avLst/>
          </a:prstGeom>
        </p:spPr>
        <p:txBody>
          <a:bodyPr anchor="t" rtlCol="false" tIns="0" lIns="0" bIns="0" rIns="0">
            <a:spAutoFit/>
          </a:bodyPr>
          <a:lstStyle/>
          <a:p>
            <a:pPr algn="ctr" marL="0" indent="0" lvl="0">
              <a:lnSpc>
                <a:spcPts val="9299"/>
              </a:lnSpc>
              <a:spcBef>
                <a:spcPct val="0"/>
              </a:spcBef>
            </a:pPr>
            <a:r>
              <a:rPr lang="en-US" sz="6642">
                <a:solidFill>
                  <a:srgbClr val="014225"/>
                </a:solidFill>
                <a:latin typeface="Lazydog"/>
                <a:ea typeface="Lazydog"/>
                <a:cs typeface="Lazydog"/>
                <a:sym typeface="Lazydog"/>
              </a:rPr>
              <a:t>3.2 Selected alpha formula</a:t>
            </a:r>
          </a:p>
        </p:txBody>
      </p:sp>
      <p:sp>
        <p:nvSpPr>
          <p:cNvPr name="TextBox 9" id="9"/>
          <p:cNvSpPr txBox="true"/>
          <p:nvPr/>
        </p:nvSpPr>
        <p:spPr>
          <a:xfrm rot="0">
            <a:off x="405761" y="5772150"/>
            <a:ext cx="6844946" cy="480843"/>
          </a:xfrm>
          <a:prstGeom prst="rect">
            <a:avLst/>
          </a:prstGeom>
        </p:spPr>
        <p:txBody>
          <a:bodyPr anchor="t" rtlCol="false" tIns="0" lIns="0" bIns="0" rIns="0">
            <a:spAutoFit/>
          </a:bodyPr>
          <a:lstStyle/>
          <a:p>
            <a:pPr algn="l">
              <a:lnSpc>
                <a:spcPts val="3946"/>
              </a:lnSpc>
              <a:spcBef>
                <a:spcPct val="0"/>
              </a:spcBef>
            </a:pPr>
            <a:r>
              <a:rPr lang="en-US" sz="2819">
                <a:solidFill>
                  <a:srgbClr val="000000"/>
                </a:solidFill>
                <a:latin typeface="Nunito Sans"/>
                <a:ea typeface="Nunito Sans"/>
                <a:cs typeface="Nunito Sans"/>
                <a:sym typeface="Nunito Sans"/>
              </a:rPr>
              <a:t>Nếu có nhiều đầu vào thì sao?</a:t>
            </a:r>
          </a:p>
        </p:txBody>
      </p:sp>
      <p:sp>
        <p:nvSpPr>
          <p:cNvPr name="TextBox 10" id="10"/>
          <p:cNvSpPr txBox="true"/>
          <p:nvPr/>
        </p:nvSpPr>
        <p:spPr>
          <a:xfrm rot="0">
            <a:off x="3975770" y="6545123"/>
            <a:ext cx="8178518" cy="638958"/>
          </a:xfrm>
          <a:prstGeom prst="rect">
            <a:avLst/>
          </a:prstGeom>
        </p:spPr>
        <p:txBody>
          <a:bodyPr anchor="t" rtlCol="false" tIns="0" lIns="0" bIns="0" rIns="0">
            <a:spAutoFit/>
          </a:bodyPr>
          <a:lstStyle/>
          <a:p>
            <a:pPr algn="l">
              <a:lnSpc>
                <a:spcPts val="5206"/>
              </a:lnSpc>
              <a:spcBef>
                <a:spcPct val="0"/>
              </a:spcBef>
            </a:pPr>
            <a:r>
              <a:rPr lang="en-US" sz="3719">
                <a:solidFill>
                  <a:srgbClr val="000000"/>
                </a:solidFill>
                <a:latin typeface="Nunito Sans"/>
                <a:ea typeface="Nunito Sans"/>
                <a:cs typeface="Nunito Sans"/>
                <a:sym typeface="Nunito Sans"/>
              </a:rPr>
              <a:t>Alpha = Σ 𝑤ᵢ𝛼ᵢ</a:t>
            </a:r>
          </a:p>
        </p:txBody>
      </p:sp>
      <p:sp>
        <p:nvSpPr>
          <p:cNvPr name="TextBox 11" id="11"/>
          <p:cNvSpPr txBox="true"/>
          <p:nvPr/>
        </p:nvSpPr>
        <p:spPr>
          <a:xfrm rot="0">
            <a:off x="1467926" y="7498406"/>
            <a:ext cx="6844946" cy="480843"/>
          </a:xfrm>
          <a:prstGeom prst="rect">
            <a:avLst/>
          </a:prstGeom>
        </p:spPr>
        <p:txBody>
          <a:bodyPr anchor="t" rtlCol="false" tIns="0" lIns="0" bIns="0" rIns="0">
            <a:spAutoFit/>
          </a:bodyPr>
          <a:lstStyle/>
          <a:p>
            <a:pPr algn="l">
              <a:lnSpc>
                <a:spcPts val="3946"/>
              </a:lnSpc>
              <a:spcBef>
                <a:spcPct val="0"/>
              </a:spcBef>
            </a:pPr>
            <a:r>
              <a:rPr lang="en-US" sz="2819">
                <a:solidFill>
                  <a:srgbClr val="000000"/>
                </a:solidFill>
                <a:latin typeface="Nunito Sans"/>
                <a:ea typeface="Nunito Sans"/>
                <a:cs typeface="Nunito Sans"/>
                <a:sym typeface="Nunito Sans"/>
              </a:rPr>
              <a:t>với 𝑤ᵢ là các trọng số của mỗi alpha.</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292993" y="1686992"/>
            <a:ext cx="13702013" cy="8443866"/>
          </a:xfrm>
          <a:custGeom>
            <a:avLst/>
            <a:gdLst/>
            <a:ahLst/>
            <a:cxnLst/>
            <a:rect r="r" b="b" t="t" l="l"/>
            <a:pathLst>
              <a:path h="8443866" w="13702013">
                <a:moveTo>
                  <a:pt x="0" y="0"/>
                </a:moveTo>
                <a:lnTo>
                  <a:pt x="13702014" y="0"/>
                </a:lnTo>
                <a:lnTo>
                  <a:pt x="13702014" y="8443866"/>
                </a:lnTo>
                <a:lnTo>
                  <a:pt x="0" y="8443866"/>
                </a:lnTo>
                <a:lnTo>
                  <a:pt x="0" y="0"/>
                </a:lnTo>
                <a:close/>
              </a:path>
            </a:pathLst>
          </a:custGeom>
          <a:blipFill>
            <a:blip r:embed="rId2"/>
            <a:stretch>
              <a:fillRect l="0" t="0" r="0" b="0"/>
            </a:stretch>
          </a:blipFill>
        </p:spPr>
      </p:sp>
      <p:sp>
        <p:nvSpPr>
          <p:cNvPr name="TextBox 3" id="3"/>
          <p:cNvSpPr txBox="true"/>
          <p:nvPr/>
        </p:nvSpPr>
        <p:spPr>
          <a:xfrm rot="0">
            <a:off x="0" y="207010"/>
            <a:ext cx="18288000" cy="1278882"/>
          </a:xfrm>
          <a:prstGeom prst="rect">
            <a:avLst/>
          </a:prstGeom>
        </p:spPr>
        <p:txBody>
          <a:bodyPr anchor="t" rtlCol="false" tIns="0" lIns="0" bIns="0" rIns="0">
            <a:spAutoFit/>
          </a:bodyPr>
          <a:lstStyle/>
          <a:p>
            <a:pPr algn="ctr" marL="0" indent="0" lvl="0">
              <a:lnSpc>
                <a:spcPts val="10360"/>
              </a:lnSpc>
              <a:spcBef>
                <a:spcPct val="0"/>
              </a:spcBef>
            </a:pPr>
            <a:r>
              <a:rPr lang="en-US" sz="7400">
                <a:solidFill>
                  <a:srgbClr val="014225"/>
                </a:solidFill>
                <a:latin typeface="Lazydog"/>
                <a:ea typeface="Lazydog"/>
                <a:cs typeface="Lazydog"/>
                <a:sym typeface="Lazydog"/>
              </a:rPr>
              <a:t>3.2 Seed alpha mining &amp; Selection</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0" y="207010"/>
            <a:ext cx="18288000" cy="1278882"/>
          </a:xfrm>
          <a:prstGeom prst="rect">
            <a:avLst/>
          </a:prstGeom>
        </p:spPr>
        <p:txBody>
          <a:bodyPr anchor="t" rtlCol="false" tIns="0" lIns="0" bIns="0" rIns="0">
            <a:spAutoFit/>
          </a:bodyPr>
          <a:lstStyle/>
          <a:p>
            <a:pPr algn="ctr" marL="0" indent="0" lvl="0">
              <a:lnSpc>
                <a:spcPts val="10360"/>
              </a:lnSpc>
              <a:spcBef>
                <a:spcPct val="0"/>
              </a:spcBef>
            </a:pPr>
            <a:r>
              <a:rPr lang="en-US" sz="7400">
                <a:solidFill>
                  <a:srgbClr val="014225"/>
                </a:solidFill>
                <a:latin typeface="Lazydog"/>
                <a:ea typeface="Lazydog"/>
                <a:cs typeface="Lazydog"/>
                <a:sym typeface="Lazydog"/>
              </a:rPr>
              <a:t>4. Methodology</a:t>
            </a:r>
          </a:p>
        </p:txBody>
      </p:sp>
      <p:sp>
        <p:nvSpPr>
          <p:cNvPr name="Freeform 3" id="3"/>
          <p:cNvSpPr/>
          <p:nvPr/>
        </p:nvSpPr>
        <p:spPr>
          <a:xfrm flipH="false" flipV="false" rot="0">
            <a:off x="15243642" y="7233239"/>
            <a:ext cx="3211412" cy="3053761"/>
          </a:xfrm>
          <a:custGeom>
            <a:avLst/>
            <a:gdLst/>
            <a:ahLst/>
            <a:cxnLst/>
            <a:rect r="r" b="b" t="t" l="l"/>
            <a:pathLst>
              <a:path h="3053761" w="3211412">
                <a:moveTo>
                  <a:pt x="0" y="0"/>
                </a:moveTo>
                <a:lnTo>
                  <a:pt x="3211412" y="0"/>
                </a:lnTo>
                <a:lnTo>
                  <a:pt x="3211412" y="3053761"/>
                </a:lnTo>
                <a:lnTo>
                  <a:pt x="0" y="30537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0" y="7233239"/>
            <a:ext cx="2952917" cy="2931441"/>
          </a:xfrm>
          <a:custGeom>
            <a:avLst/>
            <a:gdLst/>
            <a:ahLst/>
            <a:cxnLst/>
            <a:rect r="r" b="b" t="t" l="l"/>
            <a:pathLst>
              <a:path h="2931441" w="2952917">
                <a:moveTo>
                  <a:pt x="0" y="0"/>
                </a:moveTo>
                <a:lnTo>
                  <a:pt x="2952917" y="0"/>
                </a:lnTo>
                <a:lnTo>
                  <a:pt x="2952917" y="2931441"/>
                </a:lnTo>
                <a:lnTo>
                  <a:pt x="0" y="293144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428259" y="1893160"/>
            <a:ext cx="17431483" cy="5033645"/>
          </a:xfrm>
          <a:prstGeom prst="rect">
            <a:avLst/>
          </a:prstGeom>
        </p:spPr>
        <p:txBody>
          <a:bodyPr anchor="t" rtlCol="false" tIns="0" lIns="0" bIns="0" rIns="0">
            <a:spAutoFit/>
          </a:bodyPr>
          <a:lstStyle/>
          <a:p>
            <a:pPr algn="l" marL="690877" indent="-345439" lvl="1">
              <a:lnSpc>
                <a:spcPts val="4479"/>
              </a:lnSpc>
              <a:buAutoNum type="arabicPeriod" startAt="1"/>
            </a:pPr>
            <a:r>
              <a:rPr lang="en-US" b="true" sz="3199">
                <a:solidFill>
                  <a:srgbClr val="014225"/>
                </a:solidFill>
                <a:latin typeface="Nunito Sans Bold"/>
                <a:ea typeface="Nunito Sans Bold"/>
                <a:cs typeface="Nunito Sans Bold"/>
                <a:sym typeface="Nunito Sans Bold"/>
              </a:rPr>
              <a:t>Seed Alpha Factory</a:t>
            </a:r>
            <a:r>
              <a:rPr lang="en-US" b="true" sz="3199">
                <a:solidFill>
                  <a:srgbClr val="014225"/>
                </a:solidFill>
                <a:latin typeface="Nunito Sans Bold"/>
                <a:ea typeface="Nunito Sans Bold"/>
                <a:cs typeface="Nunito Sans Bold"/>
                <a:sym typeface="Nunito Sans Bold"/>
              </a:rPr>
              <a:t>:</a:t>
            </a:r>
          </a:p>
          <a:p>
            <a:pPr algn="l" marL="1381755" indent="-460585" lvl="2">
              <a:lnSpc>
                <a:spcPts val="4479"/>
              </a:lnSpc>
              <a:buFont typeface="Arial"/>
              <a:buChar char="⚬"/>
            </a:pPr>
            <a:r>
              <a:rPr lang="en-US" sz="3199">
                <a:solidFill>
                  <a:srgbClr val="014225"/>
                </a:solidFill>
                <a:latin typeface="Nunito Sans"/>
                <a:ea typeface="Nunito Sans"/>
                <a:cs typeface="Nunito Sans"/>
                <a:sym typeface="Nunito Sans"/>
              </a:rPr>
              <a:t> Sử dụng LLMs để lọc và tạo tập hợp mạnh mẽ các Seed Alpha từ dữ liệu tài chính.</a:t>
            </a:r>
          </a:p>
          <a:p>
            <a:pPr algn="l" marL="690877" indent="-345439" lvl="1">
              <a:lnSpc>
                <a:spcPts val="4479"/>
              </a:lnSpc>
              <a:buAutoNum type="arabicPeriod" startAt="1"/>
            </a:pPr>
            <a:r>
              <a:rPr lang="en-US" b="true" sz="3199">
                <a:solidFill>
                  <a:srgbClr val="014225"/>
                </a:solidFill>
                <a:latin typeface="Nunito Sans Bold"/>
                <a:ea typeface="Nunito Sans Bold"/>
                <a:cs typeface="Nunito Sans Bold"/>
                <a:sym typeface="Nunito Sans Bold"/>
              </a:rPr>
              <a:t>Multi-Agent</a:t>
            </a:r>
            <a:r>
              <a:rPr lang="en-US" b="true" sz="3199">
                <a:solidFill>
                  <a:srgbClr val="014225"/>
                </a:solidFill>
                <a:latin typeface="Nunito Sans Bold"/>
                <a:ea typeface="Nunito Sans Bold"/>
                <a:cs typeface="Nunito Sans Bold"/>
                <a:sym typeface="Nunito Sans Bold"/>
              </a:rPr>
              <a:t>:</a:t>
            </a:r>
          </a:p>
          <a:p>
            <a:pPr algn="l" marL="1381755" indent="-460585" lvl="2">
              <a:lnSpc>
                <a:spcPts val="4479"/>
              </a:lnSpc>
              <a:buFont typeface="Arial"/>
              <a:buChar char="⚬"/>
            </a:pPr>
            <a:r>
              <a:rPr lang="en-US" sz="3199">
                <a:solidFill>
                  <a:srgbClr val="014225"/>
                </a:solidFill>
                <a:latin typeface="Nunito Sans"/>
                <a:ea typeface="Nunito Sans"/>
                <a:cs typeface="Nunito Sans"/>
                <a:sym typeface="Nunito Sans"/>
              </a:rPr>
              <a:t> Hệ thống lựa chọn Alpha dựa trên rủi ro đa dạng và điều kiện thị trường, đảm bảo độ tin cậy thông qua cơ chế chấm điểm.</a:t>
            </a:r>
          </a:p>
          <a:p>
            <a:pPr algn="l" marL="690877" indent="-345439" lvl="1">
              <a:lnSpc>
                <a:spcPts val="4479"/>
              </a:lnSpc>
              <a:buAutoNum type="arabicPeriod" startAt="1"/>
            </a:pPr>
            <a:r>
              <a:rPr lang="en-US" b="true" sz="3199">
                <a:solidFill>
                  <a:srgbClr val="014225"/>
                </a:solidFill>
                <a:latin typeface="Nunito Sans Bold"/>
                <a:ea typeface="Nunito Sans Bold"/>
                <a:cs typeface="Nunito Sans Bold"/>
                <a:sym typeface="Nunito Sans Bold"/>
              </a:rPr>
              <a:t>Tối ưu hóa trọng số:</a:t>
            </a:r>
          </a:p>
          <a:p>
            <a:pPr algn="l" marL="1381755" indent="-460585" lvl="2">
              <a:lnSpc>
                <a:spcPts val="4479"/>
              </a:lnSpc>
              <a:buFont typeface="Arial"/>
              <a:buChar char="⚬"/>
            </a:pPr>
            <a:r>
              <a:rPr lang="en-US" sz="3199">
                <a:solidFill>
                  <a:srgbClr val="014225"/>
                </a:solidFill>
                <a:latin typeface="Nunito Sans"/>
                <a:ea typeface="Nunito Sans"/>
                <a:cs typeface="Nunito Sans"/>
                <a:sym typeface="Nunito Sans"/>
              </a:rPr>
              <a:t> Dùng Mạng Nơ-ron Sâu (DNN) để dự đoán lợi suất, hỗ trợ xây dựng chiến lược đầu tư hiệu quả.</a:t>
            </a:r>
          </a:p>
          <a:p>
            <a:pPr algn="l">
              <a:lnSpc>
                <a:spcPts val="4479"/>
              </a:lnSpc>
              <a:spcBef>
                <a:spcPct val="0"/>
              </a:spcBef>
            </a:pP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0" y="133350"/>
            <a:ext cx="18288000" cy="1278882"/>
          </a:xfrm>
          <a:prstGeom prst="rect">
            <a:avLst/>
          </a:prstGeom>
        </p:spPr>
        <p:txBody>
          <a:bodyPr anchor="t" rtlCol="false" tIns="0" lIns="0" bIns="0" rIns="0">
            <a:spAutoFit/>
          </a:bodyPr>
          <a:lstStyle/>
          <a:p>
            <a:pPr algn="ctr" marL="0" indent="0" lvl="0">
              <a:lnSpc>
                <a:spcPts val="10360"/>
              </a:lnSpc>
              <a:spcBef>
                <a:spcPct val="0"/>
              </a:spcBef>
            </a:pPr>
            <a:r>
              <a:rPr lang="en-US" sz="7400">
                <a:solidFill>
                  <a:srgbClr val="014225"/>
                </a:solidFill>
                <a:latin typeface="Lazydog"/>
                <a:ea typeface="Lazydog"/>
                <a:cs typeface="Lazydog"/>
                <a:sym typeface="Lazydog"/>
              </a:rPr>
              <a:t>4.1 Overview of the framework</a:t>
            </a:r>
          </a:p>
        </p:txBody>
      </p:sp>
      <p:sp>
        <p:nvSpPr>
          <p:cNvPr name="TextBox 3" id="3"/>
          <p:cNvSpPr txBox="true"/>
          <p:nvPr/>
        </p:nvSpPr>
        <p:spPr>
          <a:xfrm rot="0">
            <a:off x="738449" y="1828470"/>
            <a:ext cx="8663173" cy="2878991"/>
          </a:xfrm>
          <a:prstGeom prst="rect">
            <a:avLst/>
          </a:prstGeom>
        </p:spPr>
        <p:txBody>
          <a:bodyPr anchor="t" rtlCol="false" tIns="0" lIns="0" bIns="0" rIns="0">
            <a:spAutoFit/>
          </a:bodyPr>
          <a:lstStyle/>
          <a:p>
            <a:pPr algn="l" marL="707913" indent="-353957" lvl="1">
              <a:lnSpc>
                <a:spcPts val="4590"/>
              </a:lnSpc>
              <a:buFont typeface="Arial"/>
              <a:buChar char="•"/>
            </a:pPr>
            <a:r>
              <a:rPr lang="en-US" sz="3278">
                <a:solidFill>
                  <a:srgbClr val="014225"/>
                </a:solidFill>
                <a:latin typeface="Nunito Sans"/>
                <a:ea typeface="Nunito Sans"/>
                <a:cs typeface="Nunito Sans"/>
                <a:sym typeface="Nunito Sans"/>
              </a:rPr>
              <a:t>Cấu trúc 3 phần:</a:t>
            </a:r>
          </a:p>
          <a:p>
            <a:pPr algn="l" marL="1415827" indent="-471942" lvl="2">
              <a:lnSpc>
                <a:spcPts val="4590"/>
              </a:lnSpc>
              <a:buFont typeface="Arial"/>
              <a:buChar char="⚬"/>
            </a:pPr>
            <a:r>
              <a:rPr lang="en-US" sz="3278">
                <a:solidFill>
                  <a:srgbClr val="014225"/>
                </a:solidFill>
                <a:latin typeface="Nunito Sans"/>
                <a:ea typeface="Nunito Sans"/>
                <a:cs typeface="Nunito Sans"/>
                <a:sym typeface="Nunito Sans"/>
              </a:rPr>
              <a:t>Seed Alphas Factory</a:t>
            </a:r>
          </a:p>
          <a:p>
            <a:pPr algn="l" marL="1415827" indent="-471942" lvl="2">
              <a:lnSpc>
                <a:spcPts val="4590"/>
              </a:lnSpc>
              <a:buFont typeface="Arial"/>
              <a:buChar char="⚬"/>
            </a:pPr>
            <a:r>
              <a:rPr lang="en-US" sz="3278">
                <a:solidFill>
                  <a:srgbClr val="014225"/>
                </a:solidFill>
                <a:latin typeface="Nunito Sans"/>
                <a:ea typeface="Nunito Sans"/>
                <a:cs typeface="Nunito Sans"/>
                <a:sym typeface="Nunito Sans"/>
              </a:rPr>
              <a:t>Q</a:t>
            </a:r>
            <a:r>
              <a:rPr lang="en-US" sz="3278">
                <a:solidFill>
                  <a:srgbClr val="014225"/>
                </a:solidFill>
                <a:latin typeface="Nunito Sans"/>
                <a:ea typeface="Nunito Sans"/>
                <a:cs typeface="Nunito Sans"/>
                <a:sym typeface="Nunito Sans"/>
              </a:rPr>
              <a:t>uy trình ra quyết định multi-agent</a:t>
            </a:r>
          </a:p>
          <a:p>
            <a:pPr algn="l" marL="1415827" indent="-471942" lvl="2">
              <a:lnSpc>
                <a:spcPts val="4590"/>
              </a:lnSpc>
              <a:spcBef>
                <a:spcPct val="0"/>
              </a:spcBef>
              <a:buFont typeface="Arial"/>
              <a:buChar char="⚬"/>
            </a:pPr>
            <a:r>
              <a:rPr lang="en-US" sz="3278">
                <a:solidFill>
                  <a:srgbClr val="014225"/>
                </a:solidFill>
                <a:latin typeface="Nunito Sans"/>
                <a:ea typeface="Nunito Sans"/>
                <a:cs typeface="Nunito Sans"/>
                <a:sym typeface="Nunito Sans"/>
              </a:rPr>
              <a:t>P</a:t>
            </a:r>
            <a:r>
              <a:rPr lang="en-US" sz="3278">
                <a:solidFill>
                  <a:srgbClr val="014225"/>
                </a:solidFill>
                <a:latin typeface="Nunito Sans"/>
                <a:ea typeface="Nunito Sans"/>
                <a:cs typeface="Nunito Sans"/>
                <a:sym typeface="Nunito Sans"/>
              </a:rPr>
              <a:t>hương pháp tối ưu hóa trọng số</a:t>
            </a:r>
          </a:p>
          <a:p>
            <a:pPr algn="l">
              <a:lnSpc>
                <a:spcPts val="4590"/>
              </a:lnSpc>
              <a:spcBef>
                <a:spcPct val="0"/>
              </a:spcBef>
            </a:pPr>
          </a:p>
        </p:txBody>
      </p:sp>
      <p:sp>
        <p:nvSpPr>
          <p:cNvPr name="Freeform 4" id="4"/>
          <p:cNvSpPr/>
          <p:nvPr/>
        </p:nvSpPr>
        <p:spPr>
          <a:xfrm flipH="false" flipV="false" rot="0">
            <a:off x="15076588" y="7233239"/>
            <a:ext cx="3211412" cy="3053761"/>
          </a:xfrm>
          <a:custGeom>
            <a:avLst/>
            <a:gdLst/>
            <a:ahLst/>
            <a:cxnLst/>
            <a:rect r="r" b="b" t="t" l="l"/>
            <a:pathLst>
              <a:path h="3053761" w="3211412">
                <a:moveTo>
                  <a:pt x="0" y="0"/>
                </a:moveTo>
                <a:lnTo>
                  <a:pt x="3211412" y="0"/>
                </a:lnTo>
                <a:lnTo>
                  <a:pt x="3211412" y="3053761"/>
                </a:lnTo>
                <a:lnTo>
                  <a:pt x="0" y="30537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560775" y="4443292"/>
            <a:ext cx="13515813" cy="4815008"/>
          </a:xfrm>
          <a:custGeom>
            <a:avLst/>
            <a:gdLst/>
            <a:ahLst/>
            <a:cxnLst/>
            <a:rect r="r" b="b" t="t" l="l"/>
            <a:pathLst>
              <a:path h="4815008" w="13515813">
                <a:moveTo>
                  <a:pt x="0" y="0"/>
                </a:moveTo>
                <a:lnTo>
                  <a:pt x="13515813" y="0"/>
                </a:lnTo>
                <a:lnTo>
                  <a:pt x="13515813" y="4815008"/>
                </a:lnTo>
                <a:lnTo>
                  <a:pt x="0" y="4815008"/>
                </a:lnTo>
                <a:lnTo>
                  <a:pt x="0" y="0"/>
                </a:lnTo>
                <a:close/>
              </a:path>
            </a:pathLst>
          </a:custGeom>
          <a:blipFill>
            <a:blip r:embed="rId4"/>
            <a:stretch>
              <a:fillRect l="0" t="0" r="0" b="0"/>
            </a:stretch>
          </a:blipFill>
        </p:spPr>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0" y="133350"/>
            <a:ext cx="18288000" cy="1278882"/>
          </a:xfrm>
          <a:prstGeom prst="rect">
            <a:avLst/>
          </a:prstGeom>
        </p:spPr>
        <p:txBody>
          <a:bodyPr anchor="t" rtlCol="false" tIns="0" lIns="0" bIns="0" rIns="0">
            <a:spAutoFit/>
          </a:bodyPr>
          <a:lstStyle/>
          <a:p>
            <a:pPr algn="ctr" marL="0" indent="0" lvl="0">
              <a:lnSpc>
                <a:spcPts val="10360"/>
              </a:lnSpc>
              <a:spcBef>
                <a:spcPct val="0"/>
              </a:spcBef>
            </a:pPr>
            <a:r>
              <a:rPr lang="en-US" sz="7400">
                <a:solidFill>
                  <a:srgbClr val="014225"/>
                </a:solidFill>
                <a:latin typeface="Lazydog"/>
                <a:ea typeface="Lazydog"/>
                <a:cs typeface="Lazydog"/>
                <a:sym typeface="Lazydog"/>
              </a:rPr>
              <a:t>4.1 Overview of the framework</a:t>
            </a:r>
          </a:p>
        </p:txBody>
      </p:sp>
      <p:sp>
        <p:nvSpPr>
          <p:cNvPr name="TextBox 3" id="3"/>
          <p:cNvSpPr txBox="true"/>
          <p:nvPr/>
        </p:nvSpPr>
        <p:spPr>
          <a:xfrm rot="0">
            <a:off x="1028700" y="2404017"/>
            <a:ext cx="16121353" cy="5203091"/>
          </a:xfrm>
          <a:prstGeom prst="rect">
            <a:avLst/>
          </a:prstGeom>
        </p:spPr>
        <p:txBody>
          <a:bodyPr anchor="t" rtlCol="false" tIns="0" lIns="0" bIns="0" rIns="0">
            <a:spAutoFit/>
          </a:bodyPr>
          <a:lstStyle/>
          <a:p>
            <a:pPr algn="l" marL="707913" indent="-353957" lvl="1">
              <a:lnSpc>
                <a:spcPts val="4590"/>
              </a:lnSpc>
              <a:buFont typeface="Arial"/>
              <a:buChar char="•"/>
            </a:pPr>
            <a:r>
              <a:rPr lang="en-US" b="true" sz="3278">
                <a:solidFill>
                  <a:srgbClr val="014225"/>
                </a:solidFill>
                <a:latin typeface="Nunito Sans Bold"/>
                <a:ea typeface="Nunito Sans Bold"/>
                <a:cs typeface="Nunito Sans Bold"/>
                <a:sym typeface="Nunito Sans Bold"/>
              </a:rPr>
              <a:t>Giai đoạn 1 – Tạo</a:t>
            </a:r>
            <a:r>
              <a:rPr lang="en-US" b="true" sz="3278">
                <a:solidFill>
                  <a:srgbClr val="014225"/>
                </a:solidFill>
                <a:latin typeface="Nunito Sans Bold"/>
                <a:ea typeface="Nunito Sans Bold"/>
                <a:cs typeface="Nunito Sans Bold"/>
                <a:sym typeface="Nunito Sans Bold"/>
              </a:rPr>
              <a:t> </a:t>
            </a:r>
            <a:r>
              <a:rPr lang="en-US" b="true" sz="3278">
                <a:solidFill>
                  <a:srgbClr val="014225"/>
                </a:solidFill>
                <a:latin typeface="Nunito Sans Bold"/>
                <a:ea typeface="Nunito Sans Bold"/>
                <a:cs typeface="Nunito Sans Bold"/>
                <a:sym typeface="Nunito Sans Bold"/>
              </a:rPr>
              <a:t>Seed Alpha:</a:t>
            </a:r>
          </a:p>
          <a:p>
            <a:pPr algn="l" marL="1415827" indent="-471942" lvl="2">
              <a:lnSpc>
                <a:spcPts val="4590"/>
              </a:lnSpc>
              <a:buFont typeface="Arial"/>
              <a:buChar char="⚬"/>
            </a:pPr>
            <a:r>
              <a:rPr lang="en-US" sz="3278">
                <a:solidFill>
                  <a:srgbClr val="014225"/>
                </a:solidFill>
                <a:latin typeface="Nunito Sans"/>
                <a:ea typeface="Nunito Sans"/>
                <a:cs typeface="Nunito Sans"/>
                <a:sym typeface="Nunito Sans"/>
              </a:rPr>
              <a:t>Sử dụng mô hình ngôn ngữ lớn (LLM) để lọc &amp; phân loại dữ liệu, tạo tập hợp Seed Alpha mạnh mẽ.</a:t>
            </a:r>
          </a:p>
          <a:p>
            <a:pPr algn="l" marL="707913" indent="-353957" lvl="1">
              <a:lnSpc>
                <a:spcPts val="4590"/>
              </a:lnSpc>
              <a:buFont typeface="Arial"/>
              <a:buChar char="•"/>
            </a:pPr>
            <a:r>
              <a:rPr lang="en-US" b="true" sz="3278">
                <a:solidFill>
                  <a:srgbClr val="014225"/>
                </a:solidFill>
                <a:latin typeface="Nunito Sans Bold"/>
                <a:ea typeface="Nunito Sans Bold"/>
                <a:cs typeface="Nunito Sans Bold"/>
                <a:sym typeface="Nunito Sans Bold"/>
              </a:rPr>
              <a:t>Giai đoạn 2 – Ra quyết định multi-agent:</a:t>
            </a:r>
          </a:p>
          <a:p>
            <a:pPr algn="l" marL="1415827" indent="-471942" lvl="2">
              <a:lnSpc>
                <a:spcPts val="4590"/>
              </a:lnSpc>
              <a:buFont typeface="Arial"/>
              <a:buChar char="⚬"/>
            </a:pPr>
            <a:r>
              <a:rPr lang="en-US" sz="3278">
                <a:solidFill>
                  <a:srgbClr val="014225"/>
                </a:solidFill>
                <a:latin typeface="Nunito Sans"/>
                <a:ea typeface="Nunito Sans"/>
                <a:cs typeface="Nunito Sans"/>
                <a:sym typeface="Nunito Sans"/>
              </a:rPr>
              <a:t>Lựa c</a:t>
            </a:r>
            <a:r>
              <a:rPr lang="en-US" sz="3278">
                <a:solidFill>
                  <a:srgbClr val="014225"/>
                </a:solidFill>
                <a:latin typeface="Nunito Sans"/>
                <a:ea typeface="Nunito Sans"/>
                <a:cs typeface="Nunito Sans"/>
                <a:sym typeface="Nunito Sans"/>
              </a:rPr>
              <a:t>họn Alpha phù hợp theo điều kiện thị trường &amp; rủi ro.</a:t>
            </a:r>
          </a:p>
          <a:p>
            <a:pPr algn="l" marL="707913" indent="-353957" lvl="1">
              <a:lnSpc>
                <a:spcPts val="4590"/>
              </a:lnSpc>
              <a:buFont typeface="Arial"/>
              <a:buChar char="•"/>
            </a:pPr>
            <a:r>
              <a:rPr lang="en-US" b="true" sz="3278">
                <a:solidFill>
                  <a:srgbClr val="014225"/>
                </a:solidFill>
                <a:latin typeface="Nunito Sans Bold"/>
                <a:ea typeface="Nunito Sans Bold"/>
                <a:cs typeface="Nunito Sans Bold"/>
                <a:sym typeface="Nunito Sans Bold"/>
              </a:rPr>
              <a:t>Giai đoạn 3 – Tối ưu hóa trọng số:</a:t>
            </a:r>
          </a:p>
          <a:p>
            <a:pPr algn="l" marL="1415827" indent="-471942" lvl="2">
              <a:lnSpc>
                <a:spcPts val="4590"/>
              </a:lnSpc>
              <a:spcBef>
                <a:spcPct val="0"/>
              </a:spcBef>
              <a:buFont typeface="Arial"/>
              <a:buChar char="⚬"/>
            </a:pPr>
            <a:r>
              <a:rPr lang="en-US" sz="3278">
                <a:solidFill>
                  <a:srgbClr val="014225"/>
                </a:solidFill>
                <a:latin typeface="Nunito Sans"/>
                <a:ea typeface="Nunito Sans"/>
                <a:cs typeface="Nunito Sans"/>
                <a:sym typeface="Nunito Sans"/>
              </a:rPr>
              <a:t>Dùng kỹ thuật học sâu để đánh giá hiệu suất Seed Alpha và xây dựng chiến lược đầu tư.</a:t>
            </a:r>
          </a:p>
          <a:p>
            <a:pPr algn="l">
              <a:lnSpc>
                <a:spcPts val="4590"/>
              </a:lnSpc>
              <a:spcBef>
                <a:spcPct val="0"/>
              </a:spcBef>
            </a:pPr>
          </a:p>
        </p:txBody>
      </p:sp>
      <p:sp>
        <p:nvSpPr>
          <p:cNvPr name="Freeform 4" id="4"/>
          <p:cNvSpPr/>
          <p:nvPr/>
        </p:nvSpPr>
        <p:spPr>
          <a:xfrm flipH="false" flipV="false" rot="0">
            <a:off x="15076588" y="7233239"/>
            <a:ext cx="3211412" cy="3053761"/>
          </a:xfrm>
          <a:custGeom>
            <a:avLst/>
            <a:gdLst/>
            <a:ahLst/>
            <a:cxnLst/>
            <a:rect r="r" b="b" t="t" l="l"/>
            <a:pathLst>
              <a:path h="3053761" w="3211412">
                <a:moveTo>
                  <a:pt x="0" y="0"/>
                </a:moveTo>
                <a:lnTo>
                  <a:pt x="3211412" y="0"/>
                </a:lnTo>
                <a:lnTo>
                  <a:pt x="3211412" y="3053761"/>
                </a:lnTo>
                <a:lnTo>
                  <a:pt x="0" y="30537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0" y="7233239"/>
            <a:ext cx="2952917" cy="2931441"/>
          </a:xfrm>
          <a:custGeom>
            <a:avLst/>
            <a:gdLst/>
            <a:ahLst/>
            <a:cxnLst/>
            <a:rect r="r" b="b" t="t" l="l"/>
            <a:pathLst>
              <a:path h="2931441" w="2952917">
                <a:moveTo>
                  <a:pt x="0" y="0"/>
                </a:moveTo>
                <a:lnTo>
                  <a:pt x="2952917" y="0"/>
                </a:lnTo>
                <a:lnTo>
                  <a:pt x="2952917" y="2931441"/>
                </a:lnTo>
                <a:lnTo>
                  <a:pt x="0" y="293144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2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0" y="133350"/>
            <a:ext cx="18288000" cy="1278882"/>
          </a:xfrm>
          <a:prstGeom prst="rect">
            <a:avLst/>
          </a:prstGeom>
        </p:spPr>
        <p:txBody>
          <a:bodyPr anchor="t" rtlCol="false" tIns="0" lIns="0" bIns="0" rIns="0">
            <a:spAutoFit/>
          </a:bodyPr>
          <a:lstStyle/>
          <a:p>
            <a:pPr algn="ctr" marL="0" indent="0" lvl="0">
              <a:lnSpc>
                <a:spcPts val="10360"/>
              </a:lnSpc>
              <a:spcBef>
                <a:spcPct val="0"/>
              </a:spcBef>
            </a:pPr>
            <a:r>
              <a:rPr lang="en-US" sz="7400">
                <a:solidFill>
                  <a:srgbClr val="014225"/>
                </a:solidFill>
                <a:latin typeface="Lazydog"/>
                <a:ea typeface="Lazydog"/>
                <a:cs typeface="Lazydog"/>
                <a:sym typeface="Lazydog"/>
              </a:rPr>
              <a:t>4.2 LLM FIlter &amp; category</a:t>
            </a:r>
          </a:p>
        </p:txBody>
      </p:sp>
      <p:sp>
        <p:nvSpPr>
          <p:cNvPr name="TextBox 3" id="3"/>
          <p:cNvSpPr txBox="true"/>
          <p:nvPr/>
        </p:nvSpPr>
        <p:spPr>
          <a:xfrm rot="0">
            <a:off x="1028700" y="1559831"/>
            <a:ext cx="16103141" cy="6946166"/>
          </a:xfrm>
          <a:prstGeom prst="rect">
            <a:avLst/>
          </a:prstGeom>
        </p:spPr>
        <p:txBody>
          <a:bodyPr anchor="t" rtlCol="false" tIns="0" lIns="0" bIns="0" rIns="0">
            <a:spAutoFit/>
          </a:bodyPr>
          <a:lstStyle/>
          <a:p>
            <a:pPr algn="l" marL="707913" indent="-353957" lvl="1">
              <a:lnSpc>
                <a:spcPts val="4590"/>
              </a:lnSpc>
              <a:buFont typeface="Arial"/>
              <a:buChar char="•"/>
            </a:pPr>
            <a:r>
              <a:rPr lang="en-US" sz="3278">
                <a:solidFill>
                  <a:srgbClr val="014225"/>
                </a:solidFill>
                <a:latin typeface="Nunito Sans"/>
                <a:ea typeface="Nunito Sans"/>
                <a:cs typeface="Nunito Sans"/>
                <a:sym typeface="Nunito Sans"/>
              </a:rPr>
              <a:t>Mục tiêu:</a:t>
            </a:r>
          </a:p>
          <a:p>
            <a:pPr algn="l" marL="1415827" indent="-471942" lvl="2">
              <a:lnSpc>
                <a:spcPts val="4590"/>
              </a:lnSpc>
              <a:buFont typeface="Arial"/>
              <a:buChar char="⚬"/>
            </a:pPr>
            <a:r>
              <a:rPr lang="en-US" sz="3278">
                <a:solidFill>
                  <a:srgbClr val="014225"/>
                </a:solidFill>
                <a:latin typeface="Nunito Sans"/>
                <a:ea typeface="Nunito Sans"/>
                <a:cs typeface="Nunito Sans"/>
                <a:sym typeface="Nunito Sans"/>
              </a:rPr>
              <a:t>Đẩy nhanh việc hiểu biết và khai thác Alpha bằng cách</a:t>
            </a:r>
            <a:r>
              <a:rPr lang="en-US" sz="3278">
                <a:solidFill>
                  <a:srgbClr val="014225"/>
                </a:solidFill>
                <a:latin typeface="Nunito Sans"/>
                <a:ea typeface="Nunito Sans"/>
                <a:cs typeface="Nunito Sans"/>
                <a:sym typeface="Nunito Sans"/>
              </a:rPr>
              <a:t> dùng LLM (sử dụng bản ChatGPT gọi là</a:t>
            </a:r>
            <a:r>
              <a:rPr lang="en-US" sz="3278">
                <a:solidFill>
                  <a:srgbClr val="014225"/>
                </a:solidFill>
                <a:latin typeface="Nunito Sans"/>
                <a:ea typeface="Nunito Sans"/>
                <a:cs typeface="Nunito Sans"/>
                <a:sym typeface="Nunito Sans"/>
              </a:rPr>
              <a:t> </a:t>
            </a:r>
            <a:r>
              <a:rPr lang="en-US" b="true" sz="3278">
                <a:solidFill>
                  <a:srgbClr val="014225"/>
                </a:solidFill>
                <a:latin typeface="Nunito Sans Bold"/>
                <a:ea typeface="Nunito Sans Bold"/>
                <a:cs typeface="Nunito Sans Bold"/>
                <a:sym typeface="Nunito Sans Bold"/>
              </a:rPr>
              <a:t>Alpha Grail</a:t>
            </a:r>
            <a:r>
              <a:rPr lang="en-US" sz="3278">
                <a:solidFill>
                  <a:srgbClr val="014225"/>
                </a:solidFill>
                <a:latin typeface="Nunito Sans"/>
                <a:ea typeface="Nunito Sans"/>
                <a:cs typeface="Nunito Sans"/>
                <a:sym typeface="Nunito Sans"/>
              </a:rPr>
              <a:t>).</a:t>
            </a:r>
          </a:p>
          <a:p>
            <a:pPr algn="l" marL="707913" indent="-353957" lvl="1">
              <a:lnSpc>
                <a:spcPts val="4590"/>
              </a:lnSpc>
              <a:buFont typeface="Arial"/>
              <a:buChar char="•"/>
            </a:pPr>
            <a:r>
              <a:rPr lang="en-US" sz="3278">
                <a:solidFill>
                  <a:srgbClr val="014225"/>
                </a:solidFill>
                <a:latin typeface="Nunito Sans"/>
                <a:ea typeface="Nunito Sans"/>
                <a:cs typeface="Nunito Sans"/>
                <a:sym typeface="Nunito Sans"/>
              </a:rPr>
              <a:t>Chức năng của Alpha Grail:</a:t>
            </a:r>
          </a:p>
          <a:p>
            <a:pPr algn="l" marL="1415827" indent="-471942" lvl="2">
              <a:lnSpc>
                <a:spcPts val="4590"/>
              </a:lnSpc>
              <a:spcBef>
                <a:spcPct val="0"/>
              </a:spcBef>
              <a:buFont typeface="Arial"/>
              <a:buChar char="⚬"/>
            </a:pPr>
            <a:r>
              <a:rPr lang="en-US" sz="3278">
                <a:solidFill>
                  <a:srgbClr val="014225"/>
                </a:solidFill>
                <a:latin typeface="Nunito Sans"/>
                <a:ea typeface="Nunito Sans"/>
                <a:cs typeface="Nunito Sans"/>
                <a:sym typeface="Nunito Sans"/>
              </a:rPr>
              <a:t>Hỗ trợ xây dựng Seed Alpha Factory thông qua</a:t>
            </a:r>
            <a:r>
              <a:rPr lang="en-US" sz="3278">
                <a:solidFill>
                  <a:srgbClr val="014225"/>
                </a:solidFill>
                <a:latin typeface="Nunito Sans"/>
                <a:ea typeface="Nunito Sans"/>
                <a:cs typeface="Nunito Sans"/>
                <a:sym typeface="Nunito Sans"/>
              </a:rPr>
              <a:t> xử lý dữ liệu nghiên cứu định lượng.</a:t>
            </a:r>
          </a:p>
          <a:p>
            <a:pPr algn="l">
              <a:lnSpc>
                <a:spcPts val="4590"/>
              </a:lnSpc>
              <a:spcBef>
                <a:spcPct val="0"/>
              </a:spcBef>
            </a:pPr>
          </a:p>
          <a:p>
            <a:pPr algn="l" marL="707913" indent="-353957" lvl="1">
              <a:lnSpc>
                <a:spcPts val="4590"/>
              </a:lnSpc>
              <a:spcBef>
                <a:spcPct val="0"/>
              </a:spcBef>
              <a:buFont typeface="Arial"/>
              <a:buChar char="•"/>
            </a:pPr>
            <a:r>
              <a:rPr lang="en-US" sz="3278">
                <a:solidFill>
                  <a:srgbClr val="014225"/>
                </a:solidFill>
                <a:latin typeface="Nunito Sans"/>
                <a:ea typeface="Nunito Sans"/>
                <a:cs typeface="Nunito Sans"/>
                <a:sym typeface="Nunito Sans"/>
              </a:rPr>
              <a:t>Kết quả giai đoạn này:</a:t>
            </a:r>
          </a:p>
          <a:p>
            <a:pPr algn="l" marL="1415827" indent="-471942" lvl="2">
              <a:lnSpc>
                <a:spcPts val="4590"/>
              </a:lnSpc>
              <a:spcBef>
                <a:spcPct val="0"/>
              </a:spcBef>
              <a:buFont typeface="Arial"/>
              <a:buChar char="⚬"/>
            </a:pPr>
            <a:r>
              <a:rPr lang="en-US" sz="3278">
                <a:solidFill>
                  <a:srgbClr val="014225"/>
                </a:solidFill>
                <a:latin typeface="Nunito Sans"/>
                <a:ea typeface="Nunito Sans"/>
                <a:cs typeface="Nunito Sans"/>
                <a:sym typeface="Nunito Sans"/>
              </a:rPr>
              <a:t>Tạo tập hợp Alpha có cấu trúc, gồm nhiều danh mục theo từng lĩnh vực tài</a:t>
            </a:r>
            <a:r>
              <a:rPr lang="en-US" sz="3278">
                <a:solidFill>
                  <a:srgbClr val="014225"/>
                </a:solidFill>
                <a:latin typeface="Nunito Sans"/>
                <a:ea typeface="Nunito Sans"/>
                <a:cs typeface="Nunito Sans"/>
                <a:sym typeface="Nunito Sans"/>
              </a:rPr>
              <a:t> chính,</a:t>
            </a:r>
            <a:r>
              <a:rPr lang="en-US" sz="3278">
                <a:solidFill>
                  <a:srgbClr val="014225"/>
                </a:solidFill>
                <a:latin typeface="Nunito Sans"/>
                <a:ea typeface="Nunito Sans"/>
                <a:cs typeface="Nunito Sans"/>
                <a:sym typeface="Nunito Sans"/>
              </a:rPr>
              <a:t> là nền tảng cho</a:t>
            </a:r>
            <a:r>
              <a:rPr lang="en-US" sz="3278">
                <a:solidFill>
                  <a:srgbClr val="014225"/>
                </a:solidFill>
                <a:latin typeface="Nunito Sans"/>
                <a:ea typeface="Nunito Sans"/>
                <a:cs typeface="Nunito Sans"/>
                <a:sym typeface="Nunito Sans"/>
              </a:rPr>
              <a:t> các bước tiếp theo như ra quyết định và tối ưu hóa trọng số.</a:t>
            </a:r>
          </a:p>
          <a:p>
            <a:pPr algn="l">
              <a:lnSpc>
                <a:spcPts val="4590"/>
              </a:lnSpc>
              <a:spcBef>
                <a:spcPct val="0"/>
              </a:spcBef>
            </a:pPr>
          </a:p>
        </p:txBody>
      </p:sp>
    </p:spTree>
  </p:cSld>
  <p:clrMapOvr>
    <a:masterClrMapping/>
  </p:clrMapOvr>
</p:sld>
</file>

<file path=ppt/slides/slide2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0" y="133350"/>
            <a:ext cx="18288000" cy="1278882"/>
          </a:xfrm>
          <a:prstGeom prst="rect">
            <a:avLst/>
          </a:prstGeom>
        </p:spPr>
        <p:txBody>
          <a:bodyPr anchor="t" rtlCol="false" tIns="0" lIns="0" bIns="0" rIns="0">
            <a:spAutoFit/>
          </a:bodyPr>
          <a:lstStyle/>
          <a:p>
            <a:pPr algn="ctr" marL="0" indent="0" lvl="0">
              <a:lnSpc>
                <a:spcPts val="10360"/>
              </a:lnSpc>
              <a:spcBef>
                <a:spcPct val="0"/>
              </a:spcBef>
            </a:pPr>
            <a:r>
              <a:rPr lang="en-US" sz="7400">
                <a:solidFill>
                  <a:srgbClr val="014225"/>
                </a:solidFill>
                <a:latin typeface="Lazydog"/>
                <a:ea typeface="Lazydog"/>
                <a:cs typeface="Lazydog"/>
                <a:sym typeface="Lazydog"/>
              </a:rPr>
              <a:t>4.2 LLM FIlter &amp; category</a:t>
            </a:r>
          </a:p>
        </p:txBody>
      </p:sp>
      <p:sp>
        <p:nvSpPr>
          <p:cNvPr name="TextBox 3" id="3"/>
          <p:cNvSpPr txBox="true"/>
          <p:nvPr/>
        </p:nvSpPr>
        <p:spPr>
          <a:xfrm rot="0">
            <a:off x="1092429" y="2551189"/>
            <a:ext cx="16103141" cy="7642761"/>
          </a:xfrm>
          <a:prstGeom prst="rect">
            <a:avLst/>
          </a:prstGeom>
        </p:spPr>
        <p:txBody>
          <a:bodyPr anchor="t" rtlCol="false" tIns="0" lIns="0" bIns="0" rIns="0">
            <a:spAutoFit/>
          </a:bodyPr>
          <a:lstStyle/>
          <a:p>
            <a:pPr algn="ctr">
              <a:lnSpc>
                <a:spcPts val="4730"/>
              </a:lnSpc>
            </a:pPr>
            <a:r>
              <a:rPr lang="en-US" sz="3378">
                <a:solidFill>
                  <a:srgbClr val="6943A4"/>
                </a:solidFill>
                <a:latin typeface="Nunito Sans"/>
                <a:ea typeface="Nunito Sans"/>
                <a:cs typeface="Nunito Sans"/>
                <a:sym typeface="Nunito Sans"/>
              </a:rPr>
              <a:t>Alpha Grail – Xây dựng Seed Alpha Factory</a:t>
            </a:r>
          </a:p>
          <a:p>
            <a:pPr algn="l">
              <a:lnSpc>
                <a:spcPts val="4310"/>
              </a:lnSpc>
            </a:pPr>
            <a:r>
              <a:rPr lang="en-US" sz="3078">
                <a:solidFill>
                  <a:srgbClr val="014225"/>
                </a:solidFill>
                <a:latin typeface="Nunito Sans"/>
                <a:ea typeface="Nunito Sans"/>
                <a:cs typeface="Nunito Sans"/>
                <a:sym typeface="Nunito Sans"/>
              </a:rPr>
              <a:t>🔍 </a:t>
            </a:r>
            <a:r>
              <a:rPr lang="en-US" sz="3078" b="true">
                <a:solidFill>
                  <a:srgbClr val="014225"/>
                </a:solidFill>
                <a:latin typeface="Nunito Sans Bold"/>
                <a:ea typeface="Nunito Sans Bold"/>
                <a:cs typeface="Nunito Sans Bold"/>
                <a:sym typeface="Nunito Sans Bold"/>
              </a:rPr>
              <a:t>Input:</a:t>
            </a:r>
          </a:p>
          <a:p>
            <a:pPr algn="l" marL="664735" indent="-332367" lvl="1">
              <a:lnSpc>
                <a:spcPts val="4310"/>
              </a:lnSpc>
              <a:buFont typeface="Arial"/>
              <a:buChar char="•"/>
            </a:pPr>
            <a:r>
              <a:rPr lang="en-US" sz="3078">
                <a:solidFill>
                  <a:srgbClr val="014225"/>
                </a:solidFill>
                <a:latin typeface="Nunito Sans"/>
                <a:ea typeface="Nunito Sans"/>
                <a:cs typeface="Nunito Sans"/>
                <a:sym typeface="Nunito Sans"/>
              </a:rPr>
              <a:t>11</a:t>
            </a:r>
            <a:r>
              <a:rPr lang="en-US" sz="3078">
                <a:solidFill>
                  <a:srgbClr val="014225"/>
                </a:solidFill>
                <a:latin typeface="Nunito Sans"/>
                <a:ea typeface="Nunito Sans"/>
                <a:cs typeface="Nunito Sans"/>
                <a:sym typeface="Nunito Sans"/>
              </a:rPr>
              <a:t> </a:t>
            </a:r>
            <a:r>
              <a:rPr lang="en-US" sz="3078">
                <a:solidFill>
                  <a:srgbClr val="014225"/>
                </a:solidFill>
                <a:latin typeface="Nunito Sans"/>
                <a:ea typeface="Nunito Sans"/>
                <a:cs typeface="Nunito Sans"/>
                <a:sym typeface="Nunito Sans"/>
              </a:rPr>
              <a:t>bà</a:t>
            </a:r>
            <a:r>
              <a:rPr lang="en-US" sz="3078">
                <a:solidFill>
                  <a:srgbClr val="014225"/>
                </a:solidFill>
                <a:latin typeface="Nunito Sans"/>
                <a:ea typeface="Nunito Sans"/>
                <a:cs typeface="Nunito Sans"/>
                <a:sym typeface="Nunito Sans"/>
              </a:rPr>
              <a:t>i</a:t>
            </a:r>
            <a:r>
              <a:rPr lang="en-US" sz="3078">
                <a:solidFill>
                  <a:srgbClr val="014225"/>
                </a:solidFill>
                <a:latin typeface="Nunito Sans"/>
                <a:ea typeface="Nunito Sans"/>
                <a:cs typeface="Nunito Sans"/>
                <a:sym typeface="Nunito Sans"/>
              </a:rPr>
              <a:t> nghiên cứu về tài chính &amp; khoa học máy tính.</a:t>
            </a:r>
          </a:p>
          <a:p>
            <a:pPr algn="l" marL="664735" indent="-332367" lvl="1">
              <a:lnSpc>
                <a:spcPts val="4310"/>
              </a:lnSpc>
              <a:buFont typeface="Arial"/>
              <a:buChar char="•"/>
            </a:pPr>
            <a:r>
              <a:rPr lang="en-US" sz="3078">
                <a:solidFill>
                  <a:srgbClr val="014225"/>
                </a:solidFill>
                <a:latin typeface="Nunito Sans"/>
                <a:ea typeface="Nunito Sans"/>
                <a:cs typeface="Nunito Sans"/>
                <a:sym typeface="Nunito Sans"/>
              </a:rPr>
              <a:t>Văn bản, hình ảnh, bảng biểu, đồ thị tài chính.</a:t>
            </a:r>
          </a:p>
          <a:p>
            <a:pPr algn="l" marL="664735" indent="-332367" lvl="1">
              <a:lnSpc>
                <a:spcPts val="4310"/>
              </a:lnSpc>
              <a:buFont typeface="Arial"/>
              <a:buChar char="•"/>
            </a:pPr>
            <a:r>
              <a:rPr lang="en-US" sz="3078">
                <a:solidFill>
                  <a:srgbClr val="014225"/>
                </a:solidFill>
                <a:latin typeface="Nunito Sans"/>
                <a:ea typeface="Nunito Sans"/>
                <a:cs typeface="Nunito Sans"/>
                <a:sym typeface="Nunito Sans"/>
              </a:rPr>
              <a:t>Thông tin về cách phân loại alpha.</a:t>
            </a:r>
          </a:p>
          <a:p>
            <a:pPr algn="l" marL="664735" indent="-332367" lvl="1">
              <a:lnSpc>
                <a:spcPts val="4310"/>
              </a:lnSpc>
              <a:buFont typeface="Arial"/>
              <a:buChar char="•"/>
            </a:pPr>
            <a:r>
              <a:rPr lang="en-US" sz="3078">
                <a:solidFill>
                  <a:srgbClr val="014225"/>
                </a:solidFill>
                <a:latin typeface="Nunito Sans"/>
                <a:ea typeface="Nunito Sans"/>
                <a:cs typeface="Nunito Sans"/>
                <a:sym typeface="Nunito Sans"/>
              </a:rPr>
              <a:t>The specific instruction given to Alpha Grail was: "Summarize the document information to help quantitative researchers build the Seed Alpha Factory according to traditional financial categories, ensuring that each category of seed alphas is independent."</a:t>
            </a:r>
          </a:p>
          <a:p>
            <a:pPr algn="l">
              <a:lnSpc>
                <a:spcPts val="4310"/>
              </a:lnSpc>
            </a:pPr>
          </a:p>
          <a:p>
            <a:pPr algn="l">
              <a:lnSpc>
                <a:spcPts val="4310"/>
              </a:lnSpc>
            </a:pPr>
            <a:r>
              <a:rPr lang="en-US" sz="3078">
                <a:solidFill>
                  <a:srgbClr val="014225"/>
                </a:solidFill>
                <a:latin typeface="Nunito Sans"/>
                <a:ea typeface="Nunito Sans"/>
                <a:cs typeface="Nunito Sans"/>
                <a:sym typeface="Nunito Sans"/>
              </a:rPr>
              <a:t>📊 </a:t>
            </a:r>
            <a:r>
              <a:rPr lang="en-US" b="true" sz="3078">
                <a:solidFill>
                  <a:srgbClr val="014225"/>
                </a:solidFill>
                <a:latin typeface="Nunito Sans Bold"/>
                <a:ea typeface="Nunito Sans Bold"/>
                <a:cs typeface="Nunito Sans Bold"/>
                <a:sym typeface="Nunito Sans Bold"/>
              </a:rPr>
              <a:t>Output</a:t>
            </a:r>
            <a:r>
              <a:rPr lang="en-US" b="true" sz="3078">
                <a:solidFill>
                  <a:srgbClr val="014225"/>
                </a:solidFill>
                <a:latin typeface="Nunito Sans Bold"/>
                <a:ea typeface="Nunito Sans Bold"/>
                <a:cs typeface="Nunito Sans Bold"/>
                <a:sym typeface="Nunito Sans Bold"/>
              </a:rPr>
              <a:t>:</a:t>
            </a:r>
          </a:p>
          <a:p>
            <a:pPr algn="l" marL="664735" indent="-332367" lvl="1">
              <a:lnSpc>
                <a:spcPts val="4310"/>
              </a:lnSpc>
              <a:buFont typeface="Arial"/>
              <a:buChar char="•"/>
            </a:pPr>
            <a:r>
              <a:rPr lang="en-US" sz="3078">
                <a:solidFill>
                  <a:srgbClr val="014225"/>
                </a:solidFill>
                <a:latin typeface="Nunito Sans"/>
                <a:ea typeface="Nunito Sans"/>
                <a:cs typeface="Nunito Sans"/>
                <a:sym typeface="Nunito Sans"/>
              </a:rPr>
              <a:t>Seed Alphas được phân loại theo Động lượng</a:t>
            </a:r>
            <a:r>
              <a:rPr lang="en-US" sz="3078">
                <a:solidFill>
                  <a:srgbClr val="014225"/>
                </a:solidFill>
                <a:latin typeface="Nunito Sans"/>
                <a:ea typeface="Nunito Sans"/>
                <a:cs typeface="Nunito Sans"/>
                <a:sym typeface="Nunito Sans"/>
              </a:rPr>
              <a:t>,</a:t>
            </a:r>
            <a:r>
              <a:rPr lang="en-US" sz="3078">
                <a:solidFill>
                  <a:srgbClr val="014225"/>
                </a:solidFill>
                <a:latin typeface="Nunito Sans"/>
                <a:ea typeface="Nunito Sans"/>
                <a:cs typeface="Nunito Sans"/>
                <a:sym typeface="Nunito Sans"/>
              </a:rPr>
              <a:t> Hồi quy trung </a:t>
            </a:r>
            <a:r>
              <a:rPr lang="en-US" sz="3078">
                <a:solidFill>
                  <a:srgbClr val="014225"/>
                </a:solidFill>
                <a:latin typeface="Nunito Sans"/>
                <a:ea typeface="Nunito Sans"/>
                <a:cs typeface="Nunito Sans"/>
                <a:sym typeface="Nunito Sans"/>
              </a:rPr>
              <a:t>bình, Biến động, và Phân tích cơ bản.</a:t>
            </a:r>
          </a:p>
          <a:p>
            <a:pPr algn="l">
              <a:lnSpc>
                <a:spcPts val="4310"/>
              </a:lnSpc>
            </a:pPr>
          </a:p>
        </p:txBody>
      </p:sp>
      <p:sp>
        <p:nvSpPr>
          <p:cNvPr name="TextBox 4" id="4"/>
          <p:cNvSpPr txBox="true"/>
          <p:nvPr/>
        </p:nvSpPr>
        <p:spPr>
          <a:xfrm rot="0">
            <a:off x="913950" y="1414085"/>
            <a:ext cx="2710260" cy="873125"/>
          </a:xfrm>
          <a:prstGeom prst="rect">
            <a:avLst/>
          </a:prstGeom>
        </p:spPr>
        <p:txBody>
          <a:bodyPr anchor="t" rtlCol="false" tIns="0" lIns="0" bIns="0" rIns="0">
            <a:spAutoFit/>
          </a:bodyPr>
          <a:lstStyle/>
          <a:p>
            <a:pPr algn="ctr">
              <a:lnSpc>
                <a:spcPts val="7000"/>
              </a:lnSpc>
              <a:spcBef>
                <a:spcPct val="0"/>
              </a:spcBef>
            </a:pPr>
            <a:r>
              <a:rPr lang="en-US" sz="5000">
                <a:solidFill>
                  <a:srgbClr val="014225"/>
                </a:solidFill>
                <a:latin typeface="Lazydog"/>
                <a:ea typeface="Lazydog"/>
                <a:cs typeface="Lazydog"/>
                <a:sym typeface="Lazydog"/>
              </a:rPr>
              <a:t>Detailed</a:t>
            </a:r>
          </a:p>
        </p:txBody>
      </p:sp>
    </p:spTree>
  </p:cSld>
  <p:clrMapOvr>
    <a:masterClrMapping/>
  </p:clrMapOvr>
</p:sld>
</file>

<file path=ppt/slides/slide2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08400" y="2893187"/>
            <a:ext cx="17378719" cy="5784088"/>
          </a:xfrm>
          <a:prstGeom prst="rect">
            <a:avLst/>
          </a:prstGeom>
        </p:spPr>
        <p:txBody>
          <a:bodyPr anchor="t" rtlCol="false" tIns="0" lIns="0" bIns="0" rIns="0">
            <a:spAutoFit/>
          </a:bodyPr>
          <a:lstStyle/>
          <a:p>
            <a:pPr algn="l" marL="708151" indent="-354076" lvl="1">
              <a:lnSpc>
                <a:spcPts val="4591"/>
              </a:lnSpc>
              <a:buFont typeface="Arial"/>
              <a:buChar char="•"/>
            </a:pPr>
            <a:r>
              <a:rPr lang="en-US" sz="3279">
                <a:solidFill>
                  <a:srgbClr val="014225"/>
                </a:solidFill>
                <a:latin typeface="Nunito Sans"/>
                <a:ea typeface="Nunito Sans"/>
                <a:cs typeface="Nunito Sans"/>
                <a:sym typeface="Nunito Sans"/>
              </a:rPr>
              <a:t>Tổng qu</a:t>
            </a:r>
            <a:r>
              <a:rPr lang="en-US" sz="3279">
                <a:solidFill>
                  <a:srgbClr val="014225"/>
                </a:solidFill>
                <a:latin typeface="Nunito Sans"/>
                <a:ea typeface="Nunito Sans"/>
                <a:cs typeface="Nunito Sans"/>
                <a:sym typeface="Nunito Sans"/>
              </a:rPr>
              <a:t>an:</a:t>
            </a:r>
          </a:p>
          <a:p>
            <a:pPr algn="l" marL="1416303" indent="-472101" lvl="2">
              <a:lnSpc>
                <a:spcPts val="4591"/>
              </a:lnSpc>
              <a:buFont typeface="Arial"/>
              <a:buChar char="⚬"/>
            </a:pPr>
            <a:r>
              <a:rPr lang="en-US" sz="3279">
                <a:solidFill>
                  <a:srgbClr val="014225"/>
                </a:solidFill>
                <a:latin typeface="Nunito Sans"/>
                <a:ea typeface="Nunito Sans"/>
                <a:cs typeface="Nunito Sans"/>
                <a:sym typeface="Nunito Sans"/>
              </a:rPr>
              <a:t>Đánh giá toàn diện các yếu tố Alpha bằng cách tích hợp nhiều loại dữ liệu (văn bản, hình ảnh, bảng biểu,...)</a:t>
            </a:r>
            <a:r>
              <a:rPr lang="en-US" sz="3279">
                <a:solidFill>
                  <a:srgbClr val="014225"/>
                </a:solidFill>
                <a:latin typeface="Nunito Sans"/>
                <a:ea typeface="Nunito Sans"/>
                <a:cs typeface="Nunito Sans"/>
                <a:sym typeface="Nunito Sans"/>
              </a:rPr>
              <a:t> và phân tích từ nhiều góc nhìn.</a:t>
            </a:r>
          </a:p>
          <a:p>
            <a:pPr algn="l" marL="1416303" indent="-472101" lvl="2">
              <a:lnSpc>
                <a:spcPts val="4591"/>
              </a:lnSpc>
              <a:buFont typeface="Arial"/>
              <a:buChar char="⚬"/>
            </a:pPr>
            <a:r>
              <a:rPr lang="en-US" sz="3279">
                <a:solidFill>
                  <a:srgbClr val="014225"/>
                </a:solidFill>
                <a:latin typeface="Nunito Sans"/>
                <a:ea typeface="Nunito Sans"/>
                <a:cs typeface="Nunito Sans"/>
                <a:sym typeface="Nunito Sans"/>
              </a:rPr>
              <a:t>Kết hợp dữ liệu đa phương tiện</a:t>
            </a:r>
          </a:p>
          <a:p>
            <a:pPr algn="l" marL="1416303" indent="-472101" lvl="2">
              <a:lnSpc>
                <a:spcPts val="4591"/>
              </a:lnSpc>
              <a:spcBef>
                <a:spcPct val="0"/>
              </a:spcBef>
              <a:buFont typeface="Arial"/>
              <a:buChar char="⚬"/>
            </a:pPr>
            <a:r>
              <a:rPr lang="en-US" sz="3279">
                <a:solidFill>
                  <a:srgbClr val="014225"/>
                </a:solidFill>
                <a:latin typeface="Nunito Sans"/>
                <a:ea typeface="Nunito Sans"/>
                <a:cs typeface="Nunito Sans"/>
                <a:sym typeface="Nunito Sans"/>
              </a:rPr>
              <a:t>P</a:t>
            </a:r>
            <a:r>
              <a:rPr lang="en-US" sz="3279">
                <a:solidFill>
                  <a:srgbClr val="014225"/>
                </a:solidFill>
                <a:latin typeface="Nunito Sans"/>
                <a:ea typeface="Nunito Sans"/>
                <a:cs typeface="Nunito Sans"/>
                <a:sym typeface="Nunito Sans"/>
              </a:rPr>
              <a:t>hong phú quá trình đánh giá, giúp hiểu rõ động thái thị</a:t>
            </a:r>
            <a:r>
              <a:rPr lang="en-US" sz="3279">
                <a:solidFill>
                  <a:srgbClr val="014225"/>
                </a:solidFill>
                <a:latin typeface="Nunito Sans"/>
                <a:ea typeface="Nunito Sans"/>
                <a:cs typeface="Nunito Sans"/>
                <a:sym typeface="Nunito Sans"/>
              </a:rPr>
              <a:t> trường.</a:t>
            </a:r>
          </a:p>
          <a:p>
            <a:pPr algn="l">
              <a:lnSpc>
                <a:spcPts val="4591"/>
              </a:lnSpc>
              <a:spcBef>
                <a:spcPct val="0"/>
              </a:spcBef>
            </a:pPr>
          </a:p>
          <a:p>
            <a:pPr algn="l" marL="708151" indent="-354076" lvl="1">
              <a:lnSpc>
                <a:spcPts val="4591"/>
              </a:lnSpc>
              <a:spcBef>
                <a:spcPct val="0"/>
              </a:spcBef>
              <a:buFont typeface="Arial"/>
              <a:buChar char="•"/>
            </a:pPr>
            <a:r>
              <a:rPr lang="en-US" b="true" sz="3279">
                <a:solidFill>
                  <a:srgbClr val="014225"/>
                </a:solidFill>
                <a:latin typeface="Nunito Sans Bold"/>
                <a:ea typeface="Nunito Sans Bold"/>
                <a:cs typeface="Nunito Sans Bold"/>
                <a:sym typeface="Nunito Sans Bold"/>
              </a:rPr>
              <a:t>Multi-agent system</a:t>
            </a:r>
            <a:r>
              <a:rPr lang="en-US" b="true" sz="3279">
                <a:solidFill>
                  <a:srgbClr val="014225"/>
                </a:solidFill>
                <a:latin typeface="Nunito Sans Bold"/>
                <a:ea typeface="Nunito Sans Bold"/>
                <a:cs typeface="Nunito Sans Bold"/>
                <a:sym typeface="Nunito Sans Bold"/>
              </a:rPr>
              <a:t>:</a:t>
            </a:r>
          </a:p>
          <a:p>
            <a:pPr algn="l" marL="1416303" indent="-472101" lvl="2">
              <a:lnSpc>
                <a:spcPts val="4591"/>
              </a:lnSpc>
              <a:spcBef>
                <a:spcPct val="0"/>
              </a:spcBef>
              <a:buFont typeface="Arial"/>
              <a:buChar char="⚬"/>
            </a:pPr>
            <a:r>
              <a:rPr lang="en-US" sz="3279">
                <a:solidFill>
                  <a:srgbClr val="014225"/>
                </a:solidFill>
                <a:latin typeface="Nunito Sans"/>
                <a:ea typeface="Nunito Sans"/>
                <a:cs typeface="Nunito Sans"/>
                <a:sym typeface="Nunito Sans"/>
              </a:rPr>
              <a:t> Nhiều tác nhân với tiêu chí riêng biệt cùng </a:t>
            </a:r>
            <a:r>
              <a:rPr lang="en-US" b="true" sz="3279">
                <a:solidFill>
                  <a:srgbClr val="014225"/>
                </a:solidFill>
                <a:latin typeface="Nunito Sans Bold"/>
                <a:ea typeface="Nunito Sans Bold"/>
                <a:cs typeface="Nunito Sans Bold"/>
                <a:sym typeface="Nunito Sans Bold"/>
              </a:rPr>
              <a:t>chấm điểm Alpha theo chỉ số rủi ro</a:t>
            </a:r>
          </a:p>
          <a:p>
            <a:pPr algn="l" marL="1416303" indent="-472101" lvl="2">
              <a:lnSpc>
                <a:spcPts val="4591"/>
              </a:lnSpc>
              <a:spcBef>
                <a:spcPct val="0"/>
              </a:spcBef>
              <a:buFont typeface="Arial"/>
              <a:buChar char="⚬"/>
            </a:pPr>
            <a:r>
              <a:rPr lang="en-US" sz="3279">
                <a:solidFill>
                  <a:srgbClr val="014225"/>
                </a:solidFill>
                <a:latin typeface="Nunito Sans"/>
                <a:ea typeface="Nunito Sans"/>
                <a:cs typeface="Nunito Sans"/>
                <a:sym typeface="Nunito Sans"/>
              </a:rPr>
              <a:t>→ Đảm bảo độ tin cậy do nhiều agent có nhiều khẩu vị rủi ro khác nhau.</a:t>
            </a:r>
          </a:p>
          <a:p>
            <a:pPr algn="l">
              <a:lnSpc>
                <a:spcPts val="4591"/>
              </a:lnSpc>
              <a:spcBef>
                <a:spcPct val="0"/>
              </a:spcBef>
            </a:pPr>
          </a:p>
        </p:txBody>
      </p:sp>
      <p:sp>
        <p:nvSpPr>
          <p:cNvPr name="TextBox 3" id="3"/>
          <p:cNvSpPr txBox="true"/>
          <p:nvPr/>
        </p:nvSpPr>
        <p:spPr>
          <a:xfrm rot="0">
            <a:off x="8433" y="7026"/>
            <a:ext cx="17978653" cy="2539362"/>
          </a:xfrm>
          <a:prstGeom prst="rect">
            <a:avLst/>
          </a:prstGeom>
        </p:spPr>
        <p:txBody>
          <a:bodyPr anchor="t" rtlCol="false" tIns="0" lIns="0" bIns="0" rIns="0">
            <a:spAutoFit/>
          </a:bodyPr>
          <a:lstStyle/>
          <a:p>
            <a:pPr algn="ctr" marL="0" indent="0" lvl="0">
              <a:lnSpc>
                <a:spcPts val="10185"/>
              </a:lnSpc>
              <a:spcBef>
                <a:spcPct val="0"/>
              </a:spcBef>
            </a:pPr>
            <a:r>
              <a:rPr lang="en-US" sz="7275">
                <a:solidFill>
                  <a:srgbClr val="014225"/>
                </a:solidFill>
                <a:latin typeface="Lazydog"/>
                <a:ea typeface="Lazydog"/>
                <a:cs typeface="Lazydog"/>
                <a:sym typeface="Lazydog"/>
              </a:rPr>
              <a:t>4.3 Multimodal &amp; multi-Agent Evaluate Alpha set</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874314" y="2775616"/>
            <a:ext cx="10246892" cy="6868382"/>
          </a:xfrm>
          <a:custGeom>
            <a:avLst/>
            <a:gdLst/>
            <a:ahLst/>
            <a:cxnLst/>
            <a:rect r="r" b="b" t="t" l="l"/>
            <a:pathLst>
              <a:path h="6868382" w="10246892">
                <a:moveTo>
                  <a:pt x="0" y="0"/>
                </a:moveTo>
                <a:lnTo>
                  <a:pt x="10246892" y="0"/>
                </a:lnTo>
                <a:lnTo>
                  <a:pt x="10246892" y="6868382"/>
                </a:lnTo>
                <a:lnTo>
                  <a:pt x="0" y="6868382"/>
                </a:lnTo>
                <a:lnTo>
                  <a:pt x="0" y="0"/>
                </a:lnTo>
                <a:close/>
              </a:path>
            </a:pathLst>
          </a:custGeom>
          <a:blipFill>
            <a:blip r:embed="rId2"/>
            <a:stretch>
              <a:fillRect l="0" t="0" r="0" b="-4192"/>
            </a:stretch>
          </a:blipFill>
        </p:spPr>
      </p:sp>
      <p:sp>
        <p:nvSpPr>
          <p:cNvPr name="TextBox 3" id="3"/>
          <p:cNvSpPr txBox="true"/>
          <p:nvPr/>
        </p:nvSpPr>
        <p:spPr>
          <a:xfrm rot="0">
            <a:off x="8433" y="7026"/>
            <a:ext cx="17978653" cy="2539362"/>
          </a:xfrm>
          <a:prstGeom prst="rect">
            <a:avLst/>
          </a:prstGeom>
        </p:spPr>
        <p:txBody>
          <a:bodyPr anchor="t" rtlCol="false" tIns="0" lIns="0" bIns="0" rIns="0">
            <a:spAutoFit/>
          </a:bodyPr>
          <a:lstStyle/>
          <a:p>
            <a:pPr algn="ctr" marL="0" indent="0" lvl="0">
              <a:lnSpc>
                <a:spcPts val="10185"/>
              </a:lnSpc>
              <a:spcBef>
                <a:spcPct val="0"/>
              </a:spcBef>
            </a:pPr>
            <a:r>
              <a:rPr lang="en-US" sz="7275">
                <a:solidFill>
                  <a:srgbClr val="014225"/>
                </a:solidFill>
                <a:latin typeface="Lazydog"/>
                <a:ea typeface="Lazydog"/>
                <a:cs typeface="Lazydog"/>
                <a:sym typeface="Lazydog"/>
              </a:rPr>
              <a:t>4.3 Multimodal &amp; multi-Agent Evaluate Alpha set</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076592" y="7233239"/>
            <a:ext cx="3211412" cy="3053761"/>
          </a:xfrm>
          <a:custGeom>
            <a:avLst/>
            <a:gdLst/>
            <a:ahLst/>
            <a:cxnLst/>
            <a:rect r="r" b="b" t="t" l="l"/>
            <a:pathLst>
              <a:path h="3053761" w="3211412">
                <a:moveTo>
                  <a:pt x="0" y="0"/>
                </a:moveTo>
                <a:lnTo>
                  <a:pt x="3211412" y="0"/>
                </a:lnTo>
                <a:lnTo>
                  <a:pt x="3211412" y="3053761"/>
                </a:lnTo>
                <a:lnTo>
                  <a:pt x="0" y="30537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433" y="7233239"/>
            <a:ext cx="2952917" cy="2931441"/>
          </a:xfrm>
          <a:custGeom>
            <a:avLst/>
            <a:gdLst/>
            <a:ahLst/>
            <a:cxnLst/>
            <a:rect r="r" b="b" t="t" l="l"/>
            <a:pathLst>
              <a:path h="2931441" w="2952917">
                <a:moveTo>
                  <a:pt x="0" y="0"/>
                </a:moveTo>
                <a:lnTo>
                  <a:pt x="2952917" y="0"/>
                </a:lnTo>
                <a:lnTo>
                  <a:pt x="2952917" y="2931441"/>
                </a:lnTo>
                <a:lnTo>
                  <a:pt x="0" y="293144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454640" y="2840732"/>
            <a:ext cx="17378719" cy="4622038"/>
          </a:xfrm>
          <a:prstGeom prst="rect">
            <a:avLst/>
          </a:prstGeom>
        </p:spPr>
        <p:txBody>
          <a:bodyPr anchor="t" rtlCol="false" tIns="0" lIns="0" bIns="0" rIns="0">
            <a:spAutoFit/>
          </a:bodyPr>
          <a:lstStyle/>
          <a:p>
            <a:pPr algn="l" marL="708151" indent="-354076" lvl="1">
              <a:lnSpc>
                <a:spcPts val="4591"/>
              </a:lnSpc>
              <a:buFont typeface="Arial"/>
              <a:buChar char="•"/>
            </a:pPr>
            <a:r>
              <a:rPr lang="en-US" sz="3279">
                <a:solidFill>
                  <a:srgbClr val="014225"/>
                </a:solidFill>
                <a:latin typeface="Nunito Sans"/>
                <a:ea typeface="Nunito Sans"/>
                <a:cs typeface="Nunito Sans"/>
                <a:sym typeface="Nunito Sans"/>
              </a:rPr>
              <a:t>Tự động hó</a:t>
            </a:r>
            <a:r>
              <a:rPr lang="en-US" sz="3279">
                <a:solidFill>
                  <a:srgbClr val="014225"/>
                </a:solidFill>
                <a:latin typeface="Nunito Sans"/>
                <a:ea typeface="Nunito Sans"/>
                <a:cs typeface="Nunito Sans"/>
                <a:sym typeface="Nunito Sans"/>
              </a:rPr>
              <a:t>a tìm selected alphas:</a:t>
            </a:r>
          </a:p>
          <a:p>
            <a:pPr algn="l" marL="1416303" indent="-472101" lvl="2">
              <a:lnSpc>
                <a:spcPts val="4591"/>
              </a:lnSpc>
              <a:spcBef>
                <a:spcPct val="0"/>
              </a:spcBef>
              <a:buFont typeface="Arial"/>
              <a:buChar char="⚬"/>
            </a:pPr>
            <a:r>
              <a:rPr lang="en-US" sz="3279">
                <a:solidFill>
                  <a:srgbClr val="014225"/>
                </a:solidFill>
                <a:latin typeface="Nunito Sans"/>
                <a:ea typeface="Nunito Sans"/>
                <a:cs typeface="Nunito Sans"/>
                <a:sym typeface="Nunito Sans"/>
              </a:rPr>
              <a:t> Sử dụng thuật toán Category-Based Alpha Selection</a:t>
            </a:r>
            <a:r>
              <a:rPr lang="en-US" sz="3279">
                <a:solidFill>
                  <a:srgbClr val="014225"/>
                </a:solidFill>
                <a:latin typeface="Nunito Sans"/>
                <a:ea typeface="Nunito Sans"/>
                <a:cs typeface="Nunito Sans"/>
                <a:sym typeface="Nunito Sans"/>
              </a:rPr>
              <a:t> và hàm SelectBes</a:t>
            </a:r>
            <a:r>
              <a:rPr lang="en-US" sz="3279">
                <a:solidFill>
                  <a:srgbClr val="014225"/>
                </a:solidFill>
                <a:latin typeface="Nunito Sans"/>
                <a:ea typeface="Nunito Sans"/>
                <a:cs typeface="Nunito Sans"/>
                <a:sym typeface="Nunito Sans"/>
              </a:rPr>
              <a:t>tAlphas để xác định bộ Alpha vượt ng</a:t>
            </a:r>
            <a:r>
              <a:rPr lang="en-US" sz="3279">
                <a:solidFill>
                  <a:srgbClr val="014225"/>
                </a:solidFill>
                <a:latin typeface="Nunito Sans"/>
                <a:ea typeface="Nunito Sans"/>
                <a:cs typeface="Nunito Sans"/>
                <a:sym typeface="Nunito Sans"/>
              </a:rPr>
              <a:t>ưỡng điểm tin cậy.</a:t>
            </a:r>
          </a:p>
          <a:p>
            <a:pPr algn="l">
              <a:lnSpc>
                <a:spcPts val="4591"/>
              </a:lnSpc>
              <a:spcBef>
                <a:spcPct val="0"/>
              </a:spcBef>
            </a:pPr>
          </a:p>
          <a:p>
            <a:pPr algn="l" marL="708151" indent="-354076" lvl="1">
              <a:lnSpc>
                <a:spcPts val="4591"/>
              </a:lnSpc>
              <a:spcBef>
                <a:spcPct val="0"/>
              </a:spcBef>
              <a:buFont typeface="Arial"/>
              <a:buChar char="•"/>
            </a:pPr>
            <a:r>
              <a:rPr lang="en-US" sz="3279">
                <a:solidFill>
                  <a:srgbClr val="014225"/>
                </a:solidFill>
                <a:latin typeface="Nunito Sans"/>
                <a:ea typeface="Nunito Sans"/>
                <a:cs typeface="Nunito Sans"/>
                <a:sym typeface="Nunito Sans"/>
              </a:rPr>
              <a:t>Kết quả</a:t>
            </a:r>
            <a:r>
              <a:rPr lang="en-US" sz="3279">
                <a:solidFill>
                  <a:srgbClr val="014225"/>
                </a:solidFill>
                <a:latin typeface="Nunito Sans"/>
                <a:ea typeface="Nunito Sans"/>
                <a:cs typeface="Nunito Sans"/>
                <a:sym typeface="Nunito Sans"/>
              </a:rPr>
              <a:t>:</a:t>
            </a:r>
          </a:p>
          <a:p>
            <a:pPr algn="l" marL="1416303" indent="-472101" lvl="2">
              <a:lnSpc>
                <a:spcPts val="4591"/>
              </a:lnSpc>
              <a:spcBef>
                <a:spcPct val="0"/>
              </a:spcBef>
              <a:buFont typeface="Arial"/>
              <a:buChar char="⚬"/>
            </a:pPr>
            <a:r>
              <a:rPr lang="en-US" sz="3279">
                <a:solidFill>
                  <a:srgbClr val="014225"/>
                </a:solidFill>
                <a:latin typeface="Nunito Sans"/>
                <a:ea typeface="Nunito Sans"/>
                <a:cs typeface="Nunito Sans"/>
                <a:sym typeface="Nunito Sans"/>
              </a:rPr>
              <a:t> Bộ Alpha có tiềm năng nhất, làm nền tảng cho chiến lược đầu tư</a:t>
            </a:r>
            <a:r>
              <a:rPr lang="en-US" sz="3279">
                <a:solidFill>
                  <a:srgbClr val="014225"/>
                </a:solidFill>
                <a:latin typeface="Nunito Sans"/>
                <a:ea typeface="Nunito Sans"/>
                <a:cs typeface="Nunito Sans"/>
                <a:sym typeface="Nunito Sans"/>
              </a:rPr>
              <a:t> thích</a:t>
            </a:r>
            <a:r>
              <a:rPr lang="en-US" sz="3279">
                <a:solidFill>
                  <a:srgbClr val="014225"/>
                </a:solidFill>
                <a:latin typeface="Nunito Sans"/>
                <a:ea typeface="Nunito Sans"/>
                <a:cs typeface="Nunito Sans"/>
                <a:sym typeface="Nunito Sans"/>
              </a:rPr>
              <a:t> ứng với thị trường </a:t>
            </a:r>
            <a:r>
              <a:rPr lang="en-US" sz="3279">
                <a:solidFill>
                  <a:srgbClr val="014225"/>
                </a:solidFill>
                <a:latin typeface="Nunito Sans"/>
                <a:ea typeface="Nunito Sans"/>
                <a:cs typeface="Nunito Sans"/>
                <a:sym typeface="Nunito Sans"/>
              </a:rPr>
              <a:t>thay</a:t>
            </a:r>
            <a:r>
              <a:rPr lang="en-US" sz="3279">
                <a:solidFill>
                  <a:srgbClr val="014225"/>
                </a:solidFill>
                <a:latin typeface="Nunito Sans"/>
                <a:ea typeface="Nunito Sans"/>
                <a:cs typeface="Nunito Sans"/>
                <a:sym typeface="Nunito Sans"/>
              </a:rPr>
              <a:t> đổi.</a:t>
            </a:r>
          </a:p>
          <a:p>
            <a:pPr algn="l">
              <a:lnSpc>
                <a:spcPts val="4591"/>
              </a:lnSpc>
              <a:spcBef>
                <a:spcPct val="0"/>
              </a:spcBef>
            </a:pPr>
          </a:p>
        </p:txBody>
      </p:sp>
      <p:sp>
        <p:nvSpPr>
          <p:cNvPr name="TextBox 5" id="5"/>
          <p:cNvSpPr txBox="true"/>
          <p:nvPr/>
        </p:nvSpPr>
        <p:spPr>
          <a:xfrm rot="0">
            <a:off x="8433" y="7026"/>
            <a:ext cx="17978653" cy="2539362"/>
          </a:xfrm>
          <a:prstGeom prst="rect">
            <a:avLst/>
          </a:prstGeom>
        </p:spPr>
        <p:txBody>
          <a:bodyPr anchor="t" rtlCol="false" tIns="0" lIns="0" bIns="0" rIns="0">
            <a:spAutoFit/>
          </a:bodyPr>
          <a:lstStyle/>
          <a:p>
            <a:pPr algn="ctr" marL="0" indent="0" lvl="0">
              <a:lnSpc>
                <a:spcPts val="10185"/>
              </a:lnSpc>
              <a:spcBef>
                <a:spcPct val="0"/>
              </a:spcBef>
            </a:pPr>
            <a:r>
              <a:rPr lang="en-US" sz="7275">
                <a:solidFill>
                  <a:srgbClr val="014225"/>
                </a:solidFill>
                <a:latin typeface="Lazydog"/>
                <a:ea typeface="Lazydog"/>
                <a:cs typeface="Lazydog"/>
                <a:sym typeface="Lazydog"/>
              </a:rPr>
              <a:t>4.3 Multimodal &amp; multi-Agent Evaluate Alpha set</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846493" y="2708833"/>
            <a:ext cx="12595014" cy="7242133"/>
          </a:xfrm>
          <a:custGeom>
            <a:avLst/>
            <a:gdLst/>
            <a:ahLst/>
            <a:cxnLst/>
            <a:rect r="r" b="b" t="t" l="l"/>
            <a:pathLst>
              <a:path h="7242133" w="12595014">
                <a:moveTo>
                  <a:pt x="0" y="0"/>
                </a:moveTo>
                <a:lnTo>
                  <a:pt x="12595014" y="0"/>
                </a:lnTo>
                <a:lnTo>
                  <a:pt x="12595014" y="7242133"/>
                </a:lnTo>
                <a:lnTo>
                  <a:pt x="0" y="7242133"/>
                </a:lnTo>
                <a:lnTo>
                  <a:pt x="0" y="0"/>
                </a:lnTo>
                <a:close/>
              </a:path>
            </a:pathLst>
          </a:custGeom>
          <a:blipFill>
            <a:blip r:embed="rId2"/>
            <a:stretch>
              <a:fillRect l="0" t="0" r="0" b="0"/>
            </a:stretch>
          </a:blipFill>
        </p:spPr>
      </p:sp>
      <p:sp>
        <p:nvSpPr>
          <p:cNvPr name="TextBox 3" id="3"/>
          <p:cNvSpPr txBox="true"/>
          <p:nvPr/>
        </p:nvSpPr>
        <p:spPr>
          <a:xfrm rot="0">
            <a:off x="8433" y="7026"/>
            <a:ext cx="17978653" cy="2539362"/>
          </a:xfrm>
          <a:prstGeom prst="rect">
            <a:avLst/>
          </a:prstGeom>
        </p:spPr>
        <p:txBody>
          <a:bodyPr anchor="t" rtlCol="false" tIns="0" lIns="0" bIns="0" rIns="0">
            <a:spAutoFit/>
          </a:bodyPr>
          <a:lstStyle/>
          <a:p>
            <a:pPr algn="ctr" marL="0" indent="0" lvl="0">
              <a:lnSpc>
                <a:spcPts val="10185"/>
              </a:lnSpc>
              <a:spcBef>
                <a:spcPct val="0"/>
              </a:spcBef>
            </a:pPr>
            <a:r>
              <a:rPr lang="en-US" sz="7275">
                <a:solidFill>
                  <a:srgbClr val="014225"/>
                </a:solidFill>
                <a:latin typeface="Lazydog"/>
                <a:ea typeface="Lazydog"/>
                <a:cs typeface="Lazydog"/>
                <a:sym typeface="Lazydog"/>
              </a:rPr>
              <a:t>4.3 Multimodal &amp; multi-Agent Evaluate Alpha set</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209969" y="2298790"/>
            <a:ext cx="6049331" cy="6049331"/>
          </a:xfrm>
          <a:custGeom>
            <a:avLst/>
            <a:gdLst/>
            <a:ahLst/>
            <a:cxnLst/>
            <a:rect r="r" b="b" t="t" l="l"/>
            <a:pathLst>
              <a:path h="6049331" w="6049331">
                <a:moveTo>
                  <a:pt x="0" y="0"/>
                </a:moveTo>
                <a:lnTo>
                  <a:pt x="6049331" y="0"/>
                </a:lnTo>
                <a:lnTo>
                  <a:pt x="6049331" y="6049331"/>
                </a:lnTo>
                <a:lnTo>
                  <a:pt x="0" y="6049331"/>
                </a:lnTo>
                <a:lnTo>
                  <a:pt x="0" y="0"/>
                </a:lnTo>
                <a:close/>
              </a:path>
            </a:pathLst>
          </a:custGeom>
          <a:blipFill>
            <a:blip r:embed="rId2"/>
            <a:stretch>
              <a:fillRect l="0" t="0" r="0" b="0"/>
            </a:stretch>
          </a:blipFill>
        </p:spPr>
      </p:sp>
      <p:sp>
        <p:nvSpPr>
          <p:cNvPr name="TextBox 3" id="3"/>
          <p:cNvSpPr txBox="true"/>
          <p:nvPr/>
        </p:nvSpPr>
        <p:spPr>
          <a:xfrm rot="0">
            <a:off x="8429" y="313318"/>
            <a:ext cx="18279571" cy="1278363"/>
          </a:xfrm>
          <a:prstGeom prst="rect">
            <a:avLst/>
          </a:prstGeom>
        </p:spPr>
        <p:txBody>
          <a:bodyPr anchor="t" rtlCol="false" tIns="0" lIns="0" bIns="0" rIns="0">
            <a:spAutoFit/>
          </a:bodyPr>
          <a:lstStyle/>
          <a:p>
            <a:pPr algn="ctr" marL="0" indent="0" lvl="0">
              <a:lnSpc>
                <a:spcPts val="10355"/>
              </a:lnSpc>
              <a:spcBef>
                <a:spcPct val="0"/>
              </a:spcBef>
            </a:pPr>
            <a:r>
              <a:rPr lang="en-US" sz="7396">
                <a:solidFill>
                  <a:srgbClr val="014225"/>
                </a:solidFill>
                <a:latin typeface="Lazydog"/>
                <a:ea typeface="Lazydog"/>
                <a:cs typeface="Lazydog"/>
                <a:sym typeface="Lazydog"/>
              </a:rPr>
              <a:t>4.4 Optimal Weight alpha strategy</a:t>
            </a:r>
          </a:p>
        </p:txBody>
      </p:sp>
      <p:sp>
        <p:nvSpPr>
          <p:cNvPr name="TextBox 4" id="4"/>
          <p:cNvSpPr txBox="true"/>
          <p:nvPr/>
        </p:nvSpPr>
        <p:spPr>
          <a:xfrm rot="0">
            <a:off x="619710" y="2412070"/>
            <a:ext cx="8887731" cy="6398488"/>
          </a:xfrm>
          <a:prstGeom prst="rect">
            <a:avLst/>
          </a:prstGeom>
        </p:spPr>
        <p:txBody>
          <a:bodyPr anchor="t" rtlCol="false" tIns="0" lIns="0" bIns="0" rIns="0">
            <a:spAutoFit/>
          </a:bodyPr>
          <a:lstStyle/>
          <a:p>
            <a:pPr algn="l" marL="782946" indent="-391473" lvl="1">
              <a:lnSpc>
                <a:spcPts val="5076"/>
              </a:lnSpc>
              <a:buFont typeface="Arial"/>
              <a:buChar char="•"/>
            </a:pPr>
            <a:r>
              <a:rPr lang="en-US" sz="3626">
                <a:solidFill>
                  <a:srgbClr val="014225"/>
                </a:solidFill>
                <a:latin typeface="Nunito Sans"/>
                <a:ea typeface="Nunito Sans"/>
                <a:cs typeface="Nunito Sans"/>
                <a:sym typeface="Nunito Sans"/>
              </a:rPr>
              <a:t>Công cụ</a:t>
            </a:r>
            <a:r>
              <a:rPr lang="en-US" sz="3626">
                <a:solidFill>
                  <a:srgbClr val="014225"/>
                </a:solidFill>
                <a:latin typeface="Nunito Sans"/>
                <a:ea typeface="Nunito Sans"/>
                <a:cs typeface="Nunito Sans"/>
                <a:sym typeface="Nunito Sans"/>
              </a:rPr>
              <a:t> sử dụng:</a:t>
            </a:r>
          </a:p>
          <a:p>
            <a:pPr algn="l" marL="1565892" indent="-521964" lvl="2">
              <a:lnSpc>
                <a:spcPts val="5076"/>
              </a:lnSpc>
              <a:buFont typeface="Arial"/>
              <a:buChar char="⚬"/>
            </a:pPr>
            <a:r>
              <a:rPr lang="en-US" sz="3626">
                <a:solidFill>
                  <a:srgbClr val="014225"/>
                </a:solidFill>
                <a:latin typeface="Nunito Sans"/>
                <a:ea typeface="Nunito Sans"/>
                <a:cs typeface="Nunito Sans"/>
                <a:sym typeface="Nunito Sans"/>
              </a:rPr>
              <a:t>Mạng Nơ-ron</a:t>
            </a:r>
            <a:r>
              <a:rPr lang="en-US" sz="3626">
                <a:solidFill>
                  <a:srgbClr val="014225"/>
                </a:solidFill>
                <a:latin typeface="Nunito Sans"/>
                <a:ea typeface="Nunito Sans"/>
                <a:cs typeface="Nunito Sans"/>
                <a:sym typeface="Nunito Sans"/>
              </a:rPr>
              <a:t> Sâu (DNN) được dùng để dự đoán lợi suất tương lai từ giá trị alpha.</a:t>
            </a:r>
          </a:p>
          <a:p>
            <a:pPr algn="l" marL="782946" indent="-391473" lvl="1">
              <a:lnSpc>
                <a:spcPts val="5076"/>
              </a:lnSpc>
              <a:buFont typeface="Arial"/>
              <a:buChar char="•"/>
            </a:pPr>
            <a:r>
              <a:rPr lang="en-US" sz="3626">
                <a:solidFill>
                  <a:srgbClr val="014225"/>
                </a:solidFill>
                <a:latin typeface="Nunito Sans"/>
                <a:ea typeface="Nunito Sans"/>
                <a:cs typeface="Nunito Sans"/>
                <a:sym typeface="Nunito Sans"/>
              </a:rPr>
              <a:t>Cấu trúc mạng:</a:t>
            </a:r>
          </a:p>
          <a:p>
            <a:pPr algn="l" marL="1565892" indent="-521964" lvl="2">
              <a:lnSpc>
                <a:spcPts val="5076"/>
              </a:lnSpc>
              <a:buFont typeface="Arial"/>
              <a:buChar char="⚬"/>
            </a:pPr>
            <a:r>
              <a:rPr lang="en-US" sz="3626">
                <a:solidFill>
                  <a:srgbClr val="014225"/>
                </a:solidFill>
                <a:latin typeface="Nunito Sans"/>
                <a:ea typeface="Nunito Sans"/>
                <a:cs typeface="Nunito Sans"/>
                <a:sym typeface="Nunito Sans"/>
              </a:rPr>
              <a:t> Gồm 3 lớp: </a:t>
            </a:r>
          </a:p>
          <a:p>
            <a:pPr algn="l" marL="2348838" indent="-587209" lvl="3">
              <a:lnSpc>
                <a:spcPts val="5076"/>
              </a:lnSpc>
              <a:buFont typeface="Arial"/>
              <a:buChar char="￭"/>
            </a:pPr>
            <a:r>
              <a:rPr lang="en-US" sz="3626">
                <a:solidFill>
                  <a:srgbClr val="014225"/>
                </a:solidFill>
                <a:latin typeface="Nunito Sans"/>
                <a:ea typeface="Nunito Sans"/>
                <a:cs typeface="Nunito Sans"/>
                <a:sym typeface="Nunito Sans"/>
              </a:rPr>
              <a:t>đầu</a:t>
            </a:r>
            <a:r>
              <a:rPr lang="en-US" sz="3626">
                <a:solidFill>
                  <a:srgbClr val="014225"/>
                </a:solidFill>
                <a:latin typeface="Nunito Sans"/>
                <a:ea typeface="Nunito Sans"/>
                <a:cs typeface="Nunito Sans"/>
                <a:sym typeface="Nunito Sans"/>
              </a:rPr>
              <a:t> vào (nhận alpha)</a:t>
            </a:r>
          </a:p>
          <a:p>
            <a:pPr algn="l" marL="2348838" indent="-587209" lvl="3">
              <a:lnSpc>
                <a:spcPts val="5076"/>
              </a:lnSpc>
              <a:buFont typeface="Arial"/>
              <a:buChar char="￭"/>
            </a:pPr>
            <a:r>
              <a:rPr lang="en-US" sz="3626">
                <a:solidFill>
                  <a:srgbClr val="014225"/>
                </a:solidFill>
                <a:latin typeface="Nunito Sans"/>
                <a:ea typeface="Nunito Sans"/>
                <a:cs typeface="Nunito Sans"/>
                <a:sym typeface="Nunito Sans"/>
              </a:rPr>
              <a:t>lớp ẩn (10 nút, dùng ReLU)</a:t>
            </a:r>
          </a:p>
          <a:p>
            <a:pPr algn="l" marL="2348838" indent="-587209" lvl="3">
              <a:lnSpc>
                <a:spcPts val="5076"/>
              </a:lnSpc>
              <a:spcBef>
                <a:spcPct val="0"/>
              </a:spcBef>
              <a:buFont typeface="Arial"/>
              <a:buChar char="￭"/>
            </a:pPr>
            <a:r>
              <a:rPr lang="en-US" sz="3626">
                <a:solidFill>
                  <a:srgbClr val="014225"/>
                </a:solidFill>
                <a:latin typeface="Nunito Sans"/>
                <a:ea typeface="Nunito Sans"/>
                <a:cs typeface="Nunito Sans"/>
                <a:sym typeface="Nunito Sans"/>
              </a:rPr>
              <a:t>lớp đầu ra (dự đoán lợi suất)</a:t>
            </a:r>
          </a:p>
          <a:p>
            <a:pPr algn="l">
              <a:lnSpc>
                <a:spcPts val="5076"/>
              </a:lnSpc>
              <a:spcBef>
                <a:spcPct val="0"/>
              </a:spcBef>
            </a:pP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991330" y="2683693"/>
            <a:ext cx="8001541" cy="5524873"/>
          </a:xfrm>
          <a:custGeom>
            <a:avLst/>
            <a:gdLst/>
            <a:ahLst/>
            <a:cxnLst/>
            <a:rect r="r" b="b" t="t" l="l"/>
            <a:pathLst>
              <a:path h="5524873" w="8001541">
                <a:moveTo>
                  <a:pt x="0" y="0"/>
                </a:moveTo>
                <a:lnTo>
                  <a:pt x="8001541" y="0"/>
                </a:lnTo>
                <a:lnTo>
                  <a:pt x="8001541" y="5524873"/>
                </a:lnTo>
                <a:lnTo>
                  <a:pt x="0" y="5524873"/>
                </a:lnTo>
                <a:lnTo>
                  <a:pt x="0" y="0"/>
                </a:lnTo>
                <a:close/>
              </a:path>
            </a:pathLst>
          </a:custGeom>
          <a:blipFill>
            <a:blip r:embed="rId2"/>
            <a:stretch>
              <a:fillRect l="0" t="0" r="0" b="0"/>
            </a:stretch>
          </a:blipFill>
        </p:spPr>
      </p:sp>
      <p:sp>
        <p:nvSpPr>
          <p:cNvPr name="TextBox 3" id="3"/>
          <p:cNvSpPr txBox="true"/>
          <p:nvPr/>
        </p:nvSpPr>
        <p:spPr>
          <a:xfrm rot="0">
            <a:off x="573715" y="2626543"/>
            <a:ext cx="9038534" cy="5784088"/>
          </a:xfrm>
          <a:prstGeom prst="rect">
            <a:avLst/>
          </a:prstGeom>
        </p:spPr>
        <p:txBody>
          <a:bodyPr anchor="t" rtlCol="false" tIns="0" lIns="0" bIns="0" rIns="0">
            <a:spAutoFit/>
          </a:bodyPr>
          <a:lstStyle/>
          <a:p>
            <a:pPr algn="l" marL="708151" indent="-354076" lvl="1">
              <a:lnSpc>
                <a:spcPts val="4591"/>
              </a:lnSpc>
              <a:buFont typeface="Arial"/>
              <a:buChar char="•"/>
            </a:pPr>
            <a:r>
              <a:rPr lang="en-US" sz="3279">
                <a:solidFill>
                  <a:srgbClr val="014225"/>
                </a:solidFill>
                <a:latin typeface="Nunito Sans"/>
                <a:ea typeface="Nunito Sans"/>
                <a:cs typeface="Nunito Sans"/>
                <a:sym typeface="Nunito Sans"/>
              </a:rPr>
              <a:t>Quá trình huấn luyện:</a:t>
            </a:r>
          </a:p>
          <a:p>
            <a:pPr algn="l" marL="1416303" indent="-472101" lvl="2">
              <a:lnSpc>
                <a:spcPts val="4591"/>
              </a:lnSpc>
              <a:spcBef>
                <a:spcPct val="0"/>
              </a:spcBef>
              <a:buFont typeface="Arial"/>
              <a:buChar char="⚬"/>
            </a:pPr>
            <a:r>
              <a:rPr lang="en-US" sz="3279">
                <a:solidFill>
                  <a:srgbClr val="014225"/>
                </a:solidFill>
                <a:latin typeface="Nunito Sans"/>
                <a:ea typeface="Nunito Sans"/>
                <a:cs typeface="Nunito Sans"/>
                <a:sym typeface="Nunito Sans"/>
              </a:rPr>
              <a:t>Sử dụng backpropagation</a:t>
            </a:r>
            <a:r>
              <a:rPr lang="en-US" sz="3279">
                <a:solidFill>
                  <a:srgbClr val="014225"/>
                </a:solidFill>
                <a:latin typeface="Nunito Sans"/>
                <a:ea typeface="Nunito Sans"/>
                <a:cs typeface="Nunito Sans"/>
                <a:sym typeface="Nunito Sans"/>
              </a:rPr>
              <a:t> và gradient descent để tối ưu hoá trọng số</a:t>
            </a:r>
          </a:p>
          <a:p>
            <a:pPr algn="l" marL="1416303" indent="-472101" lvl="2">
              <a:lnSpc>
                <a:spcPts val="4591"/>
              </a:lnSpc>
              <a:spcBef>
                <a:spcPct val="0"/>
              </a:spcBef>
              <a:buFont typeface="Arial"/>
              <a:buChar char="⚬"/>
            </a:pPr>
            <a:r>
              <a:rPr lang="en-US" sz="3279">
                <a:solidFill>
                  <a:srgbClr val="014225"/>
                </a:solidFill>
                <a:latin typeface="Nunito Sans"/>
                <a:ea typeface="Nunito Sans"/>
                <a:cs typeface="Nunito Sans"/>
                <a:sym typeface="Nunito Sans"/>
              </a:rPr>
              <a:t>Tránh overfitting bằng cách dùng tập xác thực riêng biệt.</a:t>
            </a:r>
          </a:p>
          <a:p>
            <a:pPr algn="l" marL="708151" indent="-354076" lvl="1">
              <a:lnSpc>
                <a:spcPts val="4591"/>
              </a:lnSpc>
              <a:spcBef>
                <a:spcPct val="0"/>
              </a:spcBef>
              <a:buFont typeface="Arial"/>
              <a:buChar char="•"/>
            </a:pPr>
            <a:r>
              <a:rPr lang="en-US" sz="3279">
                <a:solidFill>
                  <a:srgbClr val="014225"/>
                </a:solidFill>
                <a:latin typeface="Nunito Sans"/>
                <a:ea typeface="Nunito Sans"/>
                <a:cs typeface="Nunito Sans"/>
                <a:sym typeface="Nunito Sans"/>
              </a:rPr>
              <a:t>Hiệu quả:</a:t>
            </a:r>
          </a:p>
          <a:p>
            <a:pPr algn="l" marL="1416303" indent="-472101" lvl="2">
              <a:lnSpc>
                <a:spcPts val="4591"/>
              </a:lnSpc>
              <a:spcBef>
                <a:spcPct val="0"/>
              </a:spcBef>
              <a:buFont typeface="Arial"/>
              <a:buChar char="⚬"/>
            </a:pPr>
            <a:r>
              <a:rPr lang="en-US" sz="3279">
                <a:solidFill>
                  <a:srgbClr val="014225"/>
                </a:solidFill>
                <a:latin typeface="Nunito Sans"/>
                <a:ea typeface="Nunito Sans"/>
                <a:cs typeface="Nunito Sans"/>
                <a:sym typeface="Nunito Sans"/>
              </a:rPr>
              <a:t> Thiết lập nền tảng vững chắc cho chiến lược đầu tư</a:t>
            </a:r>
            <a:r>
              <a:rPr lang="en-US" sz="3279">
                <a:solidFill>
                  <a:srgbClr val="014225"/>
                </a:solidFill>
                <a:latin typeface="Nunito Sans"/>
                <a:ea typeface="Nunito Sans"/>
                <a:cs typeface="Nunito Sans"/>
                <a:sym typeface="Nunito Sans"/>
              </a:rPr>
              <a:t> chính</a:t>
            </a:r>
            <a:r>
              <a:rPr lang="en-US" sz="3279">
                <a:solidFill>
                  <a:srgbClr val="014225"/>
                </a:solidFill>
                <a:latin typeface="Nunito Sans"/>
                <a:ea typeface="Nunito Sans"/>
                <a:cs typeface="Nunito Sans"/>
                <a:sym typeface="Nunito Sans"/>
              </a:rPr>
              <a:t> xác và linh hoạt hơn nhờ tối ưu trọng số alp</a:t>
            </a:r>
            <a:r>
              <a:rPr lang="en-US" sz="3279">
                <a:solidFill>
                  <a:srgbClr val="014225"/>
                </a:solidFill>
                <a:latin typeface="Nunito Sans"/>
                <a:ea typeface="Nunito Sans"/>
                <a:cs typeface="Nunito Sans"/>
                <a:sym typeface="Nunito Sans"/>
              </a:rPr>
              <a:t>ha</a:t>
            </a:r>
            <a:r>
              <a:rPr lang="en-US" sz="3279">
                <a:solidFill>
                  <a:srgbClr val="014225"/>
                </a:solidFill>
                <a:latin typeface="Nunito Sans"/>
                <a:ea typeface="Nunito Sans"/>
                <a:cs typeface="Nunito Sans"/>
                <a:sym typeface="Nunito Sans"/>
              </a:rPr>
              <a:t>.</a:t>
            </a:r>
          </a:p>
          <a:p>
            <a:pPr algn="l">
              <a:lnSpc>
                <a:spcPts val="4591"/>
              </a:lnSpc>
              <a:spcBef>
                <a:spcPct val="0"/>
              </a:spcBef>
            </a:pPr>
          </a:p>
        </p:txBody>
      </p:sp>
      <p:sp>
        <p:nvSpPr>
          <p:cNvPr name="TextBox 4" id="4"/>
          <p:cNvSpPr txBox="true"/>
          <p:nvPr/>
        </p:nvSpPr>
        <p:spPr>
          <a:xfrm rot="0">
            <a:off x="8429" y="313318"/>
            <a:ext cx="18279571" cy="1278363"/>
          </a:xfrm>
          <a:prstGeom prst="rect">
            <a:avLst/>
          </a:prstGeom>
        </p:spPr>
        <p:txBody>
          <a:bodyPr anchor="t" rtlCol="false" tIns="0" lIns="0" bIns="0" rIns="0">
            <a:spAutoFit/>
          </a:bodyPr>
          <a:lstStyle/>
          <a:p>
            <a:pPr algn="ctr" marL="0" indent="0" lvl="0">
              <a:lnSpc>
                <a:spcPts val="10355"/>
              </a:lnSpc>
              <a:spcBef>
                <a:spcPct val="0"/>
              </a:spcBef>
            </a:pPr>
            <a:r>
              <a:rPr lang="en-US" sz="7396">
                <a:solidFill>
                  <a:srgbClr val="014225"/>
                </a:solidFill>
                <a:latin typeface="Lazydog"/>
                <a:ea typeface="Lazydog"/>
                <a:cs typeface="Lazydog"/>
                <a:sym typeface="Lazydog"/>
              </a:rPr>
              <a:t>4.4 Optimal Weight alpha strategy</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F4F4DC"/>
        </a:solidFill>
      </p:bgPr>
    </p:bg>
    <p:spTree>
      <p:nvGrpSpPr>
        <p:cNvPr id="1" name=""/>
        <p:cNvGrpSpPr/>
        <p:nvPr/>
      </p:nvGrpSpPr>
      <p:grpSpPr>
        <a:xfrm>
          <a:off x="0" y="0"/>
          <a:ext cx="0" cy="0"/>
          <a:chOff x="0" y="0"/>
          <a:chExt cx="0" cy="0"/>
        </a:xfrm>
      </p:grpSpPr>
      <p:grpSp>
        <p:nvGrpSpPr>
          <p:cNvPr name="Group 2" id="2"/>
          <p:cNvGrpSpPr/>
          <p:nvPr/>
        </p:nvGrpSpPr>
        <p:grpSpPr>
          <a:xfrm rot="0">
            <a:off x="-1506883" y="5758312"/>
            <a:ext cx="13831177" cy="1722919"/>
            <a:chOff x="0" y="0"/>
            <a:chExt cx="3642779" cy="453773"/>
          </a:xfrm>
        </p:grpSpPr>
        <p:sp>
          <p:nvSpPr>
            <p:cNvPr name="Freeform 3" id="3"/>
            <p:cNvSpPr/>
            <p:nvPr/>
          </p:nvSpPr>
          <p:spPr>
            <a:xfrm flipH="false" flipV="false" rot="0">
              <a:off x="0" y="0"/>
              <a:ext cx="3642779" cy="453773"/>
            </a:xfrm>
            <a:custGeom>
              <a:avLst/>
              <a:gdLst/>
              <a:ahLst/>
              <a:cxnLst/>
              <a:rect r="r" b="b" t="t" l="l"/>
              <a:pathLst>
                <a:path h="453773" w="3642779">
                  <a:moveTo>
                    <a:pt x="55974" y="0"/>
                  </a:moveTo>
                  <a:lnTo>
                    <a:pt x="3586805" y="0"/>
                  </a:lnTo>
                  <a:cubicBezTo>
                    <a:pt x="3617719" y="0"/>
                    <a:pt x="3642779" y="25061"/>
                    <a:pt x="3642779" y="55974"/>
                  </a:cubicBezTo>
                  <a:lnTo>
                    <a:pt x="3642779" y="397798"/>
                  </a:lnTo>
                  <a:cubicBezTo>
                    <a:pt x="3642779" y="428712"/>
                    <a:pt x="3617719" y="453773"/>
                    <a:pt x="3586805" y="453773"/>
                  </a:cubicBezTo>
                  <a:lnTo>
                    <a:pt x="55974" y="453773"/>
                  </a:lnTo>
                  <a:cubicBezTo>
                    <a:pt x="25061" y="453773"/>
                    <a:pt x="0" y="428712"/>
                    <a:pt x="0" y="397798"/>
                  </a:cubicBezTo>
                  <a:lnTo>
                    <a:pt x="0" y="55974"/>
                  </a:lnTo>
                  <a:cubicBezTo>
                    <a:pt x="0" y="25061"/>
                    <a:pt x="25061" y="0"/>
                    <a:pt x="55974" y="0"/>
                  </a:cubicBezTo>
                  <a:close/>
                </a:path>
              </a:pathLst>
            </a:custGeom>
            <a:solidFill>
              <a:srgbClr val="F9D56E"/>
            </a:solidFill>
          </p:spPr>
        </p:sp>
        <p:sp>
          <p:nvSpPr>
            <p:cNvPr name="TextBox 4" id="4"/>
            <p:cNvSpPr txBox="true"/>
            <p:nvPr/>
          </p:nvSpPr>
          <p:spPr>
            <a:xfrm>
              <a:off x="0" y="-47625"/>
              <a:ext cx="3642779" cy="501398"/>
            </a:xfrm>
            <a:prstGeom prst="rect">
              <a:avLst/>
            </a:prstGeom>
          </p:spPr>
          <p:txBody>
            <a:bodyPr anchor="ctr" rtlCol="false" tIns="50800" lIns="50800" bIns="50800" rIns="50800"/>
            <a:lstStyle/>
            <a:p>
              <a:pPr algn="ctr">
                <a:lnSpc>
                  <a:spcPts val="3693"/>
                </a:lnSpc>
              </a:pPr>
            </a:p>
          </p:txBody>
        </p:sp>
      </p:grpSp>
      <p:grpSp>
        <p:nvGrpSpPr>
          <p:cNvPr name="Group 5" id="5"/>
          <p:cNvGrpSpPr/>
          <p:nvPr/>
        </p:nvGrpSpPr>
        <p:grpSpPr>
          <a:xfrm rot="0">
            <a:off x="-2057400" y="2278953"/>
            <a:ext cx="14381694" cy="1626744"/>
            <a:chOff x="0" y="0"/>
            <a:chExt cx="3787771" cy="428443"/>
          </a:xfrm>
        </p:grpSpPr>
        <p:sp>
          <p:nvSpPr>
            <p:cNvPr name="Freeform 6" id="6"/>
            <p:cNvSpPr/>
            <p:nvPr/>
          </p:nvSpPr>
          <p:spPr>
            <a:xfrm flipH="false" flipV="false" rot="0">
              <a:off x="0" y="0"/>
              <a:ext cx="3787771" cy="428443"/>
            </a:xfrm>
            <a:custGeom>
              <a:avLst/>
              <a:gdLst/>
              <a:ahLst/>
              <a:cxnLst/>
              <a:rect r="r" b="b" t="t" l="l"/>
              <a:pathLst>
                <a:path h="428443" w="3787771">
                  <a:moveTo>
                    <a:pt x="53832" y="0"/>
                  </a:moveTo>
                  <a:lnTo>
                    <a:pt x="3733940" y="0"/>
                  </a:lnTo>
                  <a:cubicBezTo>
                    <a:pt x="3763670" y="0"/>
                    <a:pt x="3787771" y="24101"/>
                    <a:pt x="3787771" y="53832"/>
                  </a:cubicBezTo>
                  <a:lnTo>
                    <a:pt x="3787771" y="374611"/>
                  </a:lnTo>
                  <a:cubicBezTo>
                    <a:pt x="3787771" y="404341"/>
                    <a:pt x="3763670" y="428443"/>
                    <a:pt x="3733940" y="428443"/>
                  </a:cubicBezTo>
                  <a:lnTo>
                    <a:pt x="53832" y="428443"/>
                  </a:lnTo>
                  <a:cubicBezTo>
                    <a:pt x="24101" y="428443"/>
                    <a:pt x="0" y="404341"/>
                    <a:pt x="0" y="374611"/>
                  </a:cubicBezTo>
                  <a:lnTo>
                    <a:pt x="0" y="53832"/>
                  </a:lnTo>
                  <a:cubicBezTo>
                    <a:pt x="0" y="24101"/>
                    <a:pt x="24101" y="0"/>
                    <a:pt x="53832" y="0"/>
                  </a:cubicBezTo>
                  <a:close/>
                </a:path>
              </a:pathLst>
            </a:custGeom>
            <a:solidFill>
              <a:srgbClr val="F9D56E"/>
            </a:solidFill>
          </p:spPr>
        </p:sp>
        <p:sp>
          <p:nvSpPr>
            <p:cNvPr name="TextBox 7" id="7"/>
            <p:cNvSpPr txBox="true"/>
            <p:nvPr/>
          </p:nvSpPr>
          <p:spPr>
            <a:xfrm>
              <a:off x="0" y="-47625"/>
              <a:ext cx="3787771" cy="476068"/>
            </a:xfrm>
            <a:prstGeom prst="rect">
              <a:avLst/>
            </a:prstGeom>
          </p:spPr>
          <p:txBody>
            <a:bodyPr anchor="ctr" rtlCol="false" tIns="50800" lIns="50800" bIns="50800" rIns="50800"/>
            <a:lstStyle/>
            <a:p>
              <a:pPr algn="ctr">
                <a:lnSpc>
                  <a:spcPts val="3693"/>
                </a:lnSpc>
              </a:pPr>
            </a:p>
          </p:txBody>
        </p:sp>
      </p:grpSp>
      <p:grpSp>
        <p:nvGrpSpPr>
          <p:cNvPr name="Group 8" id="8"/>
          <p:cNvGrpSpPr/>
          <p:nvPr/>
        </p:nvGrpSpPr>
        <p:grpSpPr>
          <a:xfrm rot="0">
            <a:off x="-1782141" y="4029522"/>
            <a:ext cx="14106435" cy="1604966"/>
            <a:chOff x="0" y="0"/>
            <a:chExt cx="3715275" cy="422707"/>
          </a:xfrm>
        </p:grpSpPr>
        <p:sp>
          <p:nvSpPr>
            <p:cNvPr name="Freeform 9" id="9"/>
            <p:cNvSpPr/>
            <p:nvPr/>
          </p:nvSpPr>
          <p:spPr>
            <a:xfrm flipH="false" flipV="false" rot="0">
              <a:off x="0" y="0"/>
              <a:ext cx="3715275" cy="422707"/>
            </a:xfrm>
            <a:custGeom>
              <a:avLst/>
              <a:gdLst/>
              <a:ahLst/>
              <a:cxnLst/>
              <a:rect r="r" b="b" t="t" l="l"/>
              <a:pathLst>
                <a:path h="422707" w="3715275">
                  <a:moveTo>
                    <a:pt x="54882" y="0"/>
                  </a:moveTo>
                  <a:lnTo>
                    <a:pt x="3660393" y="0"/>
                  </a:lnTo>
                  <a:cubicBezTo>
                    <a:pt x="3690703" y="0"/>
                    <a:pt x="3715275" y="24572"/>
                    <a:pt x="3715275" y="54882"/>
                  </a:cubicBezTo>
                  <a:lnTo>
                    <a:pt x="3715275" y="367825"/>
                  </a:lnTo>
                  <a:cubicBezTo>
                    <a:pt x="3715275" y="398135"/>
                    <a:pt x="3690703" y="422707"/>
                    <a:pt x="3660393" y="422707"/>
                  </a:cubicBezTo>
                  <a:lnTo>
                    <a:pt x="54882" y="422707"/>
                  </a:lnTo>
                  <a:cubicBezTo>
                    <a:pt x="24572" y="422707"/>
                    <a:pt x="0" y="398135"/>
                    <a:pt x="0" y="367825"/>
                  </a:cubicBezTo>
                  <a:lnTo>
                    <a:pt x="0" y="54882"/>
                  </a:lnTo>
                  <a:cubicBezTo>
                    <a:pt x="0" y="24572"/>
                    <a:pt x="24572" y="0"/>
                    <a:pt x="54882" y="0"/>
                  </a:cubicBezTo>
                  <a:close/>
                </a:path>
              </a:pathLst>
            </a:custGeom>
            <a:solidFill>
              <a:srgbClr val="F9D56E"/>
            </a:solidFill>
          </p:spPr>
        </p:sp>
        <p:sp>
          <p:nvSpPr>
            <p:cNvPr name="TextBox 10" id="10"/>
            <p:cNvSpPr txBox="true"/>
            <p:nvPr/>
          </p:nvSpPr>
          <p:spPr>
            <a:xfrm>
              <a:off x="0" y="-47625"/>
              <a:ext cx="3715275" cy="470332"/>
            </a:xfrm>
            <a:prstGeom prst="rect">
              <a:avLst/>
            </a:prstGeom>
          </p:spPr>
          <p:txBody>
            <a:bodyPr anchor="ctr" rtlCol="false" tIns="50800" lIns="50800" bIns="50800" rIns="50800"/>
            <a:lstStyle/>
            <a:p>
              <a:pPr algn="ctr">
                <a:lnSpc>
                  <a:spcPts val="3693"/>
                </a:lnSpc>
              </a:pPr>
            </a:p>
          </p:txBody>
        </p:sp>
      </p:grpSp>
      <p:grpSp>
        <p:nvGrpSpPr>
          <p:cNvPr name="Group 11" id="11"/>
          <p:cNvGrpSpPr/>
          <p:nvPr/>
        </p:nvGrpSpPr>
        <p:grpSpPr>
          <a:xfrm rot="0">
            <a:off x="-1506883" y="7671731"/>
            <a:ext cx="13831177" cy="1722919"/>
            <a:chOff x="0" y="0"/>
            <a:chExt cx="3642779" cy="453773"/>
          </a:xfrm>
        </p:grpSpPr>
        <p:sp>
          <p:nvSpPr>
            <p:cNvPr name="Freeform 12" id="12"/>
            <p:cNvSpPr/>
            <p:nvPr/>
          </p:nvSpPr>
          <p:spPr>
            <a:xfrm flipH="false" flipV="false" rot="0">
              <a:off x="0" y="0"/>
              <a:ext cx="3642779" cy="453773"/>
            </a:xfrm>
            <a:custGeom>
              <a:avLst/>
              <a:gdLst/>
              <a:ahLst/>
              <a:cxnLst/>
              <a:rect r="r" b="b" t="t" l="l"/>
              <a:pathLst>
                <a:path h="453773" w="3642779">
                  <a:moveTo>
                    <a:pt x="55974" y="0"/>
                  </a:moveTo>
                  <a:lnTo>
                    <a:pt x="3586805" y="0"/>
                  </a:lnTo>
                  <a:cubicBezTo>
                    <a:pt x="3617719" y="0"/>
                    <a:pt x="3642779" y="25061"/>
                    <a:pt x="3642779" y="55974"/>
                  </a:cubicBezTo>
                  <a:lnTo>
                    <a:pt x="3642779" y="397798"/>
                  </a:lnTo>
                  <a:cubicBezTo>
                    <a:pt x="3642779" y="428712"/>
                    <a:pt x="3617719" y="453773"/>
                    <a:pt x="3586805" y="453773"/>
                  </a:cubicBezTo>
                  <a:lnTo>
                    <a:pt x="55974" y="453773"/>
                  </a:lnTo>
                  <a:cubicBezTo>
                    <a:pt x="25061" y="453773"/>
                    <a:pt x="0" y="428712"/>
                    <a:pt x="0" y="397798"/>
                  </a:cubicBezTo>
                  <a:lnTo>
                    <a:pt x="0" y="55974"/>
                  </a:lnTo>
                  <a:cubicBezTo>
                    <a:pt x="0" y="25061"/>
                    <a:pt x="25061" y="0"/>
                    <a:pt x="55974" y="0"/>
                  </a:cubicBezTo>
                  <a:close/>
                </a:path>
              </a:pathLst>
            </a:custGeom>
            <a:solidFill>
              <a:srgbClr val="F9D56E"/>
            </a:solidFill>
          </p:spPr>
        </p:sp>
        <p:sp>
          <p:nvSpPr>
            <p:cNvPr name="TextBox 13" id="13"/>
            <p:cNvSpPr txBox="true"/>
            <p:nvPr/>
          </p:nvSpPr>
          <p:spPr>
            <a:xfrm>
              <a:off x="0" y="-47625"/>
              <a:ext cx="3642779" cy="501398"/>
            </a:xfrm>
            <a:prstGeom prst="rect">
              <a:avLst/>
            </a:prstGeom>
          </p:spPr>
          <p:txBody>
            <a:bodyPr anchor="ctr" rtlCol="false" tIns="50800" lIns="50800" bIns="50800" rIns="50800"/>
            <a:lstStyle/>
            <a:p>
              <a:pPr algn="ctr">
                <a:lnSpc>
                  <a:spcPts val="3693"/>
                </a:lnSpc>
              </a:pPr>
            </a:p>
          </p:txBody>
        </p:sp>
      </p:grpSp>
      <p:sp>
        <p:nvSpPr>
          <p:cNvPr name="Freeform 14" id="14"/>
          <p:cNvSpPr/>
          <p:nvPr/>
        </p:nvSpPr>
        <p:spPr>
          <a:xfrm flipH="false" flipV="false" rot="0">
            <a:off x="13129482" y="3366431"/>
            <a:ext cx="4129818" cy="4114800"/>
          </a:xfrm>
          <a:custGeom>
            <a:avLst/>
            <a:gdLst/>
            <a:ahLst/>
            <a:cxnLst/>
            <a:rect r="r" b="b" t="t" l="l"/>
            <a:pathLst>
              <a:path h="4114800" w="4129818">
                <a:moveTo>
                  <a:pt x="0" y="0"/>
                </a:moveTo>
                <a:lnTo>
                  <a:pt x="4129818" y="0"/>
                </a:lnTo>
                <a:lnTo>
                  <a:pt x="412981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5" id="15"/>
          <p:cNvSpPr txBox="true"/>
          <p:nvPr/>
        </p:nvSpPr>
        <p:spPr>
          <a:xfrm rot="0">
            <a:off x="722735" y="2982115"/>
            <a:ext cx="11051042" cy="440347"/>
          </a:xfrm>
          <a:prstGeom prst="rect">
            <a:avLst/>
          </a:prstGeom>
        </p:spPr>
        <p:txBody>
          <a:bodyPr anchor="t" rtlCol="false" tIns="0" lIns="0" bIns="0" rIns="0">
            <a:spAutoFit/>
          </a:bodyPr>
          <a:lstStyle/>
          <a:p>
            <a:pPr algn="l" marL="548064" indent="-274032" lvl="1">
              <a:lnSpc>
                <a:spcPts val="3553"/>
              </a:lnSpc>
              <a:buFont typeface="Arial"/>
              <a:buChar char="•"/>
            </a:pPr>
            <a:r>
              <a:rPr lang="en-US" sz="2538">
                <a:solidFill>
                  <a:srgbClr val="795913"/>
                </a:solidFill>
                <a:latin typeface="Nunito Sans"/>
                <a:ea typeface="Nunito Sans"/>
                <a:cs typeface="Nunito Sans"/>
                <a:sym typeface="Nunito Sans"/>
              </a:rPr>
              <a:t>Xác định khả năng nhận diện alpha phù hợp với điều kiện thị trường</a:t>
            </a:r>
          </a:p>
        </p:txBody>
      </p:sp>
      <p:sp>
        <p:nvSpPr>
          <p:cNvPr name="TextBox 16" id="16"/>
          <p:cNvSpPr txBox="true"/>
          <p:nvPr/>
        </p:nvSpPr>
        <p:spPr>
          <a:xfrm rot="0">
            <a:off x="722735" y="4591712"/>
            <a:ext cx="10400034" cy="914057"/>
          </a:xfrm>
          <a:prstGeom prst="rect">
            <a:avLst/>
          </a:prstGeom>
        </p:spPr>
        <p:txBody>
          <a:bodyPr anchor="t" rtlCol="false" tIns="0" lIns="0" bIns="0" rIns="0">
            <a:spAutoFit/>
          </a:bodyPr>
          <a:lstStyle/>
          <a:p>
            <a:pPr algn="l" marL="569654" indent="-284827" lvl="1">
              <a:lnSpc>
                <a:spcPts val="3693"/>
              </a:lnSpc>
              <a:buFont typeface="Arial"/>
              <a:buChar char="•"/>
            </a:pPr>
            <a:r>
              <a:rPr lang="en-US" sz="2638">
                <a:solidFill>
                  <a:srgbClr val="795913"/>
                </a:solidFill>
                <a:latin typeface="Nunito Sans"/>
                <a:ea typeface="Nunito Sans"/>
                <a:cs typeface="Nunito Sans"/>
                <a:sym typeface="Nunito Sans"/>
              </a:rPr>
              <a:t>Tích hợp thông tin từ các nguồn khác nhau</a:t>
            </a:r>
          </a:p>
          <a:p>
            <a:pPr algn="l" marL="569654" indent="-284827" lvl="1">
              <a:lnSpc>
                <a:spcPts val="3693"/>
              </a:lnSpc>
              <a:buFont typeface="Arial"/>
              <a:buChar char="•"/>
            </a:pPr>
            <a:r>
              <a:rPr lang="en-US" sz="2638">
                <a:solidFill>
                  <a:srgbClr val="795913"/>
                </a:solidFill>
                <a:latin typeface="Nunito Sans"/>
                <a:ea typeface="Nunito Sans"/>
                <a:cs typeface="Nunito Sans"/>
                <a:sym typeface="Nunito Sans"/>
              </a:rPr>
              <a:t>Nâng cao khả năng hiểu thị trường và phân tích cảm tính</a:t>
            </a:r>
          </a:p>
        </p:txBody>
      </p:sp>
      <p:sp>
        <p:nvSpPr>
          <p:cNvPr name="TextBox 17" id="17"/>
          <p:cNvSpPr txBox="true"/>
          <p:nvPr/>
        </p:nvSpPr>
        <p:spPr>
          <a:xfrm rot="0">
            <a:off x="722735" y="6625204"/>
            <a:ext cx="9266282" cy="447332"/>
          </a:xfrm>
          <a:prstGeom prst="rect">
            <a:avLst/>
          </a:prstGeom>
        </p:spPr>
        <p:txBody>
          <a:bodyPr anchor="t" rtlCol="false" tIns="0" lIns="0" bIns="0" rIns="0">
            <a:spAutoFit/>
          </a:bodyPr>
          <a:lstStyle/>
          <a:p>
            <a:pPr algn="l" marL="569654" indent="-284827" lvl="1">
              <a:lnSpc>
                <a:spcPts val="3693"/>
              </a:lnSpc>
              <a:spcBef>
                <a:spcPct val="0"/>
              </a:spcBef>
              <a:buFont typeface="Arial"/>
              <a:buChar char="•"/>
            </a:pPr>
            <a:r>
              <a:rPr lang="en-US" sz="2638">
                <a:solidFill>
                  <a:srgbClr val="795913"/>
                </a:solidFill>
                <a:latin typeface="Nunito Sans"/>
                <a:ea typeface="Nunito Sans"/>
                <a:cs typeface="Nunito Sans"/>
                <a:sym typeface="Nunito Sans"/>
              </a:rPr>
              <a:t>Nghiên cứu hiệu quả giảm</a:t>
            </a:r>
            <a:r>
              <a:rPr lang="en-US" sz="2638">
                <a:solidFill>
                  <a:srgbClr val="795913"/>
                </a:solidFill>
                <a:latin typeface="Nunito Sans"/>
                <a:ea typeface="Nunito Sans"/>
                <a:cs typeface="Nunito Sans"/>
                <a:sym typeface="Nunito Sans"/>
              </a:rPr>
              <a:t> thiểu nguy cơ hallucination</a:t>
            </a:r>
          </a:p>
        </p:txBody>
      </p:sp>
      <p:sp>
        <p:nvSpPr>
          <p:cNvPr name="TextBox 18" id="18"/>
          <p:cNvSpPr txBox="true"/>
          <p:nvPr/>
        </p:nvSpPr>
        <p:spPr>
          <a:xfrm rot="0">
            <a:off x="599289" y="4083420"/>
            <a:ext cx="7740293" cy="555917"/>
          </a:xfrm>
          <a:prstGeom prst="rect">
            <a:avLst/>
          </a:prstGeom>
        </p:spPr>
        <p:txBody>
          <a:bodyPr anchor="t" rtlCol="false" tIns="0" lIns="0" bIns="0" rIns="0">
            <a:spAutoFit/>
          </a:bodyPr>
          <a:lstStyle/>
          <a:p>
            <a:pPr algn="l" marL="0" indent="0" lvl="0">
              <a:lnSpc>
                <a:spcPts val="4533"/>
              </a:lnSpc>
              <a:spcBef>
                <a:spcPct val="0"/>
              </a:spcBef>
            </a:pPr>
            <a:r>
              <a:rPr lang="en-US" b="true" sz="3238">
                <a:solidFill>
                  <a:srgbClr val="014225"/>
                </a:solidFill>
                <a:latin typeface="Nunito Sans Bold"/>
                <a:ea typeface="Nunito Sans Bold"/>
                <a:cs typeface="Nunito Sans Bold"/>
                <a:sym typeface="Nunito Sans Bold"/>
              </a:rPr>
              <a:t>Đánh Giá Tri Thức Đa Nguồn</a:t>
            </a:r>
          </a:p>
        </p:txBody>
      </p:sp>
      <p:sp>
        <p:nvSpPr>
          <p:cNvPr name="TextBox 19" id="19"/>
          <p:cNvSpPr txBox="true"/>
          <p:nvPr/>
        </p:nvSpPr>
        <p:spPr>
          <a:xfrm rot="0">
            <a:off x="599289" y="5859736"/>
            <a:ext cx="8140368" cy="555917"/>
          </a:xfrm>
          <a:prstGeom prst="rect">
            <a:avLst/>
          </a:prstGeom>
        </p:spPr>
        <p:txBody>
          <a:bodyPr anchor="t" rtlCol="false" tIns="0" lIns="0" bIns="0" rIns="0">
            <a:spAutoFit/>
          </a:bodyPr>
          <a:lstStyle/>
          <a:p>
            <a:pPr algn="l" marL="0" indent="0" lvl="0">
              <a:lnSpc>
                <a:spcPts val="4533"/>
              </a:lnSpc>
              <a:spcBef>
                <a:spcPct val="0"/>
              </a:spcBef>
            </a:pPr>
            <a:r>
              <a:rPr lang="en-US" b="true" sz="3238">
                <a:solidFill>
                  <a:srgbClr val="014225"/>
                </a:solidFill>
                <a:latin typeface="Nunito Sans Bold"/>
                <a:ea typeface="Nunito Sans Bold"/>
                <a:cs typeface="Nunito Sans Bold"/>
                <a:sym typeface="Nunito Sans Bold"/>
              </a:rPr>
              <a:t>Cơ Chế Tính Điểm Tin Cậy</a:t>
            </a:r>
          </a:p>
        </p:txBody>
      </p:sp>
      <p:sp>
        <p:nvSpPr>
          <p:cNvPr name="TextBox 20" id="20"/>
          <p:cNvSpPr txBox="true"/>
          <p:nvPr/>
        </p:nvSpPr>
        <p:spPr>
          <a:xfrm rot="0">
            <a:off x="722735" y="318069"/>
            <a:ext cx="13578254" cy="1601553"/>
          </a:xfrm>
          <a:prstGeom prst="rect">
            <a:avLst/>
          </a:prstGeom>
        </p:spPr>
        <p:txBody>
          <a:bodyPr anchor="t" rtlCol="false" tIns="0" lIns="0" bIns="0" rIns="0">
            <a:spAutoFit/>
          </a:bodyPr>
          <a:lstStyle/>
          <a:p>
            <a:pPr algn="l" marL="0" indent="0" lvl="0">
              <a:lnSpc>
                <a:spcPts val="13050"/>
              </a:lnSpc>
              <a:spcBef>
                <a:spcPct val="0"/>
              </a:spcBef>
            </a:pPr>
            <a:r>
              <a:rPr lang="en-US" sz="9321">
                <a:solidFill>
                  <a:srgbClr val="014225"/>
                </a:solidFill>
                <a:latin typeface="Nunito Sans"/>
                <a:ea typeface="Nunito Sans"/>
                <a:cs typeface="Nunito Sans"/>
                <a:sym typeface="Nunito Sans"/>
              </a:rPr>
              <a:t>Thử nghiệm Framework</a:t>
            </a:r>
          </a:p>
        </p:txBody>
      </p:sp>
      <p:sp>
        <p:nvSpPr>
          <p:cNvPr name="TextBox 21" id="21"/>
          <p:cNvSpPr txBox="true"/>
          <p:nvPr/>
        </p:nvSpPr>
        <p:spPr>
          <a:xfrm rot="0">
            <a:off x="599289" y="2362804"/>
            <a:ext cx="9389727" cy="555917"/>
          </a:xfrm>
          <a:prstGeom prst="rect">
            <a:avLst/>
          </a:prstGeom>
        </p:spPr>
        <p:txBody>
          <a:bodyPr anchor="t" rtlCol="false" tIns="0" lIns="0" bIns="0" rIns="0">
            <a:spAutoFit/>
          </a:bodyPr>
          <a:lstStyle/>
          <a:p>
            <a:pPr algn="l" marL="0" indent="0" lvl="0">
              <a:lnSpc>
                <a:spcPts val="4533"/>
              </a:lnSpc>
              <a:spcBef>
                <a:spcPct val="0"/>
              </a:spcBef>
            </a:pPr>
            <a:r>
              <a:rPr lang="en-US" b="true" sz="3238">
                <a:solidFill>
                  <a:srgbClr val="014225"/>
                </a:solidFill>
                <a:latin typeface="Nunito Sans Bold"/>
                <a:ea typeface="Nunito Sans Bold"/>
                <a:cs typeface="Nunito Sans Bold"/>
                <a:sym typeface="Nunito Sans Bold"/>
              </a:rPr>
              <a:t>Đánh Giá Hiệu Quả của Framework</a:t>
            </a:r>
          </a:p>
        </p:txBody>
      </p:sp>
      <p:sp>
        <p:nvSpPr>
          <p:cNvPr name="TextBox 22" id="22"/>
          <p:cNvSpPr txBox="true"/>
          <p:nvPr/>
        </p:nvSpPr>
        <p:spPr>
          <a:xfrm rot="0">
            <a:off x="599289" y="7709831"/>
            <a:ext cx="9218240" cy="555917"/>
          </a:xfrm>
          <a:prstGeom prst="rect">
            <a:avLst/>
          </a:prstGeom>
        </p:spPr>
        <p:txBody>
          <a:bodyPr anchor="t" rtlCol="false" tIns="0" lIns="0" bIns="0" rIns="0">
            <a:spAutoFit/>
          </a:bodyPr>
          <a:lstStyle/>
          <a:p>
            <a:pPr algn="l" marL="0" indent="0" lvl="0">
              <a:lnSpc>
                <a:spcPts val="4533"/>
              </a:lnSpc>
              <a:spcBef>
                <a:spcPct val="0"/>
              </a:spcBef>
            </a:pPr>
            <a:r>
              <a:rPr lang="en-US" b="true" sz="3238">
                <a:solidFill>
                  <a:srgbClr val="014225"/>
                </a:solidFill>
                <a:latin typeface="Nunito Sans Bold"/>
                <a:ea typeface="Nunito Sans Bold"/>
                <a:cs typeface="Nunito Sans Bold"/>
                <a:sym typeface="Nunito Sans Bold"/>
              </a:rPr>
              <a:t>Đánh Giá Hiệu Suất Chiến Lược Tổng Thể</a:t>
            </a:r>
          </a:p>
        </p:txBody>
      </p:sp>
      <p:sp>
        <p:nvSpPr>
          <p:cNvPr name="TextBox 23" id="23"/>
          <p:cNvSpPr txBox="true"/>
          <p:nvPr/>
        </p:nvSpPr>
        <p:spPr>
          <a:xfrm rot="0">
            <a:off x="722735" y="8427673"/>
            <a:ext cx="9266282" cy="447332"/>
          </a:xfrm>
          <a:prstGeom prst="rect">
            <a:avLst/>
          </a:prstGeom>
        </p:spPr>
        <p:txBody>
          <a:bodyPr anchor="t" rtlCol="false" tIns="0" lIns="0" bIns="0" rIns="0">
            <a:spAutoFit/>
          </a:bodyPr>
          <a:lstStyle/>
          <a:p>
            <a:pPr algn="l" marL="569654" indent="-284827" lvl="1">
              <a:lnSpc>
                <a:spcPts val="3693"/>
              </a:lnSpc>
              <a:spcBef>
                <a:spcPct val="0"/>
              </a:spcBef>
              <a:buFont typeface="Arial"/>
              <a:buChar char="•"/>
            </a:pPr>
            <a:r>
              <a:rPr lang="en-US" sz="2638">
                <a:solidFill>
                  <a:srgbClr val="795913"/>
                </a:solidFill>
                <a:latin typeface="Nunito Sans"/>
                <a:ea typeface="Nunito Sans"/>
                <a:cs typeface="Nunito Sans"/>
                <a:sym typeface="Nunito Sans"/>
              </a:rPr>
              <a:t>Đánh giá hiệu quả giao</a:t>
            </a:r>
            <a:r>
              <a:rPr lang="en-US" sz="2638">
                <a:solidFill>
                  <a:srgbClr val="795913"/>
                </a:solidFill>
                <a:latin typeface="Nunito Sans"/>
                <a:ea typeface="Nunito Sans"/>
                <a:cs typeface="Nunito Sans"/>
                <a:sym typeface="Nunito Sans"/>
              </a:rPr>
              <a:t> dịch</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F4F4DC"/>
        </a:solidFill>
      </p:bgPr>
    </p:bg>
    <p:spTree>
      <p:nvGrpSpPr>
        <p:cNvPr id="1" name=""/>
        <p:cNvGrpSpPr/>
        <p:nvPr/>
      </p:nvGrpSpPr>
      <p:grpSpPr>
        <a:xfrm>
          <a:off x="0" y="0"/>
          <a:ext cx="0" cy="0"/>
          <a:chOff x="0" y="0"/>
          <a:chExt cx="0" cy="0"/>
        </a:xfrm>
      </p:grpSpPr>
      <p:sp>
        <p:nvSpPr>
          <p:cNvPr name="Freeform 2" id="2"/>
          <p:cNvSpPr/>
          <p:nvPr/>
        </p:nvSpPr>
        <p:spPr>
          <a:xfrm flipH="false" flipV="false" rot="2477594">
            <a:off x="-3867943" y="966025"/>
            <a:ext cx="19834656" cy="17578464"/>
          </a:xfrm>
          <a:custGeom>
            <a:avLst/>
            <a:gdLst/>
            <a:ahLst/>
            <a:cxnLst/>
            <a:rect r="r" b="b" t="t" l="l"/>
            <a:pathLst>
              <a:path h="17578464" w="19834656">
                <a:moveTo>
                  <a:pt x="0" y="0"/>
                </a:moveTo>
                <a:lnTo>
                  <a:pt x="19834656" y="0"/>
                </a:lnTo>
                <a:lnTo>
                  <a:pt x="19834656" y="17578464"/>
                </a:lnTo>
                <a:lnTo>
                  <a:pt x="0" y="175784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326543" y="2389029"/>
            <a:ext cx="15634913" cy="976143"/>
          </a:xfrm>
          <a:prstGeom prst="rect">
            <a:avLst/>
          </a:prstGeom>
        </p:spPr>
        <p:txBody>
          <a:bodyPr anchor="t" rtlCol="false" tIns="0" lIns="0" bIns="0" rIns="0">
            <a:spAutoFit/>
          </a:bodyPr>
          <a:lstStyle/>
          <a:p>
            <a:pPr algn="ctr">
              <a:lnSpc>
                <a:spcPts val="3946"/>
              </a:lnSpc>
            </a:pPr>
            <a:r>
              <a:rPr lang="en-US" sz="2819">
                <a:solidFill>
                  <a:srgbClr val="000000"/>
                </a:solidFill>
                <a:latin typeface="Nunito Sans"/>
                <a:ea typeface="Nunito Sans"/>
                <a:cs typeface="Nunito Sans"/>
                <a:sym typeface="Nunito Sans"/>
              </a:rPr>
              <a:t>Dữ liệu tài chính từ thị trường Trung Quốc, đặc biệt là Chỉ số SSE 50.</a:t>
            </a:r>
          </a:p>
          <a:p>
            <a:pPr algn="ctr" marL="0" indent="0" lvl="0">
              <a:lnSpc>
                <a:spcPts val="3946"/>
              </a:lnSpc>
              <a:spcBef>
                <a:spcPct val="0"/>
              </a:spcBef>
            </a:pPr>
            <a:r>
              <a:rPr lang="en-US" sz="2819">
                <a:solidFill>
                  <a:srgbClr val="000000"/>
                </a:solidFill>
                <a:latin typeface="Nunito Sans"/>
                <a:ea typeface="Nunito Sans"/>
                <a:cs typeface="Nunito Sans"/>
                <a:sym typeface="Nunito Sans"/>
              </a:rPr>
              <a:t>bao gồm 50 công ty lớn, tiêu biểu nhất của thị trường A-shares trên sàn Thượng Hải</a:t>
            </a:r>
          </a:p>
        </p:txBody>
      </p:sp>
      <p:sp>
        <p:nvSpPr>
          <p:cNvPr name="Freeform 4" id="4"/>
          <p:cNvSpPr/>
          <p:nvPr/>
        </p:nvSpPr>
        <p:spPr>
          <a:xfrm flipH="false" flipV="false" rot="-5400000">
            <a:off x="15128266" y="-1147796"/>
            <a:ext cx="4911697" cy="4352991"/>
          </a:xfrm>
          <a:custGeom>
            <a:avLst/>
            <a:gdLst/>
            <a:ahLst/>
            <a:cxnLst/>
            <a:rect r="r" b="b" t="t" l="l"/>
            <a:pathLst>
              <a:path h="4352991" w="4911697">
                <a:moveTo>
                  <a:pt x="0" y="0"/>
                </a:moveTo>
                <a:lnTo>
                  <a:pt x="4911697" y="0"/>
                </a:lnTo>
                <a:lnTo>
                  <a:pt x="4911697" y="4352992"/>
                </a:lnTo>
                <a:lnTo>
                  <a:pt x="0" y="43529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3273879" y="-2057400"/>
            <a:ext cx="5387627" cy="4114800"/>
          </a:xfrm>
          <a:custGeom>
            <a:avLst/>
            <a:gdLst/>
            <a:ahLst/>
            <a:cxnLst/>
            <a:rect r="r" b="b" t="t" l="l"/>
            <a:pathLst>
              <a:path h="4114800" w="5387627">
                <a:moveTo>
                  <a:pt x="0" y="0"/>
                </a:moveTo>
                <a:lnTo>
                  <a:pt x="5387627" y="0"/>
                </a:lnTo>
                <a:lnTo>
                  <a:pt x="538762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6003179" y="-663062"/>
            <a:ext cx="925748" cy="2307159"/>
          </a:xfrm>
          <a:custGeom>
            <a:avLst/>
            <a:gdLst/>
            <a:ahLst/>
            <a:cxnLst/>
            <a:rect r="r" b="b" t="t" l="l"/>
            <a:pathLst>
              <a:path h="2307159" w="925748">
                <a:moveTo>
                  <a:pt x="0" y="0"/>
                </a:moveTo>
                <a:lnTo>
                  <a:pt x="925748" y="0"/>
                </a:lnTo>
                <a:lnTo>
                  <a:pt x="925748" y="2307159"/>
                </a:lnTo>
                <a:lnTo>
                  <a:pt x="0" y="230715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3486481" y="4586588"/>
            <a:ext cx="11315039" cy="3178479"/>
          </a:xfrm>
          <a:custGeom>
            <a:avLst/>
            <a:gdLst/>
            <a:ahLst/>
            <a:cxnLst/>
            <a:rect r="r" b="b" t="t" l="l"/>
            <a:pathLst>
              <a:path h="3178479" w="11315039">
                <a:moveTo>
                  <a:pt x="0" y="0"/>
                </a:moveTo>
                <a:lnTo>
                  <a:pt x="11315038" y="0"/>
                </a:lnTo>
                <a:lnTo>
                  <a:pt x="11315038" y="3178479"/>
                </a:lnTo>
                <a:lnTo>
                  <a:pt x="0" y="3178479"/>
                </a:lnTo>
                <a:lnTo>
                  <a:pt x="0" y="0"/>
                </a:lnTo>
                <a:close/>
              </a:path>
            </a:pathLst>
          </a:custGeom>
          <a:blipFill>
            <a:blip r:embed="rId10"/>
            <a:stretch>
              <a:fillRect l="0" t="-60" r="0" b="-60"/>
            </a:stretch>
          </a:blipFill>
        </p:spPr>
      </p:sp>
      <p:sp>
        <p:nvSpPr>
          <p:cNvPr name="TextBox 8" id="8"/>
          <p:cNvSpPr txBox="true"/>
          <p:nvPr/>
        </p:nvSpPr>
        <p:spPr>
          <a:xfrm rot="0">
            <a:off x="4491803" y="440702"/>
            <a:ext cx="9304393" cy="1518481"/>
          </a:xfrm>
          <a:prstGeom prst="rect">
            <a:avLst/>
          </a:prstGeom>
        </p:spPr>
        <p:txBody>
          <a:bodyPr anchor="t" rtlCol="false" tIns="0" lIns="0" bIns="0" rIns="0">
            <a:spAutoFit/>
          </a:bodyPr>
          <a:lstStyle/>
          <a:p>
            <a:pPr algn="ctr" marL="0" indent="0" lvl="0">
              <a:lnSpc>
                <a:spcPts val="12379"/>
              </a:lnSpc>
              <a:spcBef>
                <a:spcPct val="0"/>
              </a:spcBef>
            </a:pPr>
            <a:r>
              <a:rPr lang="en-US" sz="8842">
                <a:solidFill>
                  <a:srgbClr val="014225"/>
                </a:solidFill>
                <a:latin typeface="Lazydog"/>
                <a:ea typeface="Lazydog"/>
                <a:cs typeface="Lazydog"/>
                <a:sym typeface="Lazydog"/>
              </a:rPr>
              <a:t>Dataset</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bg>
      <p:bgPr>
        <a:solidFill>
          <a:srgbClr val="F4F4DC"/>
        </a:solidFill>
      </p:bgPr>
    </p:bg>
    <p:spTree>
      <p:nvGrpSpPr>
        <p:cNvPr id="1" name=""/>
        <p:cNvGrpSpPr/>
        <p:nvPr/>
      </p:nvGrpSpPr>
      <p:grpSpPr>
        <a:xfrm>
          <a:off x="0" y="0"/>
          <a:ext cx="0" cy="0"/>
          <a:chOff x="0" y="0"/>
          <a:chExt cx="0" cy="0"/>
        </a:xfrm>
      </p:grpSpPr>
      <p:sp>
        <p:nvSpPr>
          <p:cNvPr name="Freeform 2" id="2"/>
          <p:cNvSpPr/>
          <p:nvPr/>
        </p:nvSpPr>
        <p:spPr>
          <a:xfrm flipH="false" flipV="true" rot="-10800000">
            <a:off x="-6409091" y="-6706756"/>
            <a:ext cx="20438660" cy="18113763"/>
          </a:xfrm>
          <a:custGeom>
            <a:avLst/>
            <a:gdLst/>
            <a:ahLst/>
            <a:cxnLst/>
            <a:rect r="r" b="b" t="t" l="l"/>
            <a:pathLst>
              <a:path h="18113763" w="20438660">
                <a:moveTo>
                  <a:pt x="0" y="18113763"/>
                </a:moveTo>
                <a:lnTo>
                  <a:pt x="20438660" y="18113763"/>
                </a:lnTo>
                <a:lnTo>
                  <a:pt x="20438660" y="0"/>
                </a:lnTo>
                <a:lnTo>
                  <a:pt x="0" y="0"/>
                </a:lnTo>
                <a:lnTo>
                  <a:pt x="0" y="18113763"/>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663679" y="8193411"/>
            <a:ext cx="969230" cy="2415527"/>
          </a:xfrm>
          <a:custGeom>
            <a:avLst/>
            <a:gdLst/>
            <a:ahLst/>
            <a:cxnLst/>
            <a:rect r="r" b="b" t="t" l="l"/>
            <a:pathLst>
              <a:path h="2415527" w="969230">
                <a:moveTo>
                  <a:pt x="0" y="0"/>
                </a:moveTo>
                <a:lnTo>
                  <a:pt x="969230" y="0"/>
                </a:lnTo>
                <a:lnTo>
                  <a:pt x="969230" y="2415528"/>
                </a:lnTo>
                <a:lnTo>
                  <a:pt x="0" y="24155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true" rot="-10800000">
            <a:off x="16028846" y="-2292887"/>
            <a:ext cx="6647166" cy="5076773"/>
          </a:xfrm>
          <a:custGeom>
            <a:avLst/>
            <a:gdLst/>
            <a:ahLst/>
            <a:cxnLst/>
            <a:rect r="r" b="b" t="t" l="l"/>
            <a:pathLst>
              <a:path h="5076773" w="6647166">
                <a:moveTo>
                  <a:pt x="0" y="5076773"/>
                </a:moveTo>
                <a:lnTo>
                  <a:pt x="6647166" y="5076773"/>
                </a:lnTo>
                <a:lnTo>
                  <a:pt x="6647166" y="0"/>
                </a:lnTo>
                <a:lnTo>
                  <a:pt x="0" y="0"/>
                </a:lnTo>
                <a:lnTo>
                  <a:pt x="0" y="5076773"/>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0255016" y="3587356"/>
            <a:ext cx="7549105" cy="5396549"/>
          </a:xfrm>
          <a:custGeom>
            <a:avLst/>
            <a:gdLst/>
            <a:ahLst/>
            <a:cxnLst/>
            <a:rect r="r" b="b" t="t" l="l"/>
            <a:pathLst>
              <a:path h="5396549" w="7549105">
                <a:moveTo>
                  <a:pt x="0" y="0"/>
                </a:moveTo>
                <a:lnTo>
                  <a:pt x="7549105" y="0"/>
                </a:lnTo>
                <a:lnTo>
                  <a:pt x="7549105" y="5396549"/>
                </a:lnTo>
                <a:lnTo>
                  <a:pt x="0" y="5396549"/>
                </a:lnTo>
                <a:lnTo>
                  <a:pt x="0" y="0"/>
                </a:lnTo>
                <a:close/>
              </a:path>
            </a:pathLst>
          </a:custGeom>
          <a:blipFill>
            <a:blip r:embed="rId8"/>
            <a:stretch>
              <a:fillRect l="0" t="0" r="0" b="0"/>
            </a:stretch>
          </a:blipFill>
        </p:spPr>
      </p:sp>
      <p:sp>
        <p:nvSpPr>
          <p:cNvPr name="TextBox 6" id="6"/>
          <p:cNvSpPr txBox="true"/>
          <p:nvPr/>
        </p:nvSpPr>
        <p:spPr>
          <a:xfrm rot="0">
            <a:off x="1305575" y="857250"/>
            <a:ext cx="9714642" cy="1492964"/>
          </a:xfrm>
          <a:prstGeom prst="rect">
            <a:avLst/>
          </a:prstGeom>
        </p:spPr>
        <p:txBody>
          <a:bodyPr anchor="t" rtlCol="false" tIns="0" lIns="0" bIns="0" rIns="0">
            <a:spAutoFit/>
          </a:bodyPr>
          <a:lstStyle/>
          <a:p>
            <a:pPr algn="l" marL="0" indent="0" lvl="0">
              <a:lnSpc>
                <a:spcPts val="12210"/>
              </a:lnSpc>
              <a:spcBef>
                <a:spcPct val="0"/>
              </a:spcBef>
            </a:pPr>
            <a:r>
              <a:rPr lang="en-US" sz="8721">
                <a:solidFill>
                  <a:srgbClr val="014225"/>
                </a:solidFill>
                <a:latin typeface="Nunito Sans"/>
                <a:ea typeface="Nunito Sans"/>
                <a:cs typeface="Nunito Sans"/>
                <a:sym typeface="Nunito Sans"/>
              </a:rPr>
              <a:t>Dataset</a:t>
            </a:r>
          </a:p>
        </p:txBody>
      </p:sp>
      <p:sp>
        <p:nvSpPr>
          <p:cNvPr name="TextBox 7" id="7"/>
          <p:cNvSpPr txBox="true"/>
          <p:nvPr/>
        </p:nvSpPr>
        <p:spPr>
          <a:xfrm rot="0">
            <a:off x="288445" y="2417454"/>
            <a:ext cx="9335609" cy="7688728"/>
          </a:xfrm>
          <a:prstGeom prst="rect">
            <a:avLst/>
          </a:prstGeom>
        </p:spPr>
        <p:txBody>
          <a:bodyPr anchor="t" rtlCol="false" tIns="0" lIns="0" bIns="0" rIns="0">
            <a:spAutoFit/>
          </a:bodyPr>
          <a:lstStyle/>
          <a:p>
            <a:pPr algn="l">
              <a:lnSpc>
                <a:spcPts val="4086"/>
              </a:lnSpc>
            </a:pPr>
          </a:p>
          <a:p>
            <a:pPr algn="l" marL="630253" indent="-315126" lvl="1">
              <a:lnSpc>
                <a:spcPts val="4086"/>
              </a:lnSpc>
              <a:buFont typeface="Arial"/>
              <a:buChar char="•"/>
            </a:pPr>
            <a:r>
              <a:rPr lang="en-US" b="true" sz="2919">
                <a:solidFill>
                  <a:srgbClr val="795913"/>
                </a:solidFill>
                <a:latin typeface="Nunito Sans Bold"/>
                <a:ea typeface="Nunito Sans Bold"/>
                <a:cs typeface="Nunito Sans Bold"/>
                <a:sym typeface="Nunito Sans Bold"/>
              </a:rPr>
              <a:t>Dữ liệu chính:</a:t>
            </a:r>
            <a:r>
              <a:rPr lang="en-US" sz="2919">
                <a:solidFill>
                  <a:srgbClr val="795913"/>
                </a:solidFill>
                <a:latin typeface="Nunito Sans"/>
                <a:ea typeface="Nunito Sans"/>
                <a:cs typeface="Nunito Sans"/>
                <a:sym typeface="Nunito Sans"/>
              </a:rPr>
              <a:t> Giá mở, giá đóng , giá cao nhất, giá thấp nhất, khối lượng giao dịch, và Volume Weighted Average Price - Giá trung bình có trọng số theo khối lượng.</a:t>
            </a:r>
          </a:p>
          <a:p>
            <a:pPr algn="l" marL="630253" indent="-315126" lvl="1">
              <a:lnSpc>
                <a:spcPts val="4086"/>
              </a:lnSpc>
              <a:buFont typeface="Arial"/>
              <a:buChar char="•"/>
            </a:pPr>
            <a:r>
              <a:rPr lang="en-US" b="true" sz="2919">
                <a:solidFill>
                  <a:srgbClr val="795913"/>
                </a:solidFill>
                <a:latin typeface="Nunito Sans Bold"/>
                <a:ea typeface="Nunito Sans Bold"/>
                <a:cs typeface="Nunito Sans Bold"/>
                <a:sym typeface="Nunito Sans Bold"/>
              </a:rPr>
              <a:t>Yếu tố Alpha:</a:t>
            </a:r>
            <a:r>
              <a:rPr lang="en-US" sz="2919">
                <a:solidFill>
                  <a:srgbClr val="795913"/>
                </a:solidFill>
                <a:latin typeface="Nunito Sans"/>
                <a:ea typeface="Nunito Sans"/>
                <a:cs typeface="Nunito Sans"/>
                <a:sym typeface="Nunito Sans"/>
              </a:rPr>
              <a:t> giá, khối lượng, chỉ số tài chính, trung bình động, phân tích tâm lý.</a:t>
            </a:r>
          </a:p>
          <a:p>
            <a:pPr algn="l" marL="630253" indent="-315126" lvl="1">
              <a:lnSpc>
                <a:spcPts val="4086"/>
              </a:lnSpc>
              <a:buFont typeface="Arial"/>
              <a:buChar char="•"/>
            </a:pPr>
            <a:r>
              <a:rPr lang="en-US" b="true" sz="2919">
                <a:solidFill>
                  <a:srgbClr val="795913"/>
                </a:solidFill>
                <a:latin typeface="Nunito Sans Bold"/>
                <a:ea typeface="Nunito Sans Bold"/>
                <a:cs typeface="Nunito Sans Bold"/>
                <a:sym typeface="Nunito Sans Bold"/>
              </a:rPr>
              <a:t>Báo cáo tài chính:</a:t>
            </a:r>
            <a:r>
              <a:rPr lang="en-US" sz="2919">
                <a:solidFill>
                  <a:srgbClr val="795913"/>
                </a:solidFill>
                <a:latin typeface="Nunito Sans"/>
                <a:ea typeface="Nunito Sans"/>
                <a:cs typeface="Nunito Sans"/>
                <a:sym typeface="Nunito Sans"/>
              </a:rPr>
              <a:t> báo cáo quý và năm của các công ty SSE 50.</a:t>
            </a:r>
          </a:p>
          <a:p>
            <a:pPr algn="l" marL="630253" indent="-315126" lvl="1">
              <a:lnSpc>
                <a:spcPts val="4086"/>
              </a:lnSpc>
              <a:buFont typeface="Arial"/>
              <a:buChar char="•"/>
            </a:pPr>
            <a:r>
              <a:rPr lang="en-US" b="true" sz="2919">
                <a:solidFill>
                  <a:srgbClr val="795913"/>
                </a:solidFill>
                <a:latin typeface="Nunito Sans Bold"/>
                <a:ea typeface="Nunito Sans Bold"/>
                <a:cs typeface="Nunito Sans Bold"/>
                <a:sym typeface="Nunito Sans Bold"/>
              </a:rPr>
              <a:t>Giai đoạn:</a:t>
            </a:r>
            <a:r>
              <a:rPr lang="en-US" sz="2919">
                <a:solidFill>
                  <a:srgbClr val="795913"/>
                </a:solidFill>
                <a:latin typeface="Nunito Sans"/>
                <a:ea typeface="Nunito Sans"/>
                <a:cs typeface="Nunito Sans"/>
                <a:sym typeface="Nunito Sans"/>
              </a:rPr>
              <a:t> Huấn luyện (2021-2022), kiểm tra (2023).</a:t>
            </a:r>
          </a:p>
          <a:p>
            <a:pPr algn="l" marL="630253" indent="-315126" lvl="1">
              <a:lnSpc>
                <a:spcPts val="4086"/>
              </a:lnSpc>
              <a:buFont typeface="Arial"/>
              <a:buChar char="•"/>
            </a:pPr>
            <a:r>
              <a:rPr lang="en-US" b="true" sz="2919">
                <a:solidFill>
                  <a:srgbClr val="795913"/>
                </a:solidFill>
                <a:latin typeface="Nunito Sans Bold"/>
                <a:ea typeface="Nunito Sans Bold"/>
                <a:cs typeface="Nunito Sans Bold"/>
                <a:sym typeface="Nunito Sans Bold"/>
              </a:rPr>
              <a:t>Phạm vi thị trường:</a:t>
            </a:r>
            <a:r>
              <a:rPr lang="en-US" sz="2919">
                <a:solidFill>
                  <a:srgbClr val="795913"/>
                </a:solidFill>
                <a:latin typeface="Nunito Sans"/>
                <a:ea typeface="Nunito Sans"/>
                <a:cs typeface="Nunito Sans"/>
                <a:sym typeface="Nunito Sans"/>
              </a:rPr>
              <a:t> SSE 50.</a:t>
            </a:r>
          </a:p>
          <a:p>
            <a:pPr algn="l" marL="630253" indent="-315126" lvl="1">
              <a:lnSpc>
                <a:spcPts val="4086"/>
              </a:lnSpc>
              <a:spcBef>
                <a:spcPct val="0"/>
              </a:spcBef>
              <a:buFont typeface="Arial"/>
              <a:buChar char="•"/>
            </a:pPr>
            <a:r>
              <a:rPr lang="en-US" b="true" sz="2919">
                <a:solidFill>
                  <a:srgbClr val="795913"/>
                </a:solidFill>
                <a:latin typeface="Nunito Sans Bold"/>
                <a:ea typeface="Nunito Sans Bold"/>
                <a:cs typeface="Nunito Sans Bold"/>
                <a:sym typeface="Nunito Sans Bold"/>
              </a:rPr>
              <a:t>Đánh giá: </a:t>
            </a:r>
            <a:r>
              <a:rPr lang="en-US" sz="2919">
                <a:solidFill>
                  <a:srgbClr val="795913"/>
                </a:solidFill>
                <a:latin typeface="Nunito Sans"/>
                <a:ea typeface="Nunito Sans"/>
                <a:cs typeface="Nunito Sans"/>
                <a:sym typeface="Nunito Sans"/>
              </a:rPr>
              <a:t>mối quan hệ nhân quả, hiệu suất Alpha và độ ổn định mô hình.</a:t>
            </a:r>
          </a:p>
          <a:p>
            <a:pPr algn="l" marL="0" indent="0" lvl="0">
              <a:lnSpc>
                <a:spcPts val="4086"/>
              </a:lnSpc>
              <a:spcBef>
                <a:spcPct val="0"/>
              </a:spcBef>
            </a:pP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bg>
      <p:bgPr>
        <a:solidFill>
          <a:srgbClr val="F4F4DC"/>
        </a:solidFill>
      </p:bgPr>
    </p:bg>
    <p:spTree>
      <p:nvGrpSpPr>
        <p:cNvPr id="1" name=""/>
        <p:cNvGrpSpPr/>
        <p:nvPr/>
      </p:nvGrpSpPr>
      <p:grpSpPr>
        <a:xfrm>
          <a:off x="0" y="0"/>
          <a:ext cx="0" cy="0"/>
          <a:chOff x="0" y="0"/>
          <a:chExt cx="0" cy="0"/>
        </a:xfrm>
      </p:grpSpPr>
      <p:sp>
        <p:nvSpPr>
          <p:cNvPr name="Freeform 2" id="2"/>
          <p:cNvSpPr/>
          <p:nvPr/>
        </p:nvSpPr>
        <p:spPr>
          <a:xfrm flipH="false" flipV="true" rot="-10800000">
            <a:off x="-5452670" y="-7367424"/>
            <a:ext cx="20438660" cy="18113763"/>
          </a:xfrm>
          <a:custGeom>
            <a:avLst/>
            <a:gdLst/>
            <a:ahLst/>
            <a:cxnLst/>
            <a:rect r="r" b="b" t="t" l="l"/>
            <a:pathLst>
              <a:path h="18113763" w="20438660">
                <a:moveTo>
                  <a:pt x="0" y="18113762"/>
                </a:moveTo>
                <a:lnTo>
                  <a:pt x="20438660" y="18113762"/>
                </a:lnTo>
                <a:lnTo>
                  <a:pt x="20438660" y="0"/>
                </a:lnTo>
                <a:lnTo>
                  <a:pt x="0" y="0"/>
                </a:lnTo>
                <a:lnTo>
                  <a:pt x="0" y="1811376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663679" y="8193411"/>
            <a:ext cx="969230" cy="2415527"/>
          </a:xfrm>
          <a:custGeom>
            <a:avLst/>
            <a:gdLst/>
            <a:ahLst/>
            <a:cxnLst/>
            <a:rect r="r" b="b" t="t" l="l"/>
            <a:pathLst>
              <a:path h="2415527" w="969230">
                <a:moveTo>
                  <a:pt x="0" y="0"/>
                </a:moveTo>
                <a:lnTo>
                  <a:pt x="969230" y="0"/>
                </a:lnTo>
                <a:lnTo>
                  <a:pt x="969230" y="2415528"/>
                </a:lnTo>
                <a:lnTo>
                  <a:pt x="0" y="24155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6871563" y="3146042"/>
            <a:ext cx="6672012" cy="6739748"/>
          </a:xfrm>
          <a:custGeom>
            <a:avLst/>
            <a:gdLst/>
            <a:ahLst/>
            <a:cxnLst/>
            <a:rect r="r" b="b" t="t" l="l"/>
            <a:pathLst>
              <a:path h="6739748" w="6672012">
                <a:moveTo>
                  <a:pt x="0" y="0"/>
                </a:moveTo>
                <a:lnTo>
                  <a:pt x="6672012" y="0"/>
                </a:lnTo>
                <a:lnTo>
                  <a:pt x="6672012" y="6739748"/>
                </a:lnTo>
                <a:lnTo>
                  <a:pt x="0" y="6739748"/>
                </a:lnTo>
                <a:lnTo>
                  <a:pt x="0" y="0"/>
                </a:lnTo>
                <a:close/>
              </a:path>
            </a:pathLst>
          </a:custGeom>
          <a:blipFill>
            <a:blip r:embed="rId6"/>
            <a:stretch>
              <a:fillRect l="0" t="0" r="0" b="0"/>
            </a:stretch>
          </a:blipFill>
        </p:spPr>
      </p:sp>
      <p:sp>
        <p:nvSpPr>
          <p:cNvPr name="TextBox 5" id="5"/>
          <p:cNvSpPr txBox="true"/>
          <p:nvPr/>
        </p:nvSpPr>
        <p:spPr>
          <a:xfrm rot="0">
            <a:off x="1210325" y="857250"/>
            <a:ext cx="9714642" cy="1492964"/>
          </a:xfrm>
          <a:prstGeom prst="rect">
            <a:avLst/>
          </a:prstGeom>
        </p:spPr>
        <p:txBody>
          <a:bodyPr anchor="t" rtlCol="false" tIns="0" lIns="0" bIns="0" rIns="0">
            <a:spAutoFit/>
          </a:bodyPr>
          <a:lstStyle/>
          <a:p>
            <a:pPr algn="l" marL="0" indent="0" lvl="0">
              <a:lnSpc>
                <a:spcPts val="12210"/>
              </a:lnSpc>
              <a:spcBef>
                <a:spcPct val="0"/>
              </a:spcBef>
            </a:pPr>
            <a:r>
              <a:rPr lang="en-US" sz="8721">
                <a:solidFill>
                  <a:srgbClr val="014225"/>
                </a:solidFill>
                <a:latin typeface="Nunito Sans"/>
                <a:ea typeface="Nunito Sans"/>
                <a:cs typeface="Nunito Sans"/>
                <a:sym typeface="Nunito Sans"/>
              </a:rPr>
              <a:t>Câu hỏi 1</a:t>
            </a:r>
          </a:p>
        </p:txBody>
      </p:sp>
      <p:sp>
        <p:nvSpPr>
          <p:cNvPr name="TextBox 6" id="6"/>
          <p:cNvSpPr txBox="true"/>
          <p:nvPr/>
        </p:nvSpPr>
        <p:spPr>
          <a:xfrm rot="0">
            <a:off x="1210325" y="2135160"/>
            <a:ext cx="16470816" cy="487828"/>
          </a:xfrm>
          <a:prstGeom prst="rect">
            <a:avLst/>
          </a:prstGeom>
        </p:spPr>
        <p:txBody>
          <a:bodyPr anchor="t" rtlCol="false" tIns="0" lIns="0" bIns="0" rIns="0">
            <a:spAutoFit/>
          </a:bodyPr>
          <a:lstStyle/>
          <a:p>
            <a:pPr algn="l" marL="0" indent="0" lvl="0">
              <a:lnSpc>
                <a:spcPts val="4086"/>
              </a:lnSpc>
              <a:spcBef>
                <a:spcPct val="0"/>
              </a:spcBef>
            </a:pPr>
            <a:r>
              <a:rPr lang="en-US" sz="2919">
                <a:solidFill>
                  <a:srgbClr val="795913"/>
                </a:solidFill>
                <a:latin typeface="Nunito Sans"/>
                <a:ea typeface="Nunito Sans"/>
                <a:cs typeface="Nunito Sans"/>
                <a:sym typeface="Nunito Sans"/>
              </a:rPr>
              <a:t>Khung mô hình có tìm alpha mới theo điều kiện thị trường không?</a:t>
            </a:r>
          </a:p>
        </p:txBody>
      </p:sp>
      <p:sp>
        <p:nvSpPr>
          <p:cNvPr name="TextBox 7" id="7"/>
          <p:cNvSpPr txBox="true"/>
          <p:nvPr/>
        </p:nvSpPr>
        <p:spPr>
          <a:xfrm rot="0">
            <a:off x="4171595" y="6676964"/>
            <a:ext cx="2699967" cy="438785"/>
          </a:xfrm>
          <a:prstGeom prst="rect">
            <a:avLst/>
          </a:prstGeom>
        </p:spPr>
        <p:txBody>
          <a:bodyPr anchor="t" rtlCol="false" tIns="0" lIns="0" bIns="0" rIns="0">
            <a:spAutoFit/>
          </a:bodyPr>
          <a:lstStyle/>
          <a:p>
            <a:pPr algn="ctr">
              <a:lnSpc>
                <a:spcPts val="3640"/>
              </a:lnSpc>
              <a:spcBef>
                <a:spcPct val="0"/>
              </a:spcBef>
            </a:pPr>
            <a:r>
              <a:rPr lang="en-US" sz="2600">
                <a:solidFill>
                  <a:srgbClr val="795913"/>
                </a:solidFill>
                <a:latin typeface="Nunito Sans"/>
                <a:ea typeface="Nunito Sans"/>
                <a:cs typeface="Nunito Sans"/>
                <a:sym typeface="Nunito Sans"/>
              </a:rPr>
              <a:t>biểu đồ giao dịch</a:t>
            </a:r>
          </a:p>
        </p:txBody>
      </p:sp>
      <p:sp>
        <p:nvSpPr>
          <p:cNvPr name="TextBox 8" id="8"/>
          <p:cNvSpPr txBox="true"/>
          <p:nvPr/>
        </p:nvSpPr>
        <p:spPr>
          <a:xfrm rot="0">
            <a:off x="4171595" y="4258648"/>
            <a:ext cx="2699967" cy="438786"/>
          </a:xfrm>
          <a:prstGeom prst="rect">
            <a:avLst/>
          </a:prstGeom>
        </p:spPr>
        <p:txBody>
          <a:bodyPr anchor="t" rtlCol="false" tIns="0" lIns="0" bIns="0" rIns="0">
            <a:spAutoFit/>
          </a:bodyPr>
          <a:lstStyle/>
          <a:p>
            <a:pPr algn="ctr">
              <a:lnSpc>
                <a:spcPts val="3639"/>
              </a:lnSpc>
              <a:spcBef>
                <a:spcPct val="0"/>
              </a:spcBef>
            </a:pPr>
            <a:r>
              <a:rPr lang="en-US" sz="2599">
                <a:solidFill>
                  <a:srgbClr val="795913"/>
                </a:solidFill>
                <a:latin typeface="Nunito Sans"/>
                <a:ea typeface="Nunito Sans"/>
                <a:cs typeface="Nunito Sans"/>
                <a:sym typeface="Nunito Sans"/>
              </a:rPr>
              <a:t>t</a:t>
            </a:r>
            <a:r>
              <a:rPr lang="en-US" sz="2599">
                <a:solidFill>
                  <a:srgbClr val="795913"/>
                </a:solidFill>
                <a:latin typeface="Nunito Sans"/>
                <a:ea typeface="Nunito Sans"/>
                <a:cs typeface="Nunito Sans"/>
                <a:sym typeface="Nunito Sans"/>
              </a:rPr>
              <a:t>in tức tài chính</a:t>
            </a:r>
          </a:p>
        </p:txBody>
      </p:sp>
      <p:sp>
        <p:nvSpPr>
          <p:cNvPr name="TextBox 9" id="9"/>
          <p:cNvSpPr txBox="true"/>
          <p:nvPr/>
        </p:nvSpPr>
        <p:spPr>
          <a:xfrm rot="0">
            <a:off x="4171595" y="5259409"/>
            <a:ext cx="2699967" cy="895985"/>
          </a:xfrm>
          <a:prstGeom prst="rect">
            <a:avLst/>
          </a:prstGeom>
        </p:spPr>
        <p:txBody>
          <a:bodyPr anchor="t" rtlCol="false" tIns="0" lIns="0" bIns="0" rIns="0">
            <a:spAutoFit/>
          </a:bodyPr>
          <a:lstStyle/>
          <a:p>
            <a:pPr algn="ctr">
              <a:lnSpc>
                <a:spcPts val="3640"/>
              </a:lnSpc>
              <a:spcBef>
                <a:spcPct val="0"/>
              </a:spcBef>
            </a:pPr>
            <a:r>
              <a:rPr lang="en-US" sz="2600">
                <a:solidFill>
                  <a:srgbClr val="795913"/>
                </a:solidFill>
                <a:latin typeface="Nunito Sans"/>
                <a:ea typeface="Nunito Sans"/>
                <a:cs typeface="Nunito Sans"/>
                <a:sym typeface="Nunito Sans"/>
              </a:rPr>
              <a:t>báo </a:t>
            </a:r>
            <a:r>
              <a:rPr lang="en-US" sz="2600">
                <a:solidFill>
                  <a:srgbClr val="795913"/>
                </a:solidFill>
                <a:latin typeface="Nunito Sans"/>
                <a:ea typeface="Nunito Sans"/>
                <a:cs typeface="Nunito Sans"/>
                <a:sym typeface="Nunito Sans"/>
              </a:rPr>
              <a:t>cáo tài chính công ty</a:t>
            </a:r>
          </a:p>
        </p:txBody>
      </p:sp>
      <p:sp>
        <p:nvSpPr>
          <p:cNvPr name="TextBox 10" id="10"/>
          <p:cNvSpPr txBox="true"/>
          <p:nvPr/>
        </p:nvSpPr>
        <p:spPr>
          <a:xfrm rot="0">
            <a:off x="1210325" y="5486856"/>
            <a:ext cx="2197015" cy="438786"/>
          </a:xfrm>
          <a:prstGeom prst="rect">
            <a:avLst/>
          </a:prstGeom>
        </p:spPr>
        <p:txBody>
          <a:bodyPr anchor="t" rtlCol="false" tIns="0" lIns="0" bIns="0" rIns="0">
            <a:spAutoFit/>
          </a:bodyPr>
          <a:lstStyle/>
          <a:p>
            <a:pPr algn="ctr" marL="0" indent="0" lvl="0">
              <a:lnSpc>
                <a:spcPts val="3639"/>
              </a:lnSpc>
              <a:spcBef>
                <a:spcPct val="0"/>
              </a:spcBef>
            </a:pPr>
            <a:r>
              <a:rPr lang="en-US" sz="2599" strike="noStrike" u="none">
                <a:solidFill>
                  <a:srgbClr val="795913"/>
                </a:solidFill>
                <a:latin typeface="Nunito Sans"/>
                <a:ea typeface="Nunito Sans"/>
                <a:cs typeface="Nunito Sans"/>
                <a:sym typeface="Nunito Sans"/>
              </a:rPr>
              <a:t>Đầu vào</a:t>
            </a:r>
          </a:p>
        </p:txBody>
      </p:sp>
      <p:sp>
        <p:nvSpPr>
          <p:cNvPr name="AutoShape 11" id="11"/>
          <p:cNvSpPr/>
          <p:nvPr/>
        </p:nvSpPr>
        <p:spPr>
          <a:xfrm flipV="true">
            <a:off x="3407340" y="4501854"/>
            <a:ext cx="764256" cy="1228208"/>
          </a:xfrm>
          <a:prstGeom prst="line">
            <a:avLst/>
          </a:prstGeom>
          <a:ln cap="flat" w="38100">
            <a:solidFill>
              <a:srgbClr val="000000"/>
            </a:solidFill>
            <a:prstDash val="solid"/>
            <a:headEnd type="none" len="sm" w="sm"/>
            <a:tailEnd type="none" len="sm" w="sm"/>
          </a:ln>
        </p:spPr>
      </p:sp>
      <p:sp>
        <p:nvSpPr>
          <p:cNvPr name="AutoShape 12" id="12"/>
          <p:cNvSpPr/>
          <p:nvPr/>
        </p:nvSpPr>
        <p:spPr>
          <a:xfrm>
            <a:off x="3407340" y="5730061"/>
            <a:ext cx="764256" cy="1190107"/>
          </a:xfrm>
          <a:prstGeom prst="line">
            <a:avLst/>
          </a:prstGeom>
          <a:ln cap="flat" w="38100">
            <a:solidFill>
              <a:srgbClr val="000000"/>
            </a:solidFill>
            <a:prstDash val="solid"/>
            <a:headEnd type="none" len="sm" w="sm"/>
            <a:tailEnd type="none" len="sm" w="sm"/>
          </a:ln>
        </p:spPr>
      </p:sp>
      <p:sp>
        <p:nvSpPr>
          <p:cNvPr name="AutoShape 13" id="13"/>
          <p:cNvSpPr/>
          <p:nvPr/>
        </p:nvSpPr>
        <p:spPr>
          <a:xfrm>
            <a:off x="3407340" y="5730061"/>
            <a:ext cx="764256" cy="1153"/>
          </a:xfrm>
          <a:prstGeom prst="line">
            <a:avLst/>
          </a:prstGeom>
          <a:ln cap="flat" w="38100">
            <a:solidFill>
              <a:srgbClr val="000000"/>
            </a:solidFill>
            <a:prstDash val="solid"/>
            <a:headEnd type="none" len="sm" w="sm"/>
            <a:tailEnd type="none" len="sm" w="sm"/>
          </a:ln>
        </p:spPr>
      </p:sp>
      <p:sp>
        <p:nvSpPr>
          <p:cNvPr name="TextBox 14" id="14"/>
          <p:cNvSpPr txBox="true"/>
          <p:nvPr/>
        </p:nvSpPr>
        <p:spPr>
          <a:xfrm rot="0">
            <a:off x="13766102" y="7562303"/>
            <a:ext cx="2197015" cy="438786"/>
          </a:xfrm>
          <a:prstGeom prst="rect">
            <a:avLst/>
          </a:prstGeom>
        </p:spPr>
        <p:txBody>
          <a:bodyPr anchor="t" rtlCol="false" tIns="0" lIns="0" bIns="0" rIns="0">
            <a:spAutoFit/>
          </a:bodyPr>
          <a:lstStyle/>
          <a:p>
            <a:pPr algn="ctr" marL="0" indent="0" lvl="0">
              <a:lnSpc>
                <a:spcPts val="3639"/>
              </a:lnSpc>
              <a:spcBef>
                <a:spcPct val="0"/>
              </a:spcBef>
            </a:pPr>
            <a:r>
              <a:rPr lang="en-US" sz="2599" strike="noStrike" u="none">
                <a:solidFill>
                  <a:srgbClr val="795913"/>
                </a:solidFill>
                <a:latin typeface="Nunito Sans"/>
                <a:ea typeface="Nunito Sans"/>
                <a:cs typeface="Nunito Sans"/>
                <a:sym typeface="Nunito Sans"/>
              </a:rPr>
              <a:t>Đầu ra</a:t>
            </a:r>
          </a:p>
        </p:txBody>
      </p:sp>
      <p:sp>
        <p:nvSpPr>
          <p:cNvPr name="AutoShape 15" id="15"/>
          <p:cNvSpPr/>
          <p:nvPr/>
        </p:nvSpPr>
        <p:spPr>
          <a:xfrm flipH="true">
            <a:off x="13129140" y="7805508"/>
            <a:ext cx="828871" cy="0"/>
          </a:xfrm>
          <a:prstGeom prst="line">
            <a:avLst/>
          </a:prstGeom>
          <a:ln cap="flat" w="38100">
            <a:solidFill>
              <a:srgbClr val="000000"/>
            </a:solidFill>
            <a:prstDash val="solid"/>
            <a:headEnd type="none" len="sm" w="sm"/>
            <a:tailEnd type="none" len="sm" w="sm"/>
          </a:ln>
        </p:spPr>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bg>
      <p:bgPr>
        <a:solidFill>
          <a:srgbClr val="F4F4DC"/>
        </a:solidFill>
      </p:bgPr>
    </p:bg>
    <p:spTree>
      <p:nvGrpSpPr>
        <p:cNvPr id="1" name=""/>
        <p:cNvGrpSpPr/>
        <p:nvPr/>
      </p:nvGrpSpPr>
      <p:grpSpPr>
        <a:xfrm>
          <a:off x="0" y="0"/>
          <a:ext cx="0" cy="0"/>
          <a:chOff x="0" y="0"/>
          <a:chExt cx="0" cy="0"/>
        </a:xfrm>
      </p:grpSpPr>
      <p:sp>
        <p:nvSpPr>
          <p:cNvPr name="Freeform 2" id="2"/>
          <p:cNvSpPr/>
          <p:nvPr/>
        </p:nvSpPr>
        <p:spPr>
          <a:xfrm flipH="false" flipV="true" rot="-10800000">
            <a:off x="-6409091" y="-6706756"/>
            <a:ext cx="20438660" cy="18113763"/>
          </a:xfrm>
          <a:custGeom>
            <a:avLst/>
            <a:gdLst/>
            <a:ahLst/>
            <a:cxnLst/>
            <a:rect r="r" b="b" t="t" l="l"/>
            <a:pathLst>
              <a:path h="18113763" w="20438660">
                <a:moveTo>
                  <a:pt x="0" y="18113763"/>
                </a:moveTo>
                <a:lnTo>
                  <a:pt x="20438660" y="18113763"/>
                </a:lnTo>
                <a:lnTo>
                  <a:pt x="20438660" y="0"/>
                </a:lnTo>
                <a:lnTo>
                  <a:pt x="0" y="0"/>
                </a:lnTo>
                <a:lnTo>
                  <a:pt x="0" y="18113763"/>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663679" y="8193411"/>
            <a:ext cx="969230" cy="2415527"/>
          </a:xfrm>
          <a:custGeom>
            <a:avLst/>
            <a:gdLst/>
            <a:ahLst/>
            <a:cxnLst/>
            <a:rect r="r" b="b" t="t" l="l"/>
            <a:pathLst>
              <a:path h="2415527" w="969230">
                <a:moveTo>
                  <a:pt x="0" y="0"/>
                </a:moveTo>
                <a:lnTo>
                  <a:pt x="969230" y="0"/>
                </a:lnTo>
                <a:lnTo>
                  <a:pt x="969230" y="2415528"/>
                </a:lnTo>
                <a:lnTo>
                  <a:pt x="0" y="24155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true" rot="-10800000">
            <a:off x="16028846" y="-2292887"/>
            <a:ext cx="6647166" cy="5076773"/>
          </a:xfrm>
          <a:custGeom>
            <a:avLst/>
            <a:gdLst/>
            <a:ahLst/>
            <a:cxnLst/>
            <a:rect r="r" b="b" t="t" l="l"/>
            <a:pathLst>
              <a:path h="5076773" w="6647166">
                <a:moveTo>
                  <a:pt x="0" y="5076773"/>
                </a:moveTo>
                <a:lnTo>
                  <a:pt x="6647166" y="5076773"/>
                </a:lnTo>
                <a:lnTo>
                  <a:pt x="6647166" y="0"/>
                </a:lnTo>
                <a:lnTo>
                  <a:pt x="0" y="0"/>
                </a:lnTo>
                <a:lnTo>
                  <a:pt x="0" y="5076773"/>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3696875" y="2975901"/>
            <a:ext cx="11315540" cy="5940659"/>
          </a:xfrm>
          <a:custGeom>
            <a:avLst/>
            <a:gdLst/>
            <a:ahLst/>
            <a:cxnLst/>
            <a:rect r="r" b="b" t="t" l="l"/>
            <a:pathLst>
              <a:path h="5940659" w="11315540">
                <a:moveTo>
                  <a:pt x="0" y="0"/>
                </a:moveTo>
                <a:lnTo>
                  <a:pt x="11315541" y="0"/>
                </a:lnTo>
                <a:lnTo>
                  <a:pt x="11315541" y="5940659"/>
                </a:lnTo>
                <a:lnTo>
                  <a:pt x="0" y="5940659"/>
                </a:lnTo>
                <a:lnTo>
                  <a:pt x="0" y="0"/>
                </a:lnTo>
                <a:close/>
              </a:path>
            </a:pathLst>
          </a:custGeom>
          <a:blipFill>
            <a:blip r:embed="rId8"/>
            <a:stretch>
              <a:fillRect l="0" t="0" r="0" b="0"/>
            </a:stretch>
          </a:blipFill>
        </p:spPr>
      </p:sp>
      <p:sp>
        <p:nvSpPr>
          <p:cNvPr name="TextBox 6" id="6"/>
          <p:cNvSpPr txBox="true"/>
          <p:nvPr/>
        </p:nvSpPr>
        <p:spPr>
          <a:xfrm rot="0">
            <a:off x="1305575" y="857250"/>
            <a:ext cx="9714642" cy="3036014"/>
          </a:xfrm>
          <a:prstGeom prst="rect">
            <a:avLst/>
          </a:prstGeom>
        </p:spPr>
        <p:txBody>
          <a:bodyPr anchor="t" rtlCol="false" tIns="0" lIns="0" bIns="0" rIns="0">
            <a:spAutoFit/>
          </a:bodyPr>
          <a:lstStyle/>
          <a:p>
            <a:pPr algn="l">
              <a:lnSpc>
                <a:spcPts val="12210"/>
              </a:lnSpc>
            </a:pPr>
            <a:r>
              <a:rPr lang="en-US" sz="8721">
                <a:solidFill>
                  <a:srgbClr val="014225"/>
                </a:solidFill>
                <a:latin typeface="Nunito Sans"/>
                <a:ea typeface="Nunito Sans"/>
                <a:cs typeface="Nunito Sans"/>
                <a:sym typeface="Nunito Sans"/>
              </a:rPr>
              <a:t>Câu hỏi 1</a:t>
            </a:r>
          </a:p>
          <a:p>
            <a:pPr algn="l" marL="0" indent="0" lvl="0">
              <a:lnSpc>
                <a:spcPts val="12210"/>
              </a:lnSpc>
              <a:spcBef>
                <a:spcPct val="0"/>
              </a:spcBef>
            </a:pPr>
          </a:p>
        </p:txBody>
      </p:sp>
      <p:sp>
        <p:nvSpPr>
          <p:cNvPr name="TextBox 7" id="7"/>
          <p:cNvSpPr txBox="true"/>
          <p:nvPr/>
        </p:nvSpPr>
        <p:spPr>
          <a:xfrm rot="0">
            <a:off x="1210325" y="2135160"/>
            <a:ext cx="16470816" cy="487828"/>
          </a:xfrm>
          <a:prstGeom prst="rect">
            <a:avLst/>
          </a:prstGeom>
        </p:spPr>
        <p:txBody>
          <a:bodyPr anchor="t" rtlCol="false" tIns="0" lIns="0" bIns="0" rIns="0">
            <a:spAutoFit/>
          </a:bodyPr>
          <a:lstStyle/>
          <a:p>
            <a:pPr algn="l" marL="0" indent="0" lvl="0">
              <a:lnSpc>
                <a:spcPts val="4086"/>
              </a:lnSpc>
              <a:spcBef>
                <a:spcPct val="0"/>
              </a:spcBef>
            </a:pPr>
            <a:r>
              <a:rPr lang="en-US" sz="2919">
                <a:solidFill>
                  <a:srgbClr val="795913"/>
                </a:solidFill>
                <a:latin typeface="Nunito Sans"/>
                <a:ea typeface="Nunito Sans"/>
                <a:cs typeface="Nunito Sans"/>
                <a:sym typeface="Nunito Sans"/>
              </a:rPr>
              <a:t>Khung mô hình có tìm alpha mới theo điều kiện thị trường không?</a:t>
            </a:r>
          </a:p>
        </p:txBody>
      </p:sp>
      <p:sp>
        <p:nvSpPr>
          <p:cNvPr name="TextBox 8" id="8"/>
          <p:cNvSpPr txBox="true"/>
          <p:nvPr/>
        </p:nvSpPr>
        <p:spPr>
          <a:xfrm rot="0">
            <a:off x="15107666" y="3418445"/>
            <a:ext cx="2909352" cy="5314950"/>
          </a:xfrm>
          <a:prstGeom prst="rect">
            <a:avLst/>
          </a:prstGeom>
        </p:spPr>
        <p:txBody>
          <a:bodyPr anchor="t" rtlCol="false" tIns="0" lIns="0" bIns="0" rIns="0">
            <a:spAutoFit/>
          </a:bodyPr>
          <a:lstStyle/>
          <a:p>
            <a:pPr algn="l">
              <a:lnSpc>
                <a:spcPts val="4200"/>
              </a:lnSpc>
              <a:spcBef>
                <a:spcPct val="0"/>
              </a:spcBef>
            </a:pPr>
            <a:r>
              <a:rPr lang="en-US" b="true" sz="3000">
                <a:solidFill>
                  <a:srgbClr val="795913"/>
                </a:solidFill>
                <a:latin typeface="Nunito Sans Bold"/>
                <a:ea typeface="Nunito Sans Bold"/>
                <a:cs typeface="Nunito Sans Bold"/>
                <a:sym typeface="Nunito Sans Bold"/>
              </a:rPr>
              <a:t>Case 2: </a:t>
            </a:r>
            <a:r>
              <a:rPr lang="en-US" sz="3000">
                <a:solidFill>
                  <a:srgbClr val="795913"/>
                </a:solidFill>
                <a:latin typeface="Nunito Sans"/>
                <a:ea typeface="Nunito Sans"/>
                <a:cs typeface="Nunito Sans"/>
                <a:sym typeface="Nunito Sans"/>
              </a:rPr>
              <a:t>Dữ liệu tập trung vào tin tức thị trường, chỉ số vĩ mô </a:t>
            </a:r>
          </a:p>
          <a:p>
            <a:pPr algn="l">
              <a:lnSpc>
                <a:spcPts val="4200"/>
              </a:lnSpc>
              <a:spcBef>
                <a:spcPct val="0"/>
              </a:spcBef>
            </a:pPr>
          </a:p>
          <a:p>
            <a:pPr algn="l">
              <a:lnSpc>
                <a:spcPts val="4200"/>
              </a:lnSpc>
              <a:spcBef>
                <a:spcPct val="0"/>
              </a:spcBef>
            </a:pPr>
            <a:r>
              <a:rPr lang="en-US" sz="3000">
                <a:solidFill>
                  <a:srgbClr val="795913"/>
                </a:solidFill>
                <a:latin typeface="Nunito Sans"/>
                <a:ea typeface="Nunito Sans"/>
                <a:cs typeface="Nunito Sans"/>
                <a:sym typeface="Nunito Sans"/>
              </a:rPr>
              <a:t>=&gt; Alpha thiên về biến động (volatility) và yếu tố kinh tế.</a:t>
            </a:r>
          </a:p>
        </p:txBody>
      </p:sp>
      <p:sp>
        <p:nvSpPr>
          <p:cNvPr name="TextBox 9" id="9"/>
          <p:cNvSpPr txBox="true"/>
          <p:nvPr/>
        </p:nvSpPr>
        <p:spPr>
          <a:xfrm rot="0">
            <a:off x="307213" y="3951845"/>
            <a:ext cx="3294412" cy="4248150"/>
          </a:xfrm>
          <a:prstGeom prst="rect">
            <a:avLst/>
          </a:prstGeom>
        </p:spPr>
        <p:txBody>
          <a:bodyPr anchor="t" rtlCol="false" tIns="0" lIns="0" bIns="0" rIns="0">
            <a:spAutoFit/>
          </a:bodyPr>
          <a:lstStyle/>
          <a:p>
            <a:pPr algn="l">
              <a:lnSpc>
                <a:spcPts val="4200"/>
              </a:lnSpc>
              <a:spcBef>
                <a:spcPct val="0"/>
              </a:spcBef>
            </a:pPr>
            <a:r>
              <a:rPr lang="en-US" b="true" sz="3000">
                <a:solidFill>
                  <a:srgbClr val="795913"/>
                </a:solidFill>
                <a:latin typeface="Nunito Sans Bold"/>
                <a:ea typeface="Nunito Sans Bold"/>
                <a:cs typeface="Nunito Sans Bold"/>
                <a:sym typeface="Nunito Sans Bold"/>
              </a:rPr>
              <a:t>Case 1:</a:t>
            </a:r>
            <a:r>
              <a:rPr lang="en-US" sz="3000">
                <a:solidFill>
                  <a:srgbClr val="795913"/>
                </a:solidFill>
                <a:latin typeface="Nunito Sans"/>
                <a:ea typeface="Nunito Sans"/>
                <a:cs typeface="Nunito Sans"/>
                <a:sym typeface="Nunito Sans"/>
              </a:rPr>
              <a:t> Dữ liệu tập trung vào thông báo, báo cáo </a:t>
            </a:r>
          </a:p>
          <a:p>
            <a:pPr algn="l">
              <a:lnSpc>
                <a:spcPts val="4200"/>
              </a:lnSpc>
              <a:spcBef>
                <a:spcPct val="0"/>
              </a:spcBef>
            </a:pPr>
          </a:p>
          <a:p>
            <a:pPr algn="l">
              <a:lnSpc>
                <a:spcPts val="4200"/>
              </a:lnSpc>
              <a:spcBef>
                <a:spcPct val="0"/>
              </a:spcBef>
            </a:pPr>
            <a:r>
              <a:rPr lang="en-US" sz="3000">
                <a:solidFill>
                  <a:srgbClr val="795913"/>
                </a:solidFill>
                <a:latin typeface="Nunito Sans"/>
                <a:ea typeface="Nunito Sans"/>
                <a:cs typeface="Nunito Sans"/>
                <a:sym typeface="Nunito Sans"/>
              </a:rPr>
              <a:t>=&gt; Alpha nghiêng về động lượng giá và khối lượng.</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bg>
      <p:bgPr>
        <a:solidFill>
          <a:srgbClr val="F4F4DC"/>
        </a:solidFill>
      </p:bgPr>
    </p:bg>
    <p:spTree>
      <p:nvGrpSpPr>
        <p:cNvPr id="1" name=""/>
        <p:cNvGrpSpPr/>
        <p:nvPr/>
      </p:nvGrpSpPr>
      <p:grpSpPr>
        <a:xfrm>
          <a:off x="0" y="0"/>
          <a:ext cx="0" cy="0"/>
          <a:chOff x="0" y="0"/>
          <a:chExt cx="0" cy="0"/>
        </a:xfrm>
      </p:grpSpPr>
      <p:sp>
        <p:nvSpPr>
          <p:cNvPr name="Freeform 2" id="2"/>
          <p:cNvSpPr/>
          <p:nvPr/>
        </p:nvSpPr>
        <p:spPr>
          <a:xfrm flipH="false" flipV="true" rot="-10800000">
            <a:off x="-5452670" y="-7367424"/>
            <a:ext cx="20438660" cy="18113763"/>
          </a:xfrm>
          <a:custGeom>
            <a:avLst/>
            <a:gdLst/>
            <a:ahLst/>
            <a:cxnLst/>
            <a:rect r="r" b="b" t="t" l="l"/>
            <a:pathLst>
              <a:path h="18113763" w="20438660">
                <a:moveTo>
                  <a:pt x="0" y="18113762"/>
                </a:moveTo>
                <a:lnTo>
                  <a:pt x="20438660" y="18113762"/>
                </a:lnTo>
                <a:lnTo>
                  <a:pt x="20438660" y="0"/>
                </a:lnTo>
                <a:lnTo>
                  <a:pt x="0" y="0"/>
                </a:lnTo>
                <a:lnTo>
                  <a:pt x="0" y="1811376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663679" y="8193411"/>
            <a:ext cx="969230" cy="2415527"/>
          </a:xfrm>
          <a:custGeom>
            <a:avLst/>
            <a:gdLst/>
            <a:ahLst/>
            <a:cxnLst/>
            <a:rect r="r" b="b" t="t" l="l"/>
            <a:pathLst>
              <a:path h="2415527" w="969230">
                <a:moveTo>
                  <a:pt x="0" y="0"/>
                </a:moveTo>
                <a:lnTo>
                  <a:pt x="969230" y="0"/>
                </a:lnTo>
                <a:lnTo>
                  <a:pt x="969230" y="2415528"/>
                </a:lnTo>
                <a:lnTo>
                  <a:pt x="0" y="24155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9440832" y="3031297"/>
            <a:ext cx="7818468" cy="6641955"/>
          </a:xfrm>
          <a:custGeom>
            <a:avLst/>
            <a:gdLst/>
            <a:ahLst/>
            <a:cxnLst/>
            <a:rect r="r" b="b" t="t" l="l"/>
            <a:pathLst>
              <a:path h="6641955" w="7818468">
                <a:moveTo>
                  <a:pt x="0" y="0"/>
                </a:moveTo>
                <a:lnTo>
                  <a:pt x="7818468" y="0"/>
                </a:lnTo>
                <a:lnTo>
                  <a:pt x="7818468" y="6641955"/>
                </a:lnTo>
                <a:lnTo>
                  <a:pt x="0" y="6641955"/>
                </a:lnTo>
                <a:lnTo>
                  <a:pt x="0" y="0"/>
                </a:lnTo>
                <a:close/>
              </a:path>
            </a:pathLst>
          </a:custGeom>
          <a:blipFill>
            <a:blip r:embed="rId6"/>
            <a:stretch>
              <a:fillRect l="0" t="0" r="0" b="0"/>
            </a:stretch>
          </a:blipFill>
        </p:spPr>
      </p:sp>
      <p:sp>
        <p:nvSpPr>
          <p:cNvPr name="TextBox 5" id="5"/>
          <p:cNvSpPr txBox="true"/>
          <p:nvPr/>
        </p:nvSpPr>
        <p:spPr>
          <a:xfrm rot="0">
            <a:off x="1210325" y="857250"/>
            <a:ext cx="9714642" cy="1492964"/>
          </a:xfrm>
          <a:prstGeom prst="rect">
            <a:avLst/>
          </a:prstGeom>
        </p:spPr>
        <p:txBody>
          <a:bodyPr anchor="t" rtlCol="false" tIns="0" lIns="0" bIns="0" rIns="0">
            <a:spAutoFit/>
          </a:bodyPr>
          <a:lstStyle/>
          <a:p>
            <a:pPr algn="l" marL="0" indent="0" lvl="0">
              <a:lnSpc>
                <a:spcPts val="12210"/>
              </a:lnSpc>
              <a:spcBef>
                <a:spcPct val="0"/>
              </a:spcBef>
            </a:pPr>
            <a:r>
              <a:rPr lang="en-US" sz="8721">
                <a:solidFill>
                  <a:srgbClr val="014225"/>
                </a:solidFill>
                <a:latin typeface="Nunito Sans"/>
                <a:ea typeface="Nunito Sans"/>
                <a:cs typeface="Nunito Sans"/>
                <a:sym typeface="Nunito Sans"/>
              </a:rPr>
              <a:t>Câu hỏi 2</a:t>
            </a:r>
          </a:p>
        </p:txBody>
      </p:sp>
      <p:sp>
        <p:nvSpPr>
          <p:cNvPr name="TextBox 6" id="6"/>
          <p:cNvSpPr txBox="true"/>
          <p:nvPr/>
        </p:nvSpPr>
        <p:spPr>
          <a:xfrm rot="0">
            <a:off x="1210325" y="2135160"/>
            <a:ext cx="16470816" cy="487828"/>
          </a:xfrm>
          <a:prstGeom prst="rect">
            <a:avLst/>
          </a:prstGeom>
        </p:spPr>
        <p:txBody>
          <a:bodyPr anchor="t" rtlCol="false" tIns="0" lIns="0" bIns="0" rIns="0">
            <a:spAutoFit/>
          </a:bodyPr>
          <a:lstStyle/>
          <a:p>
            <a:pPr algn="l" marL="0" indent="0" lvl="0">
              <a:lnSpc>
                <a:spcPts val="4086"/>
              </a:lnSpc>
              <a:spcBef>
                <a:spcPct val="0"/>
              </a:spcBef>
            </a:pPr>
            <a:r>
              <a:rPr lang="en-US" sz="2919">
                <a:solidFill>
                  <a:srgbClr val="795913"/>
                </a:solidFill>
                <a:latin typeface="Nunito Sans"/>
                <a:ea typeface="Nunito Sans"/>
                <a:cs typeface="Nunito Sans"/>
                <a:sym typeface="Nunito Sans"/>
              </a:rPr>
              <a:t>RQ2: LLM có khai thác alpha hiệu quả hơn alpha factory hiện tại không?</a:t>
            </a:r>
          </a:p>
        </p:txBody>
      </p:sp>
      <p:sp>
        <p:nvSpPr>
          <p:cNvPr name="TextBox 7" id="7"/>
          <p:cNvSpPr txBox="true"/>
          <p:nvPr/>
        </p:nvSpPr>
        <p:spPr>
          <a:xfrm rot="0">
            <a:off x="1210325" y="4039065"/>
            <a:ext cx="7362041" cy="3104663"/>
          </a:xfrm>
          <a:prstGeom prst="rect">
            <a:avLst/>
          </a:prstGeom>
        </p:spPr>
        <p:txBody>
          <a:bodyPr anchor="t" rtlCol="false" tIns="0" lIns="0" bIns="0" rIns="0">
            <a:spAutoFit/>
          </a:bodyPr>
          <a:lstStyle/>
          <a:p>
            <a:pPr algn="l">
              <a:lnSpc>
                <a:spcPts val="4366"/>
              </a:lnSpc>
            </a:pPr>
            <a:r>
              <a:rPr lang="en-US" sz="3119" b="true">
                <a:solidFill>
                  <a:srgbClr val="795913"/>
                </a:solidFill>
                <a:latin typeface="Nunito Sans Bold"/>
                <a:ea typeface="Nunito Sans Bold"/>
                <a:cs typeface="Nunito Sans Bold"/>
                <a:sym typeface="Nunito Sans Bold"/>
              </a:rPr>
              <a:t>IC (Information Coefficient)</a:t>
            </a:r>
          </a:p>
          <a:p>
            <a:pPr algn="l">
              <a:lnSpc>
                <a:spcPts val="4086"/>
              </a:lnSpc>
            </a:pPr>
            <a:r>
              <a:rPr lang="en-US" sz="2919">
                <a:solidFill>
                  <a:srgbClr val="795913"/>
                </a:solidFill>
                <a:latin typeface="Nunito Sans"/>
                <a:ea typeface="Nunito Sans"/>
                <a:cs typeface="Nunito Sans"/>
                <a:sym typeface="Nunito Sans"/>
              </a:rPr>
              <a:t>đo lường độ tương quan giữa giá trị alpha dự đoán và lợi nhuận thực tế.</a:t>
            </a:r>
          </a:p>
          <a:p>
            <a:pPr algn="l">
              <a:lnSpc>
                <a:spcPts val="4086"/>
              </a:lnSpc>
            </a:pPr>
          </a:p>
          <a:p>
            <a:pPr algn="l" marL="0" indent="0" lvl="0">
              <a:lnSpc>
                <a:spcPts val="4086"/>
              </a:lnSpc>
              <a:spcBef>
                <a:spcPct val="0"/>
              </a:spcBef>
            </a:pPr>
            <a:r>
              <a:rPr lang="en-US" sz="2919">
                <a:solidFill>
                  <a:srgbClr val="795913"/>
                </a:solidFill>
                <a:latin typeface="Nunito Sans"/>
                <a:ea typeface="Nunito Sans"/>
                <a:cs typeface="Nunito Sans"/>
                <a:sym typeface="Nunito Sans"/>
              </a:rPr>
              <a:t>=&gt; IC càng cao, alpha càng dự báo tốt lợi nhuận tương lai.</a:t>
            </a: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bg>
      <p:bgPr>
        <a:solidFill>
          <a:srgbClr val="F4F4DC"/>
        </a:solidFill>
      </p:bgPr>
    </p:bg>
    <p:spTree>
      <p:nvGrpSpPr>
        <p:cNvPr id="1" name=""/>
        <p:cNvGrpSpPr/>
        <p:nvPr/>
      </p:nvGrpSpPr>
      <p:grpSpPr>
        <a:xfrm>
          <a:off x="0" y="0"/>
          <a:ext cx="0" cy="0"/>
          <a:chOff x="0" y="0"/>
          <a:chExt cx="0" cy="0"/>
        </a:xfrm>
      </p:grpSpPr>
      <p:sp>
        <p:nvSpPr>
          <p:cNvPr name="Freeform 2" id="2"/>
          <p:cNvSpPr/>
          <p:nvPr/>
        </p:nvSpPr>
        <p:spPr>
          <a:xfrm flipH="false" flipV="true" rot="-10800000">
            <a:off x="-5452670" y="-7367424"/>
            <a:ext cx="20438660" cy="18113763"/>
          </a:xfrm>
          <a:custGeom>
            <a:avLst/>
            <a:gdLst/>
            <a:ahLst/>
            <a:cxnLst/>
            <a:rect r="r" b="b" t="t" l="l"/>
            <a:pathLst>
              <a:path h="18113763" w="20438660">
                <a:moveTo>
                  <a:pt x="0" y="18113762"/>
                </a:moveTo>
                <a:lnTo>
                  <a:pt x="20438660" y="18113762"/>
                </a:lnTo>
                <a:lnTo>
                  <a:pt x="20438660" y="0"/>
                </a:lnTo>
                <a:lnTo>
                  <a:pt x="0" y="0"/>
                </a:lnTo>
                <a:lnTo>
                  <a:pt x="0" y="1811376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663679" y="8193411"/>
            <a:ext cx="969230" cy="2415527"/>
          </a:xfrm>
          <a:custGeom>
            <a:avLst/>
            <a:gdLst/>
            <a:ahLst/>
            <a:cxnLst/>
            <a:rect r="r" b="b" t="t" l="l"/>
            <a:pathLst>
              <a:path h="2415527" w="969230">
                <a:moveTo>
                  <a:pt x="0" y="0"/>
                </a:moveTo>
                <a:lnTo>
                  <a:pt x="969230" y="0"/>
                </a:lnTo>
                <a:lnTo>
                  <a:pt x="969230" y="2415528"/>
                </a:lnTo>
                <a:lnTo>
                  <a:pt x="0" y="24155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210325" y="857250"/>
            <a:ext cx="9714642" cy="1492964"/>
          </a:xfrm>
          <a:prstGeom prst="rect">
            <a:avLst/>
          </a:prstGeom>
        </p:spPr>
        <p:txBody>
          <a:bodyPr anchor="t" rtlCol="false" tIns="0" lIns="0" bIns="0" rIns="0">
            <a:spAutoFit/>
          </a:bodyPr>
          <a:lstStyle/>
          <a:p>
            <a:pPr algn="l" marL="0" indent="0" lvl="0">
              <a:lnSpc>
                <a:spcPts val="12210"/>
              </a:lnSpc>
              <a:spcBef>
                <a:spcPct val="0"/>
              </a:spcBef>
            </a:pPr>
            <a:r>
              <a:rPr lang="en-US" sz="8721">
                <a:solidFill>
                  <a:srgbClr val="014225"/>
                </a:solidFill>
                <a:latin typeface="Nunito Sans"/>
                <a:ea typeface="Nunito Sans"/>
                <a:cs typeface="Nunito Sans"/>
                <a:sym typeface="Nunito Sans"/>
              </a:rPr>
              <a:t>Câu hỏi 3</a:t>
            </a:r>
          </a:p>
        </p:txBody>
      </p:sp>
      <p:sp>
        <p:nvSpPr>
          <p:cNvPr name="TextBox 5" id="5"/>
          <p:cNvSpPr txBox="true"/>
          <p:nvPr/>
        </p:nvSpPr>
        <p:spPr>
          <a:xfrm rot="0">
            <a:off x="1210325" y="2109785"/>
            <a:ext cx="16470816" cy="487828"/>
          </a:xfrm>
          <a:prstGeom prst="rect">
            <a:avLst/>
          </a:prstGeom>
        </p:spPr>
        <p:txBody>
          <a:bodyPr anchor="t" rtlCol="false" tIns="0" lIns="0" bIns="0" rIns="0">
            <a:spAutoFit/>
          </a:bodyPr>
          <a:lstStyle/>
          <a:p>
            <a:pPr algn="l" marL="0" indent="0" lvl="0">
              <a:lnSpc>
                <a:spcPts val="4086"/>
              </a:lnSpc>
              <a:spcBef>
                <a:spcPct val="0"/>
              </a:spcBef>
            </a:pPr>
            <a:r>
              <a:rPr lang="en-US" sz="2919">
                <a:solidFill>
                  <a:srgbClr val="795913"/>
                </a:solidFill>
                <a:latin typeface="Nunito Sans"/>
                <a:ea typeface="Nunito Sans"/>
                <a:cs typeface="Nunito Sans"/>
                <a:sym typeface="Nunito Sans"/>
              </a:rPr>
              <a:t>Chiến lược dựa trên LLM có thể duy trì lợi nhuận cao hơn thị trường không?</a:t>
            </a:r>
          </a:p>
        </p:txBody>
      </p:sp>
      <p:sp>
        <p:nvSpPr>
          <p:cNvPr name="TextBox 6" id="6"/>
          <p:cNvSpPr txBox="true"/>
          <p:nvPr/>
        </p:nvSpPr>
        <p:spPr>
          <a:xfrm rot="0">
            <a:off x="1860332" y="3612289"/>
            <a:ext cx="14567337" cy="5162063"/>
          </a:xfrm>
          <a:prstGeom prst="rect">
            <a:avLst/>
          </a:prstGeom>
        </p:spPr>
        <p:txBody>
          <a:bodyPr anchor="t" rtlCol="false" tIns="0" lIns="0" bIns="0" rIns="0">
            <a:spAutoFit/>
          </a:bodyPr>
          <a:lstStyle/>
          <a:p>
            <a:pPr algn="l">
              <a:lnSpc>
                <a:spcPts val="4366"/>
              </a:lnSpc>
            </a:pPr>
            <a:r>
              <a:rPr lang="en-US" sz="3119" b="true">
                <a:solidFill>
                  <a:srgbClr val="795913"/>
                </a:solidFill>
                <a:latin typeface="Nunito Sans Bold"/>
                <a:ea typeface="Nunito Sans Bold"/>
                <a:cs typeface="Nunito Sans Bold"/>
                <a:sym typeface="Nunito Sans Bold"/>
              </a:rPr>
              <a:t>Backtest:</a:t>
            </a:r>
          </a:p>
          <a:p>
            <a:pPr algn="l">
              <a:lnSpc>
                <a:spcPts val="4086"/>
              </a:lnSpc>
            </a:pPr>
          </a:p>
          <a:p>
            <a:pPr algn="l" marL="630253" indent="-315126" lvl="1">
              <a:lnSpc>
                <a:spcPts val="4086"/>
              </a:lnSpc>
              <a:buFont typeface="Arial"/>
              <a:buChar char="•"/>
            </a:pPr>
            <a:r>
              <a:rPr lang="en-US" sz="2919">
                <a:solidFill>
                  <a:srgbClr val="795913"/>
                </a:solidFill>
                <a:latin typeface="Nunito Sans"/>
                <a:ea typeface="Nunito Sans"/>
                <a:cs typeface="Nunito Sans"/>
                <a:sym typeface="Nunito Sans"/>
              </a:rPr>
              <a:t>Danh mục đầu tư có 13 cổ phiếu, nhưng nếu một số cổ phiếu không còn nằm trong top 13 theo alpha, hệ thống sẽ bán những mã đó và mua những mã mới.</a:t>
            </a:r>
          </a:p>
          <a:p>
            <a:pPr algn="l">
              <a:lnSpc>
                <a:spcPts val="4086"/>
              </a:lnSpc>
            </a:pPr>
          </a:p>
          <a:p>
            <a:pPr algn="l" marL="630253" indent="-315126" lvl="1">
              <a:lnSpc>
                <a:spcPts val="4086"/>
              </a:lnSpc>
              <a:buFont typeface="Arial"/>
              <a:buChar char="•"/>
            </a:pPr>
            <a:r>
              <a:rPr lang="en-US" sz="2919">
                <a:solidFill>
                  <a:srgbClr val="795913"/>
                </a:solidFill>
                <a:latin typeface="Nunito Sans"/>
                <a:ea typeface="Nunito Sans"/>
                <a:cs typeface="Nunito Sans"/>
                <a:sym typeface="Nunito Sans"/>
              </a:rPr>
              <a:t>Đ</a:t>
            </a:r>
            <a:r>
              <a:rPr lang="en-US" sz="2919">
                <a:solidFill>
                  <a:srgbClr val="795913"/>
                </a:solidFill>
                <a:latin typeface="Nunito Sans"/>
                <a:ea typeface="Nunito Sans"/>
                <a:cs typeface="Nunito Sans"/>
                <a:sym typeface="Nunito Sans"/>
              </a:rPr>
              <a:t>ể kiểm soát chi phí giao dịch, nó sẽ không mua/bán hơn 5 mã cổ phiếu trong một ngày.</a:t>
            </a:r>
          </a:p>
          <a:p>
            <a:pPr algn="l">
              <a:lnSpc>
                <a:spcPts val="4086"/>
              </a:lnSpc>
            </a:pPr>
          </a:p>
          <a:p>
            <a:pPr algn="l">
              <a:lnSpc>
                <a:spcPts val="4086"/>
              </a:lnSpc>
            </a:pPr>
            <a:r>
              <a:rPr lang="en-US" sz="2919">
                <a:solidFill>
                  <a:srgbClr val="795913"/>
                </a:solidFill>
                <a:latin typeface="Nunito Sans"/>
                <a:ea typeface="Nunito Sans"/>
                <a:cs typeface="Nunito Sans"/>
                <a:sym typeface="Nunito Sans"/>
              </a:rPr>
              <a:t>=&gt; Mục tiêu là tối ưu hóa danh mục mà không phát sinh quá nhiều chi phí giao dịch.</a:t>
            </a:r>
          </a:p>
          <a:p>
            <a:pPr algn="l" marL="0" indent="0" lvl="0">
              <a:lnSpc>
                <a:spcPts val="4086"/>
              </a:lnSpc>
              <a:spcBef>
                <a:spcPct val="0"/>
              </a:spcBef>
            </a:pPr>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bg>
      <p:bgPr>
        <a:solidFill>
          <a:srgbClr val="F4F4DC"/>
        </a:solidFill>
      </p:bgPr>
    </p:bg>
    <p:spTree>
      <p:nvGrpSpPr>
        <p:cNvPr id="1" name=""/>
        <p:cNvGrpSpPr/>
        <p:nvPr/>
      </p:nvGrpSpPr>
      <p:grpSpPr>
        <a:xfrm>
          <a:off x="0" y="0"/>
          <a:ext cx="0" cy="0"/>
          <a:chOff x="0" y="0"/>
          <a:chExt cx="0" cy="0"/>
        </a:xfrm>
      </p:grpSpPr>
      <p:sp>
        <p:nvSpPr>
          <p:cNvPr name="Freeform 2" id="2"/>
          <p:cNvSpPr/>
          <p:nvPr/>
        </p:nvSpPr>
        <p:spPr>
          <a:xfrm flipH="false" flipV="true" rot="-10800000">
            <a:off x="-5452670" y="-7367424"/>
            <a:ext cx="20438660" cy="18113763"/>
          </a:xfrm>
          <a:custGeom>
            <a:avLst/>
            <a:gdLst/>
            <a:ahLst/>
            <a:cxnLst/>
            <a:rect r="r" b="b" t="t" l="l"/>
            <a:pathLst>
              <a:path h="18113763" w="20438660">
                <a:moveTo>
                  <a:pt x="0" y="18113762"/>
                </a:moveTo>
                <a:lnTo>
                  <a:pt x="20438660" y="18113762"/>
                </a:lnTo>
                <a:lnTo>
                  <a:pt x="20438660" y="0"/>
                </a:lnTo>
                <a:lnTo>
                  <a:pt x="0" y="0"/>
                </a:lnTo>
                <a:lnTo>
                  <a:pt x="0" y="1811376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663679" y="8193411"/>
            <a:ext cx="969230" cy="2415527"/>
          </a:xfrm>
          <a:custGeom>
            <a:avLst/>
            <a:gdLst/>
            <a:ahLst/>
            <a:cxnLst/>
            <a:rect r="r" b="b" t="t" l="l"/>
            <a:pathLst>
              <a:path h="2415527" w="969230">
                <a:moveTo>
                  <a:pt x="0" y="0"/>
                </a:moveTo>
                <a:lnTo>
                  <a:pt x="969230" y="0"/>
                </a:lnTo>
                <a:lnTo>
                  <a:pt x="969230" y="2415528"/>
                </a:lnTo>
                <a:lnTo>
                  <a:pt x="0" y="24155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989782" y="3138814"/>
            <a:ext cx="14613698" cy="6119486"/>
          </a:xfrm>
          <a:custGeom>
            <a:avLst/>
            <a:gdLst/>
            <a:ahLst/>
            <a:cxnLst/>
            <a:rect r="r" b="b" t="t" l="l"/>
            <a:pathLst>
              <a:path h="6119486" w="14613698">
                <a:moveTo>
                  <a:pt x="0" y="0"/>
                </a:moveTo>
                <a:lnTo>
                  <a:pt x="14613697" y="0"/>
                </a:lnTo>
                <a:lnTo>
                  <a:pt x="14613697" y="6119486"/>
                </a:lnTo>
                <a:lnTo>
                  <a:pt x="0" y="6119486"/>
                </a:lnTo>
                <a:lnTo>
                  <a:pt x="0" y="0"/>
                </a:lnTo>
                <a:close/>
              </a:path>
            </a:pathLst>
          </a:custGeom>
          <a:blipFill>
            <a:blip r:embed="rId6"/>
            <a:stretch>
              <a:fillRect l="0" t="0" r="0" b="0"/>
            </a:stretch>
          </a:blipFill>
        </p:spPr>
      </p:sp>
      <p:sp>
        <p:nvSpPr>
          <p:cNvPr name="TextBox 5" id="5"/>
          <p:cNvSpPr txBox="true"/>
          <p:nvPr/>
        </p:nvSpPr>
        <p:spPr>
          <a:xfrm rot="0">
            <a:off x="1210325" y="857250"/>
            <a:ext cx="9714642" cy="1492964"/>
          </a:xfrm>
          <a:prstGeom prst="rect">
            <a:avLst/>
          </a:prstGeom>
        </p:spPr>
        <p:txBody>
          <a:bodyPr anchor="t" rtlCol="false" tIns="0" lIns="0" bIns="0" rIns="0">
            <a:spAutoFit/>
          </a:bodyPr>
          <a:lstStyle/>
          <a:p>
            <a:pPr algn="l" marL="0" indent="0" lvl="0">
              <a:lnSpc>
                <a:spcPts val="12210"/>
              </a:lnSpc>
              <a:spcBef>
                <a:spcPct val="0"/>
              </a:spcBef>
            </a:pPr>
            <a:r>
              <a:rPr lang="en-US" sz="8721">
                <a:solidFill>
                  <a:srgbClr val="014225"/>
                </a:solidFill>
                <a:latin typeface="Nunito Sans"/>
                <a:ea typeface="Nunito Sans"/>
                <a:cs typeface="Nunito Sans"/>
                <a:sym typeface="Nunito Sans"/>
              </a:rPr>
              <a:t>Câu hỏi 3</a:t>
            </a:r>
          </a:p>
        </p:txBody>
      </p:sp>
      <p:sp>
        <p:nvSpPr>
          <p:cNvPr name="TextBox 6" id="6"/>
          <p:cNvSpPr txBox="true"/>
          <p:nvPr/>
        </p:nvSpPr>
        <p:spPr>
          <a:xfrm rot="0">
            <a:off x="1210325" y="2109785"/>
            <a:ext cx="16470816" cy="487828"/>
          </a:xfrm>
          <a:prstGeom prst="rect">
            <a:avLst/>
          </a:prstGeom>
        </p:spPr>
        <p:txBody>
          <a:bodyPr anchor="t" rtlCol="false" tIns="0" lIns="0" bIns="0" rIns="0">
            <a:spAutoFit/>
          </a:bodyPr>
          <a:lstStyle/>
          <a:p>
            <a:pPr algn="l" marL="0" indent="0" lvl="0">
              <a:lnSpc>
                <a:spcPts val="4086"/>
              </a:lnSpc>
              <a:spcBef>
                <a:spcPct val="0"/>
              </a:spcBef>
            </a:pPr>
            <a:r>
              <a:rPr lang="en-US" sz="2919">
                <a:solidFill>
                  <a:srgbClr val="795913"/>
                </a:solidFill>
                <a:latin typeface="Nunito Sans"/>
                <a:ea typeface="Nunito Sans"/>
                <a:cs typeface="Nunito Sans"/>
                <a:sym typeface="Nunito Sans"/>
              </a:rPr>
              <a:t>Chiến lược dựa trên LLM có thể duy trì lợi nhuận cao hơn thị trường không?</a:t>
            </a:r>
          </a:p>
        </p:txBody>
      </p:sp>
      <p:sp>
        <p:nvSpPr>
          <p:cNvPr name="TextBox 7" id="7"/>
          <p:cNvSpPr txBox="true"/>
          <p:nvPr/>
        </p:nvSpPr>
        <p:spPr>
          <a:xfrm rot="0">
            <a:off x="890760" y="4594135"/>
            <a:ext cx="1099021" cy="2030878"/>
          </a:xfrm>
          <a:prstGeom prst="rect">
            <a:avLst/>
          </a:prstGeom>
        </p:spPr>
        <p:txBody>
          <a:bodyPr anchor="t" rtlCol="false" tIns="0" lIns="0" bIns="0" rIns="0">
            <a:spAutoFit/>
          </a:bodyPr>
          <a:lstStyle/>
          <a:p>
            <a:pPr algn="l">
              <a:lnSpc>
                <a:spcPts val="4086"/>
              </a:lnSpc>
            </a:pPr>
            <a:r>
              <a:rPr lang="en-US" sz="2919">
                <a:solidFill>
                  <a:srgbClr val="302D2F"/>
                </a:solidFill>
                <a:latin typeface="Nunito Sans"/>
                <a:ea typeface="Nunito Sans"/>
                <a:cs typeface="Nunito Sans"/>
                <a:sym typeface="Nunito Sans"/>
              </a:rPr>
              <a:t>Lợi</a:t>
            </a:r>
          </a:p>
          <a:p>
            <a:pPr algn="l">
              <a:lnSpc>
                <a:spcPts val="4086"/>
              </a:lnSpc>
            </a:pPr>
            <a:r>
              <a:rPr lang="en-US" sz="2919">
                <a:solidFill>
                  <a:srgbClr val="302D2F"/>
                </a:solidFill>
                <a:latin typeface="Nunito Sans"/>
                <a:ea typeface="Nunito Sans"/>
                <a:cs typeface="Nunito Sans"/>
                <a:sym typeface="Nunito Sans"/>
              </a:rPr>
              <a:t>nhuận</a:t>
            </a:r>
          </a:p>
          <a:p>
            <a:pPr algn="l">
              <a:lnSpc>
                <a:spcPts val="4086"/>
              </a:lnSpc>
            </a:pPr>
            <a:r>
              <a:rPr lang="en-US" sz="2919">
                <a:solidFill>
                  <a:srgbClr val="302D2F"/>
                </a:solidFill>
                <a:latin typeface="Nunito Sans"/>
                <a:ea typeface="Nunito Sans"/>
                <a:cs typeface="Nunito Sans"/>
                <a:sym typeface="Nunito Sans"/>
              </a:rPr>
              <a:t>tích</a:t>
            </a:r>
          </a:p>
          <a:p>
            <a:pPr algn="l" marL="0" indent="0" lvl="0">
              <a:lnSpc>
                <a:spcPts val="4086"/>
              </a:lnSpc>
              <a:spcBef>
                <a:spcPct val="0"/>
              </a:spcBef>
            </a:pPr>
            <a:r>
              <a:rPr lang="en-US" sz="2919">
                <a:solidFill>
                  <a:srgbClr val="302D2F"/>
                </a:solidFill>
                <a:latin typeface="Nunito Sans"/>
                <a:ea typeface="Nunito Sans"/>
                <a:cs typeface="Nunito Sans"/>
                <a:sym typeface="Nunito Sans"/>
              </a:rPr>
              <a:t>luỹ</a:t>
            </a:r>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bg>
      <p:bgPr>
        <a:solidFill>
          <a:srgbClr val="F4F4DC"/>
        </a:solidFill>
      </p:bgPr>
    </p:bg>
    <p:spTree>
      <p:nvGrpSpPr>
        <p:cNvPr id="1" name=""/>
        <p:cNvGrpSpPr/>
        <p:nvPr/>
      </p:nvGrpSpPr>
      <p:grpSpPr>
        <a:xfrm>
          <a:off x="0" y="0"/>
          <a:ext cx="0" cy="0"/>
          <a:chOff x="0" y="0"/>
          <a:chExt cx="0" cy="0"/>
        </a:xfrm>
      </p:grpSpPr>
      <p:sp>
        <p:nvSpPr>
          <p:cNvPr name="Freeform 2" id="2"/>
          <p:cNvSpPr/>
          <p:nvPr/>
        </p:nvSpPr>
        <p:spPr>
          <a:xfrm flipH="false" flipV="true" rot="-5400000">
            <a:off x="-1640230" y="-1483426"/>
            <a:ext cx="7411105" cy="6568092"/>
          </a:xfrm>
          <a:custGeom>
            <a:avLst/>
            <a:gdLst/>
            <a:ahLst/>
            <a:cxnLst/>
            <a:rect r="r" b="b" t="t" l="l"/>
            <a:pathLst>
              <a:path h="6568092" w="7411105">
                <a:moveTo>
                  <a:pt x="0" y="6568092"/>
                </a:moveTo>
                <a:lnTo>
                  <a:pt x="7411106" y="6568092"/>
                </a:lnTo>
                <a:lnTo>
                  <a:pt x="7411106" y="0"/>
                </a:lnTo>
                <a:lnTo>
                  <a:pt x="0" y="0"/>
                </a:lnTo>
                <a:lnTo>
                  <a:pt x="0" y="656809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5400000">
            <a:off x="13359501" y="6196931"/>
            <a:ext cx="6431113" cy="5699574"/>
          </a:xfrm>
          <a:custGeom>
            <a:avLst/>
            <a:gdLst/>
            <a:ahLst/>
            <a:cxnLst/>
            <a:rect r="r" b="b" t="t" l="l"/>
            <a:pathLst>
              <a:path h="5699574" w="6431113">
                <a:moveTo>
                  <a:pt x="0" y="5699574"/>
                </a:moveTo>
                <a:lnTo>
                  <a:pt x="6431113" y="5699574"/>
                </a:lnTo>
                <a:lnTo>
                  <a:pt x="6431113" y="0"/>
                </a:lnTo>
                <a:lnTo>
                  <a:pt x="0" y="0"/>
                </a:lnTo>
                <a:lnTo>
                  <a:pt x="0" y="569957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10800000">
            <a:off x="14933034" y="-2674058"/>
            <a:ext cx="7856008" cy="6000026"/>
          </a:xfrm>
          <a:custGeom>
            <a:avLst/>
            <a:gdLst/>
            <a:ahLst/>
            <a:cxnLst/>
            <a:rect r="r" b="b" t="t" l="l"/>
            <a:pathLst>
              <a:path h="6000026" w="7856008">
                <a:moveTo>
                  <a:pt x="0" y="6000026"/>
                </a:moveTo>
                <a:lnTo>
                  <a:pt x="7856009" y="6000026"/>
                </a:lnTo>
                <a:lnTo>
                  <a:pt x="7856009" y="0"/>
                </a:lnTo>
                <a:lnTo>
                  <a:pt x="0" y="0"/>
                </a:lnTo>
                <a:lnTo>
                  <a:pt x="0" y="600002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3689288" y="819150"/>
            <a:ext cx="10909424" cy="1899312"/>
          </a:xfrm>
          <a:prstGeom prst="rect">
            <a:avLst/>
          </a:prstGeom>
        </p:spPr>
        <p:txBody>
          <a:bodyPr anchor="t" rtlCol="false" tIns="0" lIns="0" bIns="0" rIns="0">
            <a:spAutoFit/>
          </a:bodyPr>
          <a:lstStyle/>
          <a:p>
            <a:pPr algn="ctr" marL="0" indent="0" lvl="0">
              <a:lnSpc>
                <a:spcPts val="15538"/>
              </a:lnSpc>
              <a:spcBef>
                <a:spcPct val="0"/>
              </a:spcBef>
            </a:pPr>
            <a:r>
              <a:rPr lang="en-US" sz="11098">
                <a:solidFill>
                  <a:srgbClr val="014225"/>
                </a:solidFill>
                <a:latin typeface="Nunito Sans"/>
                <a:ea typeface="Nunito Sans"/>
                <a:cs typeface="Nunito Sans"/>
                <a:sym typeface="Nunito Sans"/>
              </a:rPr>
              <a:t>Conclusion</a:t>
            </a:r>
          </a:p>
        </p:txBody>
      </p:sp>
      <p:sp>
        <p:nvSpPr>
          <p:cNvPr name="TextBox 6" id="6"/>
          <p:cNvSpPr txBox="true"/>
          <p:nvPr/>
        </p:nvSpPr>
        <p:spPr>
          <a:xfrm rot="0">
            <a:off x="2727069" y="2878821"/>
            <a:ext cx="12652895" cy="5848350"/>
          </a:xfrm>
          <a:prstGeom prst="rect">
            <a:avLst/>
          </a:prstGeom>
        </p:spPr>
        <p:txBody>
          <a:bodyPr anchor="t" rtlCol="false" tIns="0" lIns="0" bIns="0" rIns="0">
            <a:spAutoFit/>
          </a:bodyPr>
          <a:lstStyle/>
          <a:p>
            <a:pPr algn="just">
              <a:lnSpc>
                <a:spcPts val="4200"/>
              </a:lnSpc>
            </a:pPr>
          </a:p>
          <a:p>
            <a:pPr algn="just">
              <a:lnSpc>
                <a:spcPts val="4200"/>
              </a:lnSpc>
            </a:pPr>
            <a:r>
              <a:rPr lang="en-US" sz="3000">
                <a:solidFill>
                  <a:srgbClr val="014225"/>
                </a:solidFill>
                <a:latin typeface="Nunito Sans"/>
                <a:ea typeface="Nunito Sans"/>
                <a:cs typeface="Nunito Sans"/>
                <a:sym typeface="Nunito Sans"/>
              </a:rPr>
              <a:t>Giới thiệu Framework đầu tư chứng khoán định lượng bằng cách kết hợp LLMs và multi-agent.</a:t>
            </a:r>
          </a:p>
          <a:p>
            <a:pPr algn="just">
              <a:lnSpc>
                <a:spcPts val="4200"/>
              </a:lnSpc>
            </a:pPr>
          </a:p>
          <a:p>
            <a:pPr algn="just" marL="647700" indent="-323850" lvl="1">
              <a:lnSpc>
                <a:spcPts val="4200"/>
              </a:lnSpc>
              <a:buAutoNum type="arabicPeriod" startAt="1"/>
            </a:pPr>
            <a:r>
              <a:rPr lang="en-US" b="true" sz="3000">
                <a:solidFill>
                  <a:srgbClr val="014225"/>
                </a:solidFill>
                <a:latin typeface="Nunito Sans Bold"/>
                <a:ea typeface="Nunito Sans Bold"/>
                <a:cs typeface="Nunito Sans Bold"/>
                <a:sym typeface="Nunito Sans Bold"/>
              </a:rPr>
              <a:t>LLMs </a:t>
            </a:r>
            <a:r>
              <a:rPr lang="en-US" sz="3000">
                <a:solidFill>
                  <a:srgbClr val="014225"/>
                </a:solidFill>
                <a:latin typeface="Nunito Sans"/>
                <a:ea typeface="Nunito Sans"/>
                <a:cs typeface="Nunito Sans"/>
                <a:sym typeface="Nunito Sans"/>
              </a:rPr>
              <a:t>được sử dụng để khai thác và tạo ra các yếu tố alpha từ nhiều nguồn thông tin tài chính khác nhau.</a:t>
            </a:r>
          </a:p>
          <a:p>
            <a:pPr algn="just" marL="647700" indent="-323850" lvl="1">
              <a:lnSpc>
                <a:spcPts val="4200"/>
              </a:lnSpc>
              <a:buAutoNum type="arabicPeriod" startAt="1"/>
            </a:pPr>
            <a:r>
              <a:rPr lang="en-US" b="true" sz="3000">
                <a:solidFill>
                  <a:srgbClr val="014225"/>
                </a:solidFill>
                <a:latin typeface="Nunito Sans Bold"/>
                <a:ea typeface="Nunito Sans Bold"/>
                <a:cs typeface="Nunito Sans Bold"/>
                <a:sym typeface="Nunito Sans Bold"/>
              </a:rPr>
              <a:t>Multi-agent</a:t>
            </a:r>
            <a:r>
              <a:rPr lang="en-US" sz="3000">
                <a:solidFill>
                  <a:srgbClr val="014225"/>
                </a:solidFill>
                <a:latin typeface="Nunito Sans"/>
                <a:ea typeface="Nunito Sans"/>
                <a:cs typeface="Nunito Sans"/>
                <a:sym typeface="Nunito Sans"/>
              </a:rPr>
              <a:t> đánh giá điều kiện thị trường và xây dựng các chiến lược giao dịch cá nhân hóa theo mức độ rủi ro khác nhau.</a:t>
            </a:r>
          </a:p>
          <a:p>
            <a:pPr algn="just" marL="647700" indent="-323850" lvl="1">
              <a:lnSpc>
                <a:spcPts val="4200"/>
              </a:lnSpc>
              <a:buAutoNum type="arabicPeriod" startAt="1"/>
            </a:pPr>
            <a:r>
              <a:rPr lang="en-US" b="true" sz="3000">
                <a:solidFill>
                  <a:srgbClr val="014225"/>
                </a:solidFill>
                <a:latin typeface="Nunito Sans Bold"/>
                <a:ea typeface="Nunito Sans Bold"/>
                <a:cs typeface="Nunito Sans Bold"/>
                <a:sym typeface="Nunito Sans Bold"/>
              </a:rPr>
              <a:t>Học sâu </a:t>
            </a:r>
            <a:r>
              <a:rPr lang="en-US" sz="3000">
                <a:solidFill>
                  <a:srgbClr val="014225"/>
                </a:solidFill>
                <a:latin typeface="Nunito Sans"/>
                <a:ea typeface="Nunito Sans"/>
                <a:cs typeface="Nunito Sans"/>
                <a:sym typeface="Nunito Sans"/>
              </a:rPr>
              <a:t>về trọng số sẽ chọn lọc và điều chỉnh trọng số của các tác nhân giao dịch theo thời gian thực.</a:t>
            </a:r>
          </a:p>
          <a:p>
            <a:pPr algn="just" marL="0" indent="0" lvl="0">
              <a:lnSpc>
                <a:spcPts val="4200"/>
              </a:lnSpc>
              <a:spcBef>
                <a:spcPct val="0"/>
              </a:spcBef>
            </a:pPr>
          </a:p>
        </p:txBody>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bg>
      <p:bgPr>
        <a:solidFill>
          <a:srgbClr val="F4F4DC"/>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4473078" y="-532399"/>
            <a:ext cx="4911697" cy="4352991"/>
          </a:xfrm>
          <a:custGeom>
            <a:avLst/>
            <a:gdLst/>
            <a:ahLst/>
            <a:cxnLst/>
            <a:rect r="r" b="b" t="t" l="l"/>
            <a:pathLst>
              <a:path h="4352991" w="4911697">
                <a:moveTo>
                  <a:pt x="0" y="0"/>
                </a:moveTo>
                <a:lnTo>
                  <a:pt x="4911697" y="0"/>
                </a:lnTo>
                <a:lnTo>
                  <a:pt x="4911697" y="4352992"/>
                </a:lnTo>
                <a:lnTo>
                  <a:pt x="0" y="43529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477594">
            <a:off x="1091433" y="3298129"/>
            <a:ext cx="15421682" cy="13667466"/>
          </a:xfrm>
          <a:custGeom>
            <a:avLst/>
            <a:gdLst/>
            <a:ahLst/>
            <a:cxnLst/>
            <a:rect r="r" b="b" t="t" l="l"/>
            <a:pathLst>
              <a:path h="13667466" w="15421682">
                <a:moveTo>
                  <a:pt x="0" y="0"/>
                </a:moveTo>
                <a:lnTo>
                  <a:pt x="15421682" y="0"/>
                </a:lnTo>
                <a:lnTo>
                  <a:pt x="15421682" y="13667466"/>
                </a:lnTo>
                <a:lnTo>
                  <a:pt x="0" y="136674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279982" y="4273676"/>
            <a:ext cx="9374532" cy="6492394"/>
          </a:xfrm>
          <a:custGeom>
            <a:avLst/>
            <a:gdLst/>
            <a:ahLst/>
            <a:cxnLst/>
            <a:rect r="r" b="b" t="t" l="l"/>
            <a:pathLst>
              <a:path h="6492394" w="9374532">
                <a:moveTo>
                  <a:pt x="0" y="0"/>
                </a:moveTo>
                <a:lnTo>
                  <a:pt x="9374532" y="0"/>
                </a:lnTo>
                <a:lnTo>
                  <a:pt x="9374532" y="6492395"/>
                </a:lnTo>
                <a:lnTo>
                  <a:pt x="0" y="64923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3273879" y="-2057400"/>
            <a:ext cx="5387627" cy="4114800"/>
          </a:xfrm>
          <a:custGeom>
            <a:avLst/>
            <a:gdLst/>
            <a:ahLst/>
            <a:cxnLst/>
            <a:rect r="r" b="b" t="t" l="l"/>
            <a:pathLst>
              <a:path h="4114800" w="5387627">
                <a:moveTo>
                  <a:pt x="0" y="0"/>
                </a:moveTo>
                <a:lnTo>
                  <a:pt x="5387627" y="0"/>
                </a:lnTo>
                <a:lnTo>
                  <a:pt x="538762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6003179" y="-663062"/>
            <a:ext cx="925748" cy="2307159"/>
          </a:xfrm>
          <a:custGeom>
            <a:avLst/>
            <a:gdLst/>
            <a:ahLst/>
            <a:cxnLst/>
            <a:rect r="r" b="b" t="t" l="l"/>
            <a:pathLst>
              <a:path h="2307159" w="925748">
                <a:moveTo>
                  <a:pt x="0" y="0"/>
                </a:moveTo>
                <a:lnTo>
                  <a:pt x="925748" y="0"/>
                </a:lnTo>
                <a:lnTo>
                  <a:pt x="925748" y="2307159"/>
                </a:lnTo>
                <a:lnTo>
                  <a:pt x="0" y="230715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5400000">
            <a:off x="-462874" y="6522434"/>
            <a:ext cx="925748" cy="2307159"/>
          </a:xfrm>
          <a:custGeom>
            <a:avLst/>
            <a:gdLst/>
            <a:ahLst/>
            <a:cxnLst/>
            <a:rect r="r" b="b" t="t" l="l"/>
            <a:pathLst>
              <a:path h="2307159" w="925748">
                <a:moveTo>
                  <a:pt x="0" y="0"/>
                </a:moveTo>
                <a:lnTo>
                  <a:pt x="925748" y="0"/>
                </a:lnTo>
                <a:lnTo>
                  <a:pt x="925748" y="2307159"/>
                </a:lnTo>
                <a:lnTo>
                  <a:pt x="0" y="230715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8" id="8"/>
          <p:cNvSpPr txBox="true"/>
          <p:nvPr/>
        </p:nvSpPr>
        <p:spPr>
          <a:xfrm rot="0">
            <a:off x="1720772" y="642917"/>
            <a:ext cx="12464467" cy="8266772"/>
          </a:xfrm>
          <a:prstGeom prst="rect">
            <a:avLst/>
          </a:prstGeom>
        </p:spPr>
        <p:txBody>
          <a:bodyPr anchor="t" rtlCol="false" tIns="0" lIns="0" bIns="0" rIns="0">
            <a:spAutoFit/>
          </a:bodyPr>
          <a:lstStyle/>
          <a:p>
            <a:pPr algn="l" marL="0" indent="0" lvl="0">
              <a:lnSpc>
                <a:spcPts val="32375"/>
              </a:lnSpc>
            </a:pPr>
            <a:r>
              <a:rPr lang="en-US" sz="28399">
                <a:solidFill>
                  <a:srgbClr val="014225"/>
                </a:solidFill>
                <a:latin typeface="Lazydog"/>
                <a:ea typeface="Lazydog"/>
                <a:cs typeface="Lazydog"/>
                <a:sym typeface="Lazydog"/>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DAGisbhYojQ</dc:identifier>
  <dcterms:modified xsi:type="dcterms:W3CDTF">2011-08-01T06:04:30Z</dcterms:modified>
  <cp:revision>1</cp:revision>
  <dc:title>Automate Strategy Finding with LLM in Quant investment</dc:title>
</cp:coreProperties>
</file>